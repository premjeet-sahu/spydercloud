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7a530912c74c8e" /><Relationship Type="http://schemas.openxmlformats.org/officeDocument/2006/relationships/extended-properties" Target="/docProps/app.xml" Id="R430f2427e7724509" /><Relationship Type="http://schemas.openxmlformats.org/officeDocument/2006/relationships/officeDocument" Target="/ppt/presentation.xml" Id="R4cafdddb3ee3410b" /></Relationships>
</file>

<file path=ppt/presentation.xml><?xml version="1.0" encoding="utf-8"?>
<p:presentation xmlns:p="http://schemas.openxmlformats.org/presentationml/2006/main">
  <p:sldMasterIdLst>
    <p:sldMasterId xmlns:r="http://schemas.openxmlformats.org/officeDocument/2006/relationships" id="2147483648" r:id="Rdf57660177ec4b9d"/>
  </p:sldMasterIdLst>
  <p:notesMasterIdLst>
    <p:notesMasterId xmlns:r="http://schemas.openxmlformats.org/officeDocument/2006/relationships" r:id="R6fd0eb6537e14414"/>
  </p:notesMasterIdLst>
  <p:sldIdLst>
    <p:sldId xmlns:r="http://schemas.openxmlformats.org/officeDocument/2006/relationships" id="256" r:id="R587122476330425b"/>
    <p:sldId xmlns:r="http://schemas.openxmlformats.org/officeDocument/2006/relationships" id="257" r:id="Rf9b7e8a339c14b3f"/>
    <p:sldId xmlns:r="http://schemas.openxmlformats.org/officeDocument/2006/relationships" id="258" r:id="R967d03fde85c4430"/>
    <p:sldId xmlns:r="http://schemas.openxmlformats.org/officeDocument/2006/relationships" id="259" r:id="R5d47192b4cc24387"/>
    <p:sldId xmlns:r="http://schemas.openxmlformats.org/officeDocument/2006/relationships" id="260" r:id="R2965cc05cded4415"/>
    <p:sldId xmlns:r="http://schemas.openxmlformats.org/officeDocument/2006/relationships" id="261" r:id="R99b83d44b9884cc0"/>
    <p:sldId xmlns:r="http://schemas.openxmlformats.org/officeDocument/2006/relationships" id="262" r:id="Raf2dfc7a30ce451d"/>
    <p:sldId xmlns:r="http://schemas.openxmlformats.org/officeDocument/2006/relationships" id="263" r:id="Rf291033c66804fe5"/>
    <p:sldId xmlns:r="http://schemas.openxmlformats.org/officeDocument/2006/relationships" id="264" r:id="R1f77abfafd0a42f2"/>
    <p:sldId xmlns:r="http://schemas.openxmlformats.org/officeDocument/2006/relationships" id="265" r:id="R597668946ea74237"/>
    <p:sldId xmlns:r="http://schemas.openxmlformats.org/officeDocument/2006/relationships" id="266" r:id="R9b4bf6b05d664ae5"/>
    <p:sldId xmlns:r="http://schemas.openxmlformats.org/officeDocument/2006/relationships" id="267" r:id="Rfa5ba3d995e84645"/>
    <p:sldId xmlns:r="http://schemas.openxmlformats.org/officeDocument/2006/relationships" id="268" r:id="Ra6052b38e6e74cfe"/>
    <p:sldId xmlns:r="http://schemas.openxmlformats.org/officeDocument/2006/relationships" id="269" r:id="R1cb193819f1c4d40"/>
    <p:sldId xmlns:r="http://schemas.openxmlformats.org/officeDocument/2006/relationships" id="270" r:id="R8745a02bfc1a42af"/>
    <p:sldId xmlns:r="http://schemas.openxmlformats.org/officeDocument/2006/relationships" id="271" r:id="R26cd14c51124478a"/>
    <p:sldId xmlns:r="http://schemas.openxmlformats.org/officeDocument/2006/relationships" id="272" r:id="Re51a05f8fad946ed"/>
    <p:sldId xmlns:r="http://schemas.openxmlformats.org/officeDocument/2006/relationships" id="273" r:id="R3c1a786810a945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e2e7e5a06405b" /><Relationship Type="http://schemas.openxmlformats.org/officeDocument/2006/relationships/slideMaster" Target="/ppt/slideMasters/slideMaster1.xml" Id="Rdf57660177ec4b9d" /><Relationship Type="http://schemas.openxmlformats.org/officeDocument/2006/relationships/notesMaster" Target="/ppt/notesMasters/notesMaster1.xml" Id="R6fd0eb6537e14414" /><Relationship Type="http://schemas.openxmlformats.org/officeDocument/2006/relationships/presProps" Target="/ppt/presProps.xml" Id="R82ebc5d8ef174082" /><Relationship Type="http://schemas.openxmlformats.org/officeDocument/2006/relationships/tableStyles" Target="/ppt/tableStyles.xml" Id="R2b0133a389ca456b" /><Relationship Type="http://schemas.openxmlformats.org/officeDocument/2006/relationships/slide" Target="/ppt/slides/slide1.xml" Id="R587122476330425b" /><Relationship Type="http://schemas.openxmlformats.org/officeDocument/2006/relationships/slide" Target="/ppt/slides/slide2.xml" Id="Rf9b7e8a339c14b3f" /><Relationship Type="http://schemas.openxmlformats.org/officeDocument/2006/relationships/slide" Target="/ppt/slides/slide3.xml" Id="R967d03fde85c4430" /><Relationship Type="http://schemas.openxmlformats.org/officeDocument/2006/relationships/slide" Target="/ppt/slides/slide4.xml" Id="R5d47192b4cc24387" /><Relationship Type="http://schemas.openxmlformats.org/officeDocument/2006/relationships/slide" Target="/ppt/slides/slide5.xml" Id="R2965cc05cded4415" /><Relationship Type="http://schemas.openxmlformats.org/officeDocument/2006/relationships/slide" Target="/ppt/slides/slide6.xml" Id="R99b83d44b9884cc0" /><Relationship Type="http://schemas.openxmlformats.org/officeDocument/2006/relationships/slide" Target="/ppt/slides/slide7.xml" Id="Raf2dfc7a30ce451d" /><Relationship Type="http://schemas.openxmlformats.org/officeDocument/2006/relationships/slide" Target="/ppt/slides/slide8.xml" Id="Rf291033c66804fe5" /><Relationship Type="http://schemas.openxmlformats.org/officeDocument/2006/relationships/slide" Target="/ppt/slides/slide9.xml" Id="R1f77abfafd0a42f2" /><Relationship Type="http://schemas.openxmlformats.org/officeDocument/2006/relationships/slide" Target="/ppt/slides/slide10.xml" Id="R597668946ea74237" /><Relationship Type="http://schemas.openxmlformats.org/officeDocument/2006/relationships/slide" Target="/ppt/slides/slide11.xml" Id="R9b4bf6b05d664ae5" /><Relationship Type="http://schemas.openxmlformats.org/officeDocument/2006/relationships/slide" Target="/ppt/slides/slide12.xml" Id="Rfa5ba3d995e84645" /><Relationship Type="http://schemas.openxmlformats.org/officeDocument/2006/relationships/slide" Target="/ppt/slides/slide13.xml" Id="Ra6052b38e6e74cfe" /><Relationship Type="http://schemas.openxmlformats.org/officeDocument/2006/relationships/slide" Target="/ppt/slides/slide14.xml" Id="R1cb193819f1c4d40" /><Relationship Type="http://schemas.openxmlformats.org/officeDocument/2006/relationships/slide" Target="/ppt/slides/slide15.xml" Id="R8745a02bfc1a42af" /><Relationship Type="http://schemas.openxmlformats.org/officeDocument/2006/relationships/slide" Target="/ppt/slides/slide16.xml" Id="R26cd14c51124478a" /><Relationship Type="http://schemas.openxmlformats.org/officeDocument/2006/relationships/slide" Target="/ppt/slides/slide17.xml" Id="Re51a05f8fad946ed" /><Relationship Type="http://schemas.openxmlformats.org/officeDocument/2006/relationships/slide" Target="/ppt/slides/slide18.xml" Id="R3c1a786810a945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c2b833fd7d4e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1f2ac9d6f44e41" /><Relationship Type="http://schemas.openxmlformats.org/officeDocument/2006/relationships/notesMaster" Target="/ppt/notesMasters/notesMaster1.xml" Id="Reba518e8153a4f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70b5ca43e24d86" /><Relationship Type="http://schemas.openxmlformats.org/officeDocument/2006/relationships/notesMaster" Target="/ppt/notesMasters/notesMaster1.xml" Id="Rac51dbd1da0f45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7d3086b02c4318" /><Relationship Type="http://schemas.openxmlformats.org/officeDocument/2006/relationships/notesMaster" Target="/ppt/notesMasters/notesMaster1.xml" Id="R7cfe1daee29949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90d89a81f945ed" /><Relationship Type="http://schemas.openxmlformats.org/officeDocument/2006/relationships/notesMaster" Target="/ppt/notesMasters/notesMaster1.xml" Id="R1f925612cee547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94d74c212c4700" /><Relationship Type="http://schemas.openxmlformats.org/officeDocument/2006/relationships/notesMaster" Target="/ppt/notesMasters/notesMaster1.xml" Id="Re8a2c5e1668b46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d7ca54e4764abe" /><Relationship Type="http://schemas.openxmlformats.org/officeDocument/2006/relationships/notesMaster" Target="/ppt/notesMasters/notesMaster1.xml" Id="R50cc867dccba43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5e1a0594204031" /><Relationship Type="http://schemas.openxmlformats.org/officeDocument/2006/relationships/notesMaster" Target="/ppt/notesMasters/notesMaster1.xml" Id="R71d78de2a07c4c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9ba803c10d45f8" /><Relationship Type="http://schemas.openxmlformats.org/officeDocument/2006/relationships/notesMaster" Target="/ppt/notesMasters/notesMaster1.xml" Id="Rb9b39e615a3149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4de8d5728848a9" /><Relationship Type="http://schemas.openxmlformats.org/officeDocument/2006/relationships/notesMaster" Target="/ppt/notesMasters/notesMaster1.xml" Id="Reca0cb0cd46345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2b5b62e5194a63" /><Relationship Type="http://schemas.openxmlformats.org/officeDocument/2006/relationships/notesMaster" Target="/ppt/notesMasters/notesMaster1.xml" Id="R7897b5b6518f48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173bbdebdf4666" /><Relationship Type="http://schemas.openxmlformats.org/officeDocument/2006/relationships/notesMaster" Target="/ppt/notesMasters/notesMaster1.xml" Id="Rea09f5da634d46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5c7a15406c4757" /><Relationship Type="http://schemas.openxmlformats.org/officeDocument/2006/relationships/notesMaster" Target="/ppt/notesMasters/notesMaster1.xml" Id="R416b9c2164e749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e06a6ac8064755" /><Relationship Type="http://schemas.openxmlformats.org/officeDocument/2006/relationships/notesMaster" Target="/ppt/notesMasters/notesMaster1.xml" Id="Rc311b80d099e46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145386372d4b70" /><Relationship Type="http://schemas.openxmlformats.org/officeDocument/2006/relationships/notesMaster" Target="/ppt/notesMasters/notesMaster1.xml" Id="R02829f0f7e8347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81aed163a341de" /><Relationship Type="http://schemas.openxmlformats.org/officeDocument/2006/relationships/notesMaster" Target="/ppt/notesMasters/notesMaster1.xml" Id="R4734d18746d145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65ac72b3bf4855" /><Relationship Type="http://schemas.openxmlformats.org/officeDocument/2006/relationships/notesMaster" Target="/ppt/notesMasters/notesMaster1.xml" Id="R536d91a3298748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500068097e465f" /><Relationship Type="http://schemas.openxmlformats.org/officeDocument/2006/relationships/notesMaster" Target="/ppt/notesMasters/notesMaster1.xml" Id="Rb7f32b463e4646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1b098af423469a" /><Relationship Type="http://schemas.openxmlformats.org/officeDocument/2006/relationships/notesMaster" Target="/ppt/notesMasters/notesMaster1.xml" Id="Rabefcf01cdff48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material: local POC result PDFs, jev-talk.pdf, Jev public documentation and AWS Bedrock model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Summary based on the three POC result PDFs and the System One framing in jev-talk.pdf.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jev-talk.pdf pages 12-14; Jev public guides identify TypeSafe AI and System One positioning.</a:t>
            </a:r>
          </a:p>
          <a:p xmlns:a="http://schemas.openxmlformats.org/drawingml/2006/main">
            <a:r>
              <a:t>Avoid overclaiming founder details beyond the supplied source and public guide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jev-talk.pdf pages 13-14 and pages 24-31; public Jev guides describe typed question primitives and System One positioning.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1/System 2 terminology follows the framing used in jev-talk.pdf and Jev public guides.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 public documentation and jev-talk.pdf pages 24-31. The endpoint and API specifics were validated during the local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jev-talk.pdf limitations and public documentation stating Jev does not generate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pattern based on the implemented local Streamlit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Local POC code and the three PDF exports. Claude Sonnet pricing inputs reflect the configured values in the POC PDFs.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Jev vs Claude Sonnet 4.5 Results Usecase1/2/3 PDFs.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calculated from Usecase1, Usecase2 and Usecase3 PDF exports. Estimated cost uses configured POC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averages computed from the three POC result PDFs. Cost uses configured Jev and Bedrock prices visible in the PDFs.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metrics and rationale are taken from the three attached POC PDF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Caveat: Claude's probabilities are self-reported by the LLM under a tool schema. Jev's probabilities are part of its decision API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Strengths reflect the local POC observations and the Jev positioning from jev-talk.pdf.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implications synthesize the POC and public Jev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steps should be completed before deciding production use from a three-case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synthesis based on local POC and Jev System One positioning.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c00f0b2aca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d998be1eab4082" /><Relationship Type="http://schemas.openxmlformats.org/officeDocument/2006/relationships/slideLayout" Target="/ppt/slideLayouts/slideLayout1.xml" Id="R46674e6b3af44a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674e6b3af44a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bcd1ae4b8348bf" /><Relationship Type="http://schemas.openxmlformats.org/officeDocument/2006/relationships/notesSlide" Target="/ppt/notesSlides/notesSlide1.xml" Id="Ra3b484f92a164e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8a750bfb994d52" /><Relationship Type="http://schemas.openxmlformats.org/officeDocument/2006/relationships/notesSlide" Target="/ppt/notesSlides/notesSlide2.xml" Id="R1ba24ca3238a48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625d1409504257" /><Relationship Type="http://schemas.openxmlformats.org/officeDocument/2006/relationships/notesSlide" Target="/ppt/notesSlides/notesSlide3.xml" Id="R7cf44bc300a14b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164840591b46e2" /><Relationship Type="http://schemas.openxmlformats.org/officeDocument/2006/relationships/notesSlide" Target="/ppt/notesSlides/notesSlide4.xml" Id="Ra847813e8bba44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f07a9caaef4308" /><Relationship Type="http://schemas.openxmlformats.org/officeDocument/2006/relationships/notesSlide" Target="/ppt/notesSlides/notesSlide5.xml" Id="R5abac69c3c1b40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4a2f7a24a34985" /><Relationship Type="http://schemas.openxmlformats.org/officeDocument/2006/relationships/notesSlide" Target="/ppt/notesSlides/notesSlide6.xml" Id="R5e57fc3cba8646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ac2b31b1194ba6" /><Relationship Type="http://schemas.openxmlformats.org/officeDocument/2006/relationships/notesSlide" Target="/ppt/notesSlides/notesSlide7.xml" Id="R810e0a5ec86049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c146f8f48c4dea" /><Relationship Type="http://schemas.openxmlformats.org/officeDocument/2006/relationships/notesSlide" Target="/ppt/notesSlides/notesSlide8.xml" Id="R760f3e21e98848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b97045dfb54522" /><Relationship Type="http://schemas.openxmlformats.org/officeDocument/2006/relationships/notesSlide" Target="/ppt/notesSlides/notesSlide9.xml" Id="R12baf11f603844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d25efebc3d4f32" /><Relationship Type="http://schemas.openxmlformats.org/officeDocument/2006/relationships/notesSlide" Target="/ppt/notesSlides/notesSlide10.xml" Id="Rc4b62f1b9ed34c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2fa174a0d4b4d07" /><Relationship Type="http://schemas.openxmlformats.org/officeDocument/2006/relationships/notesSlide" Target="/ppt/notesSlides/notesSlide11.xml" Id="R1fbffad91aa94f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29f6898c544fd3" /><Relationship Type="http://schemas.openxmlformats.org/officeDocument/2006/relationships/chart" Target="/ppt/slides/charts/chart1.xml" Id="Rcc2eed065a6044ac" /><Relationship Type="http://schemas.openxmlformats.org/officeDocument/2006/relationships/chart" Target="/ppt/slides/charts/chart2.xml" Id="R321d15ab61b346b3" /><Relationship Type="http://schemas.openxmlformats.org/officeDocument/2006/relationships/notesSlide" Target="/ppt/notesSlides/notesSlide12.xml" Id="R3d47048764274f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6d94b9289554746" /><Relationship Type="http://schemas.openxmlformats.org/officeDocument/2006/relationships/notesSlide" Target="/ppt/notesSlides/notesSlide13.xml" Id="Rb940d627bdab4d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3b868bad9d484d" /><Relationship Type="http://schemas.openxmlformats.org/officeDocument/2006/relationships/notesSlide" Target="/ppt/notesSlides/notesSlide14.xml" Id="Rb41e6e026a5045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1bf3897aaff4ddf" /><Relationship Type="http://schemas.openxmlformats.org/officeDocument/2006/relationships/notesSlide" Target="/ppt/notesSlides/notesSlide15.xml" Id="Rb4283afc76d147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e72893e19b4b35" /><Relationship Type="http://schemas.openxmlformats.org/officeDocument/2006/relationships/notesSlide" Target="/ppt/notesSlides/notesSlide16.xml" Id="Rdb2a9b4e6c1d49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f32493db0b453a" /><Relationship Type="http://schemas.openxmlformats.org/officeDocument/2006/relationships/notesSlide" Target="/ppt/notesSlides/notesSlide17.xml" Id="Ra94f5fd13a5d4e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821cf41c6304136" /><Relationship Type="http://schemas.openxmlformats.org/officeDocument/2006/relationships/notesSlide" Target="/ppt/notesSlides/notesSlide18.xml" Id="Rf2d8faf5456047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API latency (ms)</c:v>
          </c:tx>
          <c:spPr>
            <a:solidFill xmlns:a="http://schemas.openxmlformats.org/drawingml/2006/main">
              <a:srgbClr val="0F766E"/>
            </a:solidFill>
          </c:spPr>
          <c:cat>
            <c:strRef>
              <c:f>'Chart Data'!$A$2:$A$3</c:f>
              <c:strCache>
                <c:ptCount val="2"/>
                <c:pt idx="0">
                  <c:v>Jev</c:v>
                </c:pt>
                <c:pt idx="1">
                  <c:v>Claude</c:v>
                </c:pt>
              </c:strCache>
            </c:strRef>
          </c:cat>
          <c:val>
            <c:numRef>
              <c:f>'Chart Data'!$B$2:$B$3</c:f>
              <c:numCache>
                <c:formatCode>0</c:formatCode>
                <c:ptCount val="2"/>
                <c:pt idx="0">
                  <c:v>970</c:v>
                </c:pt>
                <c:pt idx="1">
                  <c:v>4741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72033"/>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7203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5E7EB"/>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08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Estimated cost per run (USD)</c:v>
          </c:tx>
          <c:spPr>
            <a:solidFill xmlns:a="http://schemas.openxmlformats.org/drawingml/2006/main">
              <a:srgbClr val="4768FF"/>
            </a:solidFill>
          </c:spPr>
          <c:cat>
            <c:strRef>
              <c:f>'Chart Data'!$A$2:$A$3</c:f>
              <c:strCache>
                <c:ptCount val="2"/>
                <c:pt idx="0">
                  <c:v>Jev</c:v>
                </c:pt>
                <c:pt idx="1">
                  <c:v>Claude</c:v>
                </c:pt>
              </c:strCache>
            </c:strRef>
          </c:cat>
          <c:val>
            <c:numRef>
              <c:f>'Chart Data'!$B$2:$B$3</c:f>
              <c:numCache>
                <c:formatCode>$0.0000</c:formatCode>
                <c:ptCount val="2"/>
                <c:pt idx="0">
                  <c:v>2.072E-05</c:v>
                </c:pt>
                <c:pt idx="1">
                  <c:v>0.0069311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72033"/>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7203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5E7EB"/>
              </a:solidFill>
              <a:prstDash val="solid"/>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08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638E43-B437-4C6B-A080-DB72170B6C3C}"/>
              </a:ext>
            </a:extLst>
          </p:cNvPr>
          <p:cNvSpPr>
            <a:spLocks xmlns:a="http://schemas.openxmlformats.org/drawingml/2006/main" noGrp="1"/>
          </p:cNvSpPr>
          <p:nvPr/>
        </p:nvSpPr>
        <p:spPr>
          <a:xfrm xmlns:a="http://schemas.openxmlformats.org/drawingml/2006/main">
            <a:off x="666750" y="161925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6425D258-A5FE-4C14-9E4C-53F0AD2AB845}"/>
              </a:ext>
            </a:extLst>
          </p:cNvPr>
          <p:cNvSpPr>
            <a:spLocks xmlns:a="http://schemas.openxmlformats.org/drawingml/2006/main" noGrp="1"/>
          </p:cNvSpPr>
          <p:nvPr/>
        </p:nvSpPr>
        <p:spPr>
          <a:xfrm xmlns:a="http://schemas.openxmlformats.org/drawingml/2006/main">
            <a:off x="704850" y="24574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DDE5EF"/>
                </a:solidFill>
                <a:latin typeface="Arial"/>
                <a:ea typeface="Arial"/>
                <a:cs typeface="Arial"/>
              </a:defRPr>
            </a:pPr>
            <a:r>
              <a:rPr sz="1875" b="0">
                <a:solidFill>
                  <a:srgbClr val="DDE5EF"/>
                </a:solidFill>
                <a:latin typeface="Arial"/>
                <a:ea typeface="Arial"/>
                <a:cs typeface="Arial"/>
              </a:rPr>
              <a:t>System One decisioning compared with Claude Sonnet 4.5</a:t>
            </a:r>
          </a:p>
        </p:txBody>
      </p:sp>
      <p:sp>
        <p:nvSpPr>
          <p:cNvPr id="3" name="">
            <a:extLst xmlns:a="http://schemas.openxmlformats.org/drawingml/2006/main">
              <a:ext uri="{FF2B5EF4-FFF2-40B4-BE49-F238E27FC236}">
                <a16:creationId xmlns:a16="http://schemas.microsoft.com/office/drawing/2014/main" id="{B05FA841-72BD-4AAD-AF79-CECB87B34C4C}"/>
              </a:ext>
            </a:extLst>
          </p:cNvPr>
          <p:cNvSpPr>
            <a:spLocks xmlns:a="http://schemas.openxmlformats.org/drawingml/2006/main" noGrp="1"/>
          </p:cNvSpPr>
          <p:nvPr/>
        </p:nvSpPr>
        <p:spPr>
          <a:xfrm xmlns:a="http://schemas.openxmlformats.org/drawingml/2006/main">
            <a:off x="704850" y="58864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AAB6C8"/>
                </a:solidFill>
                <a:latin typeface="Arial"/>
                <a:ea typeface="Arial"/>
                <a:cs typeface="Arial"/>
              </a:defRPr>
            </a:pPr>
            <a:r>
              <a:rPr sz="1275" b="0">
                <a:solidFill>
                  <a:srgbClr val="AAB6C8"/>
                </a:solidFill>
                <a:latin typeface="Arial"/>
                <a:ea typeface="Arial"/>
                <a:cs typeface="Arial"/>
              </a:rPr>
              <a:t>Knowledge sharing deck for technical audience</a:t>
            </a:r>
          </a:p>
        </p:txBody>
      </p:sp>
      <p:sp>
        <p:nvSpPr>
          <p:cNvPr id="4" name="">
            <a:extLst xmlns:a="http://schemas.openxmlformats.org/drawingml/2006/main">
              <a:ext uri="{FF2B5EF4-FFF2-40B4-BE49-F238E27FC236}">
                <a16:creationId xmlns:a16="http://schemas.microsoft.com/office/drawing/2014/main" id="{9B1B1A0B-35C6-4951-967E-48E590139B4D}"/>
              </a:ext>
            </a:extLst>
          </p:cNvPr>
          <p:cNvSpPr>
            <a:spLocks xmlns:a="http://schemas.openxmlformats.org/drawingml/2006/main" noGrp="1"/>
          </p:cNvSpPr>
          <p:nvPr/>
        </p:nvSpPr>
        <p:spPr>
          <a:xfrm xmlns:a="http://schemas.openxmlformats.org/drawingml/2006/main">
            <a:off x="685800" y="3181350"/>
            <a:ext cx="4476750" cy="76200"/>
          </a:xfrm>
          <a:prstGeom xmlns:a="http://schemas.openxmlformats.org/drawingml/2006/main" prst="roundRect">
            <a:avLst>
              <a:gd name="adj" fmla="val 50000"/>
            </a:avLst>
          </a:prstGeom>
          <a:solidFill xmlns:a="http://schemas.openxmlformats.org/drawingml/2006/main">
            <a:srgbClr val="A7F4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20639C-8C75-489D-ADE0-5057BD03C5CC}"/>
              </a:ext>
            </a:extLst>
          </p:cNvPr>
          <p:cNvSpPr>
            <a:spLocks xmlns:a="http://schemas.openxmlformats.org/drawingml/2006/main" noGrp="1"/>
          </p:cNvSpPr>
          <p:nvPr/>
        </p:nvSpPr>
        <p:spPr>
          <a:xfrm xmlns:a="http://schemas.openxmlformats.org/drawingml/2006/main">
            <a:off x="685800" y="35433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Typed decisions. Calibrated probabilities. Low-latency branching.</a:t>
            </a:r>
          </a:p>
        </p:txBody>
      </p:sp>
      <p:sp>
        <p:nvSpPr>
          <p:cNvPr id="6" name="">
            <a:extLst xmlns:a="http://schemas.openxmlformats.org/drawingml/2006/main">
              <a:ext uri="{FF2B5EF4-FFF2-40B4-BE49-F238E27FC236}">
                <a16:creationId xmlns:a16="http://schemas.microsoft.com/office/drawing/2014/main" id="{4FF142A9-39E2-4D35-99A5-585782A957A6}"/>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01</a:t>
            </a:r>
          </a:p>
        </p:txBody>
      </p:sp>
    </p:spTree>
    <p:extLst>
      <p:ext uri="{BB962C8B-B14F-4D97-AF65-F5344CB8AC3E}">
        <p14:creationId xmlns:p14="http://schemas.microsoft.com/office/powerpoint/2010/main" val="1060924698"/>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8EA60D-63F6-4DBC-A03D-E8D01E818FD7}"/>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FE95E04C-4837-4EC6-BA32-8742D6DE4F4B}"/>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Executive summary</a:t>
            </a:r>
          </a:p>
        </p:txBody>
      </p:sp>
      <p:sp>
        <p:nvSpPr>
          <p:cNvPr id="3" name="">
            <a:extLst xmlns:a="http://schemas.openxmlformats.org/drawingml/2006/main">
              <a:ext uri="{FF2B5EF4-FFF2-40B4-BE49-F238E27FC236}">
                <a16:creationId xmlns:a16="http://schemas.microsoft.com/office/drawing/2014/main" id="{7C77767D-D762-4B7F-B845-6CAC3B79CA3B}"/>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4B64F410-37CB-4CD2-B8C9-DDDF8BC50BB6}"/>
              </a:ext>
            </a:extLst>
          </p:cNvPr>
          <p:cNvSpPr>
            <a:spLocks xmlns:a="http://schemas.openxmlformats.org/drawingml/2006/main" noGrp="1"/>
          </p:cNvSpPr>
          <p:nvPr/>
        </p:nvSpPr>
        <p:spPr>
          <a:xfrm xmlns:a="http://schemas.openxmlformats.org/drawingml/2006/main">
            <a:off x="723900" y="15049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Jev should be evaluated as a fast decisioning model, not as a general LLM replacement.</a:t>
            </a:r>
          </a:p>
        </p:txBody>
      </p:sp>
      <p:sp>
        <p:nvSpPr>
          <p:cNvPr id="5" name="">
            <a:extLst xmlns:a="http://schemas.openxmlformats.org/drawingml/2006/main">
              <a:ext uri="{FF2B5EF4-FFF2-40B4-BE49-F238E27FC236}">
                <a16:creationId xmlns:a16="http://schemas.microsoft.com/office/drawing/2014/main" id="{7E5B62A4-4FF2-4CFA-82AF-D543B69DBE9C}"/>
              </a:ext>
            </a:extLst>
          </p:cNvPr>
          <p:cNvSpPr>
            <a:spLocks xmlns:a="http://schemas.openxmlformats.org/drawingml/2006/main" noGrp="1"/>
          </p:cNvSpPr>
          <p:nvPr/>
        </p:nvSpPr>
        <p:spPr>
          <a:xfrm xmlns:a="http://schemas.openxmlformats.org/drawingml/2006/main">
            <a:off x="800100" y="24003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FFCBA9-CB49-4922-B273-A382C5C4EBCA}"/>
              </a:ext>
            </a:extLst>
          </p:cNvPr>
          <p:cNvSpPr>
            <a:spLocks xmlns:a="http://schemas.openxmlformats.org/drawingml/2006/main" noGrp="1"/>
          </p:cNvSpPr>
          <p:nvPr/>
        </p:nvSpPr>
        <p:spPr>
          <a:xfrm xmlns:a="http://schemas.openxmlformats.org/drawingml/2006/main">
            <a:off x="1009650" y="23241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Jev is designed for narrow, typed judgments that software can consume directly.</a:t>
            </a:r>
          </a:p>
        </p:txBody>
      </p:sp>
      <p:sp>
        <p:nvSpPr>
          <p:cNvPr id="7" name="">
            <a:extLst xmlns:a="http://schemas.openxmlformats.org/drawingml/2006/main">
              <a:ext uri="{FF2B5EF4-FFF2-40B4-BE49-F238E27FC236}">
                <a16:creationId xmlns:a16="http://schemas.microsoft.com/office/drawing/2014/main" id="{F8E76EF7-165C-4CA2-8B15-94622EB7CEAA}"/>
              </a:ext>
            </a:extLst>
          </p:cNvPr>
          <p:cNvSpPr>
            <a:spLocks xmlns:a="http://schemas.openxmlformats.org/drawingml/2006/main" noGrp="1"/>
          </p:cNvSpPr>
          <p:nvPr/>
        </p:nvSpPr>
        <p:spPr>
          <a:xfrm xmlns:a="http://schemas.openxmlformats.org/drawingml/2006/main">
            <a:off x="800100" y="2971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1D867F-FF98-41AF-BF91-D8A9C56ECE80}"/>
              </a:ext>
            </a:extLst>
          </p:cNvPr>
          <p:cNvSpPr>
            <a:spLocks xmlns:a="http://schemas.openxmlformats.org/drawingml/2006/main" noGrp="1"/>
          </p:cNvSpPr>
          <p:nvPr/>
        </p:nvSpPr>
        <p:spPr>
          <a:xfrm xmlns:a="http://schemas.openxmlformats.org/drawingml/2006/main">
            <a:off x="1009650" y="28956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Claude Sonnet remains stronger for open-ended reasoning, prose generation and explanation-heavy workflows.</a:t>
            </a:r>
          </a:p>
        </p:txBody>
      </p:sp>
      <p:sp>
        <p:nvSpPr>
          <p:cNvPr id="9" name="">
            <a:extLst xmlns:a="http://schemas.openxmlformats.org/drawingml/2006/main">
              <a:ext uri="{FF2B5EF4-FFF2-40B4-BE49-F238E27FC236}">
                <a16:creationId xmlns:a16="http://schemas.microsoft.com/office/drawing/2014/main" id="{21F0B7BF-F22F-4E33-8808-7026C9E92828}"/>
              </a:ext>
            </a:extLst>
          </p:cNvPr>
          <p:cNvSpPr>
            <a:spLocks xmlns:a="http://schemas.openxmlformats.org/drawingml/2006/main" noGrp="1"/>
          </p:cNvSpPr>
          <p:nvPr/>
        </p:nvSpPr>
        <p:spPr>
          <a:xfrm xmlns:a="http://schemas.openxmlformats.org/drawingml/2006/main">
            <a:off x="800100" y="35433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D345EDE-05BD-428E-BAB5-3DC82B842B18}"/>
              </a:ext>
            </a:extLst>
          </p:cNvPr>
          <p:cNvSpPr>
            <a:spLocks xmlns:a="http://schemas.openxmlformats.org/drawingml/2006/main" noGrp="1"/>
          </p:cNvSpPr>
          <p:nvPr/>
        </p:nvSpPr>
        <p:spPr>
          <a:xfrm xmlns:a="http://schemas.openxmlformats.org/drawingml/2006/main">
            <a:off x="1009650" y="34671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In the POC, both platforms matched the expected outputs across three support-ticket cases.</a:t>
            </a:r>
          </a:p>
        </p:txBody>
      </p:sp>
      <p:sp>
        <p:nvSpPr>
          <p:cNvPr id="11" name="">
            <a:extLst xmlns:a="http://schemas.openxmlformats.org/drawingml/2006/main">
              <a:ext uri="{FF2B5EF4-FFF2-40B4-BE49-F238E27FC236}">
                <a16:creationId xmlns:a16="http://schemas.microsoft.com/office/drawing/2014/main" id="{3ECD049C-C30A-4792-BEAC-A213EBB96669}"/>
              </a:ext>
            </a:extLst>
          </p:cNvPr>
          <p:cNvSpPr>
            <a:spLocks xmlns:a="http://schemas.openxmlformats.org/drawingml/2006/main" noGrp="1"/>
          </p:cNvSpPr>
          <p:nvPr/>
        </p:nvSpPr>
        <p:spPr>
          <a:xfrm xmlns:a="http://schemas.openxmlformats.org/drawingml/2006/main">
            <a:off x="800100" y="4114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714811-C005-42FF-93DB-BB5F8EAA7714}"/>
              </a:ext>
            </a:extLst>
          </p:cNvPr>
          <p:cNvSpPr>
            <a:spLocks xmlns:a="http://schemas.openxmlformats.org/drawingml/2006/main" noGrp="1"/>
          </p:cNvSpPr>
          <p:nvPr/>
        </p:nvSpPr>
        <p:spPr>
          <a:xfrm xmlns:a="http://schemas.openxmlformats.org/drawingml/2006/main">
            <a:off x="1009650" y="40386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Jev showed materially lower latency and estimated cost on this structured decisioning workload.</a:t>
            </a:r>
          </a:p>
        </p:txBody>
      </p:sp>
      <p:sp>
        <p:nvSpPr>
          <p:cNvPr id="13" name="">
            <a:extLst xmlns:a="http://schemas.openxmlformats.org/drawingml/2006/main">
              <a:ext uri="{FF2B5EF4-FFF2-40B4-BE49-F238E27FC236}">
                <a16:creationId xmlns:a16="http://schemas.microsoft.com/office/drawing/2014/main" id="{B9D1A251-93F1-4646-8745-5EB18B7CBD22}"/>
              </a:ext>
            </a:extLst>
          </p:cNvPr>
          <p:cNvSpPr>
            <a:spLocks xmlns:a="http://schemas.openxmlformats.org/drawingml/2006/main" noGrp="1"/>
          </p:cNvSpPr>
          <p:nvPr/>
        </p:nvSpPr>
        <p:spPr>
          <a:xfrm xmlns:a="http://schemas.openxmlformats.org/drawingml/2006/main">
            <a:off x="800100" y="46863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75AD122-3880-4482-A208-D726EC3E1AD2}"/>
              </a:ext>
            </a:extLst>
          </p:cNvPr>
          <p:cNvSpPr>
            <a:spLocks xmlns:a="http://schemas.openxmlformats.org/drawingml/2006/main" noGrp="1"/>
          </p:cNvSpPr>
          <p:nvPr/>
        </p:nvSpPr>
        <p:spPr>
          <a:xfrm xmlns:a="http://schemas.openxmlformats.org/drawingml/2006/main">
            <a:off x="1009650" y="4610100"/>
            <a:ext cx="1007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The recommended pattern is hybrid: Jev for high-volume decisions, LLMs for escalation and language output.</a:t>
            </a:r>
          </a:p>
        </p:txBody>
      </p:sp>
      <p:sp>
        <p:nvSpPr>
          <p:cNvPr id="15" name="">
            <a:extLst xmlns:a="http://schemas.openxmlformats.org/drawingml/2006/main">
              <a:ext uri="{FF2B5EF4-FFF2-40B4-BE49-F238E27FC236}">
                <a16:creationId xmlns:a16="http://schemas.microsoft.com/office/drawing/2014/main" id="{10E1FA2C-CE1D-4592-94C0-81F114D3FA97}"/>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02</a:t>
            </a:r>
          </a:p>
        </p:txBody>
      </p:sp>
    </p:spTree>
    <p:extLst>
      <p:ext uri="{BB962C8B-B14F-4D97-AF65-F5344CB8AC3E}">
        <p14:creationId xmlns:p14="http://schemas.microsoft.com/office/powerpoint/2010/main" val="1512052547"/>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974701-B663-48DB-863F-C722438CD8A5}"/>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F9197118-D17A-4FDA-9DF8-3E46298F5FE0}"/>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Who created Jev</a:t>
            </a:r>
          </a:p>
        </p:txBody>
      </p:sp>
      <p:sp>
        <p:nvSpPr>
          <p:cNvPr id="3" name="">
            <a:extLst xmlns:a="http://schemas.openxmlformats.org/drawingml/2006/main">
              <a:ext uri="{FF2B5EF4-FFF2-40B4-BE49-F238E27FC236}">
                <a16:creationId xmlns:a16="http://schemas.microsoft.com/office/drawing/2014/main" id="{8AC91381-AD2D-4707-9F7E-B5DB176F9976}"/>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11C51A9E-D085-4C60-8340-2F727A18B3EE}"/>
              </a:ext>
            </a:extLst>
          </p:cNvPr>
          <p:cNvSpPr>
            <a:spLocks xmlns:a="http://schemas.openxmlformats.org/drawingml/2006/main" noGrp="1"/>
          </p:cNvSpPr>
          <p:nvPr/>
        </p:nvSpPr>
        <p:spPr>
          <a:xfrm xmlns:a="http://schemas.openxmlformats.org/drawingml/2006/main">
            <a:off x="685800" y="1581150"/>
            <a:ext cx="103822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B9AE7197-843A-42F2-A81E-F28BFF26A3BC}"/>
              </a:ext>
            </a:extLst>
          </p:cNvPr>
          <p:cNvSpPr>
            <a:spLocks xmlns:a="http://schemas.openxmlformats.org/drawingml/2006/main" noGrp="1"/>
          </p:cNvSpPr>
          <p:nvPr/>
        </p:nvSpPr>
        <p:spPr>
          <a:xfrm xmlns:a="http://schemas.openxmlformats.org/drawingml/2006/main">
            <a:off x="1047750" y="19431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02033"/>
                </a:solidFill>
                <a:latin typeface="Arial"/>
                <a:ea typeface="Arial"/>
                <a:cs typeface="Arial"/>
              </a:defRPr>
            </a:pPr>
            <a:r>
              <a:rPr sz="2550" b="1">
                <a:solidFill>
                  <a:srgbClr val="102033"/>
                </a:solidFill>
                <a:latin typeface="Arial"/>
                <a:ea typeface="Arial"/>
                <a:cs typeface="Arial"/>
              </a:rPr>
              <a:t>TypeSafe AI</a:t>
            </a:r>
          </a:p>
        </p:txBody>
      </p:sp>
      <p:sp>
        <p:nvSpPr>
          <p:cNvPr id="6" name="">
            <a:extLst xmlns:a="http://schemas.openxmlformats.org/drawingml/2006/main">
              <a:ext uri="{FF2B5EF4-FFF2-40B4-BE49-F238E27FC236}">
                <a16:creationId xmlns:a16="http://schemas.microsoft.com/office/drawing/2014/main" id="{CE4CACAC-4597-4DA0-8033-BCA28C81A994}"/>
              </a:ext>
            </a:extLst>
          </p:cNvPr>
          <p:cNvSpPr>
            <a:spLocks xmlns:a="http://schemas.openxmlformats.org/drawingml/2006/main" noGrp="1"/>
          </p:cNvSpPr>
          <p:nvPr/>
        </p:nvSpPr>
        <p:spPr>
          <a:xfrm xmlns:a="http://schemas.openxmlformats.org/drawingml/2006/main">
            <a:off x="1066800" y="257175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72033"/>
                </a:solidFill>
                <a:latin typeface="Arial"/>
                <a:ea typeface="Arial"/>
                <a:cs typeface="Arial"/>
              </a:defRPr>
            </a:pPr>
            <a:r>
              <a:rPr sz="1650" b="0">
                <a:solidFill>
                  <a:srgbClr val="172033"/>
                </a:solidFill>
                <a:latin typeface="Arial"/>
                <a:ea typeface="Arial"/>
                <a:cs typeface="Arial"/>
              </a:rPr>
              <a:t>Reference material positions Jev as the first System One model from TypeSafe AI. The talk deck names Diogo Almeida as the builder, with prior OpenAI work connected to InstructGPT and ChatGPT systems.</a:t>
            </a:r>
          </a:p>
        </p:txBody>
      </p:sp>
      <p:sp>
        <p:nvSpPr>
          <p:cNvPr id="7" name="">
            <a:extLst xmlns:a="http://schemas.openxmlformats.org/drawingml/2006/main">
              <a:ext uri="{FF2B5EF4-FFF2-40B4-BE49-F238E27FC236}">
                <a16:creationId xmlns:a16="http://schemas.microsoft.com/office/drawing/2014/main" id="{E9C303CC-916F-4FC7-B743-16925DACED0B}"/>
              </a:ext>
            </a:extLst>
          </p:cNvPr>
          <p:cNvSpPr>
            <a:spLocks xmlns:a="http://schemas.openxmlformats.org/drawingml/2006/main" noGrp="1"/>
          </p:cNvSpPr>
          <p:nvPr/>
        </p:nvSpPr>
        <p:spPr>
          <a:xfrm xmlns:a="http://schemas.openxmlformats.org/drawingml/2006/main">
            <a:off x="7067550" y="2000250"/>
            <a:ext cx="2952750" cy="762000"/>
          </a:xfrm>
          <a:prstGeom xmlns:a="http://schemas.openxmlformats.org/drawingml/2006/main" prst="roundRect">
            <a:avLst>
              <a:gd name="adj" fmla="val 12500"/>
            </a:avLst>
          </a:prstGeom>
          <a:solidFill xmlns:a="http://schemas.openxmlformats.org/drawingml/2006/main">
            <a:srgbClr val="F1F5F9"/>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E9EAC5AD-3016-4107-A6F6-FAA39DDC3BA3}"/>
              </a:ext>
            </a:extLst>
          </p:cNvPr>
          <p:cNvSpPr>
            <a:spLocks xmlns:a="http://schemas.openxmlformats.org/drawingml/2006/main" noGrp="1"/>
          </p:cNvSpPr>
          <p:nvPr/>
        </p:nvSpPr>
        <p:spPr>
          <a:xfrm xmlns:a="http://schemas.openxmlformats.org/drawingml/2006/main">
            <a:off x="7334250" y="2209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AI for software</a:t>
            </a:r>
          </a:p>
        </p:txBody>
      </p:sp>
      <p:sp>
        <p:nvSpPr>
          <p:cNvPr id="9" name="">
            <a:extLst xmlns:a="http://schemas.openxmlformats.org/drawingml/2006/main">
              <a:ext uri="{FF2B5EF4-FFF2-40B4-BE49-F238E27FC236}">
                <a16:creationId xmlns:a16="http://schemas.microsoft.com/office/drawing/2014/main" id="{6CC7E8D1-2EA8-4685-A8EF-F65DF6489C33}"/>
              </a:ext>
            </a:extLst>
          </p:cNvPr>
          <p:cNvSpPr>
            <a:spLocks xmlns:a="http://schemas.openxmlformats.org/drawingml/2006/main" noGrp="1"/>
          </p:cNvSpPr>
          <p:nvPr/>
        </p:nvSpPr>
        <p:spPr>
          <a:xfrm xmlns:a="http://schemas.openxmlformats.org/drawingml/2006/main">
            <a:off x="7067550" y="3105150"/>
            <a:ext cx="32575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The useful framing is AI as infrastructure: a programmable decision primitive rather than a chat surface.</a:t>
            </a:r>
          </a:p>
        </p:txBody>
      </p:sp>
      <p:sp>
        <p:nvSpPr>
          <p:cNvPr id="10" name="">
            <a:extLst xmlns:a="http://schemas.openxmlformats.org/drawingml/2006/main">
              <a:ext uri="{FF2B5EF4-FFF2-40B4-BE49-F238E27FC236}">
                <a16:creationId xmlns:a16="http://schemas.microsoft.com/office/drawing/2014/main" id="{53EB4CE1-E13B-4406-8FAA-2838E5F162EC}"/>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03</a:t>
            </a:r>
          </a:p>
        </p:txBody>
      </p:sp>
    </p:spTree>
    <p:extLst>
      <p:ext uri="{BB962C8B-B14F-4D97-AF65-F5344CB8AC3E}">
        <p14:creationId xmlns:p14="http://schemas.microsoft.com/office/powerpoint/2010/main" val="608796290"/>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CF1272-8756-4698-BEF6-ED666961880C}"/>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19AF4E0F-AB32-450C-8FFB-8DE142BDE0B4}"/>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Why Jev exists</a:t>
            </a:r>
          </a:p>
        </p:txBody>
      </p:sp>
      <p:sp>
        <p:nvSpPr>
          <p:cNvPr id="3" name="">
            <a:extLst xmlns:a="http://schemas.openxmlformats.org/drawingml/2006/main">
              <a:ext uri="{FF2B5EF4-FFF2-40B4-BE49-F238E27FC236}">
                <a16:creationId xmlns:a16="http://schemas.microsoft.com/office/drawing/2014/main" id="{5399220F-A3EF-40C7-B680-7ECAEDEDE052}"/>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1668826E-2D96-4C48-B63F-57AFF6B1C209}"/>
              </a:ext>
            </a:extLst>
          </p:cNvPr>
          <p:cNvSpPr>
            <a:spLocks xmlns:a="http://schemas.openxmlformats.org/drawingml/2006/main" noGrp="1"/>
          </p:cNvSpPr>
          <p:nvPr/>
        </p:nvSpPr>
        <p:spPr>
          <a:xfrm xmlns:a="http://schemas.openxmlformats.org/drawingml/2006/main">
            <a:off x="704850" y="144780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02033"/>
                </a:solidFill>
                <a:latin typeface="Arial"/>
                <a:ea typeface="Arial"/>
                <a:cs typeface="Arial"/>
              </a:defRPr>
            </a:pPr>
            <a:r>
              <a:rPr sz="2250" b="1">
                <a:solidFill>
                  <a:srgbClr val="102033"/>
                </a:solidFill>
                <a:latin typeface="Arial"/>
                <a:ea typeface="Arial"/>
                <a:cs typeface="Arial"/>
              </a:rPr>
              <a:t>Most LLM systems still use System 2 machinery for System 1 work.</a:t>
            </a:r>
          </a:p>
        </p:txBody>
      </p:sp>
      <p:sp>
        <p:nvSpPr>
          <p:cNvPr id="5" name="">
            <a:extLst xmlns:a="http://schemas.openxmlformats.org/drawingml/2006/main">
              <a:ext uri="{FF2B5EF4-FFF2-40B4-BE49-F238E27FC236}">
                <a16:creationId xmlns:a16="http://schemas.microsoft.com/office/drawing/2014/main" id="{AB05E9B6-26DA-4EE1-A5C8-CE23899E8102}"/>
              </a:ext>
            </a:extLst>
          </p:cNvPr>
          <p:cNvSpPr>
            <a:spLocks xmlns:a="http://schemas.openxmlformats.org/drawingml/2006/main" noGrp="1"/>
          </p:cNvSpPr>
          <p:nvPr/>
        </p:nvSpPr>
        <p:spPr>
          <a:xfrm xmlns:a="http://schemas.openxmlformats.org/drawingml/2006/main">
            <a:off x="914400" y="23050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4768FF"/>
                </a:solidFill>
                <a:latin typeface="Arial"/>
                <a:ea typeface="Arial"/>
                <a:cs typeface="Arial"/>
              </a:defRPr>
            </a:pPr>
            <a:r>
              <a:rPr sz="1800" b="1">
                <a:solidFill>
                  <a:srgbClr val="4768FF"/>
                </a:solidFill>
                <a:latin typeface="Arial"/>
                <a:ea typeface="Arial"/>
                <a:cs typeface="Arial"/>
              </a:rPr>
              <a:t>LLM-shaped workload</a:t>
            </a:r>
          </a:p>
        </p:txBody>
      </p:sp>
      <p:sp>
        <p:nvSpPr>
          <p:cNvPr id="6" name="">
            <a:extLst xmlns:a="http://schemas.openxmlformats.org/drawingml/2006/main">
              <a:ext uri="{FF2B5EF4-FFF2-40B4-BE49-F238E27FC236}">
                <a16:creationId xmlns:a16="http://schemas.microsoft.com/office/drawing/2014/main" id="{35DFD306-ABB9-4062-9FFB-2D1FA3155517}"/>
              </a:ext>
            </a:extLst>
          </p:cNvPr>
          <p:cNvSpPr>
            <a:spLocks xmlns:a="http://schemas.openxmlformats.org/drawingml/2006/main" noGrp="1"/>
          </p:cNvSpPr>
          <p:nvPr/>
        </p:nvSpPr>
        <p:spPr>
          <a:xfrm xmlns:a="http://schemas.openxmlformats.org/drawingml/2006/main">
            <a:off x="914400" y="2971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E85D3A-513E-41D6-80F4-B05365B29D4B}"/>
              </a:ext>
            </a:extLst>
          </p:cNvPr>
          <p:cNvSpPr>
            <a:spLocks xmlns:a="http://schemas.openxmlformats.org/drawingml/2006/main" noGrp="1"/>
          </p:cNvSpPr>
          <p:nvPr/>
        </p:nvSpPr>
        <p:spPr>
          <a:xfrm xmlns:a="http://schemas.openxmlformats.org/drawingml/2006/main">
            <a:off x="1123950" y="289560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Generate text token by token</a:t>
            </a:r>
          </a:p>
        </p:txBody>
      </p:sp>
      <p:sp>
        <p:nvSpPr>
          <p:cNvPr id="8" name="">
            <a:extLst xmlns:a="http://schemas.openxmlformats.org/drawingml/2006/main">
              <a:ext uri="{FF2B5EF4-FFF2-40B4-BE49-F238E27FC236}">
                <a16:creationId xmlns:a16="http://schemas.microsoft.com/office/drawing/2014/main" id="{0BE93E43-44AC-4CEA-AA07-D501009045B8}"/>
              </a:ext>
            </a:extLst>
          </p:cNvPr>
          <p:cNvSpPr>
            <a:spLocks xmlns:a="http://schemas.openxmlformats.org/drawingml/2006/main" noGrp="1"/>
          </p:cNvSpPr>
          <p:nvPr/>
        </p:nvSpPr>
        <p:spPr>
          <a:xfrm xmlns:a="http://schemas.openxmlformats.org/drawingml/2006/main">
            <a:off x="914400" y="3409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BB2FBA-E6F0-48FD-B6BD-CC04E18A6149}"/>
              </a:ext>
            </a:extLst>
          </p:cNvPr>
          <p:cNvSpPr>
            <a:spLocks xmlns:a="http://schemas.openxmlformats.org/drawingml/2006/main" noGrp="1"/>
          </p:cNvSpPr>
          <p:nvPr/>
        </p:nvSpPr>
        <p:spPr>
          <a:xfrm xmlns:a="http://schemas.openxmlformats.org/drawingml/2006/main">
            <a:off x="1123950" y="333375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Reason across broad task space</a:t>
            </a:r>
          </a:p>
        </p:txBody>
      </p:sp>
      <p:sp>
        <p:nvSpPr>
          <p:cNvPr id="10" name="">
            <a:extLst xmlns:a="http://schemas.openxmlformats.org/drawingml/2006/main">
              <a:ext uri="{FF2B5EF4-FFF2-40B4-BE49-F238E27FC236}">
                <a16:creationId xmlns:a16="http://schemas.microsoft.com/office/drawing/2014/main" id="{FC0813E4-5087-48C9-BF9A-AC8E7299E52B}"/>
              </a:ext>
            </a:extLst>
          </p:cNvPr>
          <p:cNvSpPr>
            <a:spLocks xmlns:a="http://schemas.openxmlformats.org/drawingml/2006/main" noGrp="1"/>
          </p:cNvSpPr>
          <p:nvPr/>
        </p:nvSpPr>
        <p:spPr>
          <a:xfrm xmlns:a="http://schemas.openxmlformats.org/drawingml/2006/main">
            <a:off x="914400" y="38481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38C31D4-4A82-4D33-AB01-0D549F6AA82E}"/>
              </a:ext>
            </a:extLst>
          </p:cNvPr>
          <p:cNvSpPr>
            <a:spLocks xmlns:a="http://schemas.openxmlformats.org/drawingml/2006/main" noGrp="1"/>
          </p:cNvSpPr>
          <p:nvPr/>
        </p:nvSpPr>
        <p:spPr>
          <a:xfrm xmlns:a="http://schemas.openxmlformats.org/drawingml/2006/main">
            <a:off x="1123950" y="377190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Return prose that an app must parse</a:t>
            </a:r>
          </a:p>
        </p:txBody>
      </p:sp>
      <p:sp>
        <p:nvSpPr>
          <p:cNvPr id="12" name="">
            <a:extLst xmlns:a="http://schemas.openxmlformats.org/drawingml/2006/main">
              <a:ext uri="{FF2B5EF4-FFF2-40B4-BE49-F238E27FC236}">
                <a16:creationId xmlns:a16="http://schemas.microsoft.com/office/drawing/2014/main" id="{4F4019F8-F6BE-47E4-972F-8EF970FDC58D}"/>
              </a:ext>
            </a:extLst>
          </p:cNvPr>
          <p:cNvSpPr>
            <a:spLocks xmlns:a="http://schemas.openxmlformats.org/drawingml/2006/main" noGrp="1"/>
          </p:cNvSpPr>
          <p:nvPr/>
        </p:nvSpPr>
        <p:spPr>
          <a:xfrm xmlns:a="http://schemas.openxmlformats.org/drawingml/2006/main">
            <a:off x="914400" y="4286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C845C5-64FD-4904-AFC5-76A6FE79D289}"/>
              </a:ext>
            </a:extLst>
          </p:cNvPr>
          <p:cNvSpPr>
            <a:spLocks xmlns:a="http://schemas.openxmlformats.org/drawingml/2006/main" noGrp="1"/>
          </p:cNvSpPr>
          <p:nvPr/>
        </p:nvSpPr>
        <p:spPr>
          <a:xfrm xmlns:a="http://schemas.openxmlformats.org/drawingml/2006/main">
            <a:off x="1123950" y="4210050"/>
            <a:ext cx="4171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Best when the answer needs language</a:t>
            </a:r>
          </a:p>
        </p:txBody>
      </p:sp>
      <p:sp>
        <p:nvSpPr>
          <p:cNvPr id="14" name="">
            <a:extLst xmlns:a="http://schemas.openxmlformats.org/drawingml/2006/main">
              <a:ext uri="{FF2B5EF4-FFF2-40B4-BE49-F238E27FC236}">
                <a16:creationId xmlns:a16="http://schemas.microsoft.com/office/drawing/2014/main" id="{16D11BD3-BD90-4148-BB14-98699C8F3FED}"/>
              </a:ext>
            </a:extLst>
          </p:cNvPr>
          <p:cNvSpPr>
            <a:spLocks xmlns:a="http://schemas.openxmlformats.org/drawingml/2006/main" noGrp="1"/>
          </p:cNvSpPr>
          <p:nvPr/>
        </p:nvSpPr>
        <p:spPr>
          <a:xfrm xmlns:a="http://schemas.openxmlformats.org/drawingml/2006/main">
            <a:off x="6572250" y="23050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Decision-shaped workload</a:t>
            </a:r>
          </a:p>
        </p:txBody>
      </p:sp>
      <p:sp>
        <p:nvSpPr>
          <p:cNvPr id="15" name="">
            <a:extLst xmlns:a="http://schemas.openxmlformats.org/drawingml/2006/main">
              <a:ext uri="{FF2B5EF4-FFF2-40B4-BE49-F238E27FC236}">
                <a16:creationId xmlns:a16="http://schemas.microsoft.com/office/drawing/2014/main" id="{52D7C2A0-176F-408F-9AB8-33B09BC6511C}"/>
              </a:ext>
            </a:extLst>
          </p:cNvPr>
          <p:cNvSpPr>
            <a:spLocks xmlns:a="http://schemas.openxmlformats.org/drawingml/2006/main" noGrp="1"/>
          </p:cNvSpPr>
          <p:nvPr/>
        </p:nvSpPr>
        <p:spPr>
          <a:xfrm xmlns:a="http://schemas.openxmlformats.org/drawingml/2006/main">
            <a:off x="6572250" y="29718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E0A861D-B00A-45FF-863D-30D242BE96C3}"/>
              </a:ext>
            </a:extLst>
          </p:cNvPr>
          <p:cNvSpPr>
            <a:spLocks xmlns:a="http://schemas.openxmlformats.org/drawingml/2006/main" noGrp="1"/>
          </p:cNvSpPr>
          <p:nvPr/>
        </p:nvSpPr>
        <p:spPr>
          <a:xfrm xmlns:a="http://schemas.openxmlformats.org/drawingml/2006/main">
            <a:off x="6781800" y="289560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Evaluate a narrow question</a:t>
            </a:r>
          </a:p>
        </p:txBody>
      </p:sp>
      <p:sp>
        <p:nvSpPr>
          <p:cNvPr id="17" name="">
            <a:extLst xmlns:a="http://schemas.openxmlformats.org/drawingml/2006/main">
              <a:ext uri="{FF2B5EF4-FFF2-40B4-BE49-F238E27FC236}">
                <a16:creationId xmlns:a16="http://schemas.microsoft.com/office/drawing/2014/main" id="{E1396CFB-5422-4CAF-A51D-48CCD4BDC900}"/>
              </a:ext>
            </a:extLst>
          </p:cNvPr>
          <p:cNvSpPr>
            <a:spLocks xmlns:a="http://schemas.openxmlformats.org/drawingml/2006/main" noGrp="1"/>
          </p:cNvSpPr>
          <p:nvPr/>
        </p:nvSpPr>
        <p:spPr>
          <a:xfrm xmlns:a="http://schemas.openxmlformats.org/drawingml/2006/main">
            <a:off x="6572250" y="3409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EE8370-ABF5-43B5-9868-AA97D3AE0367}"/>
              </a:ext>
            </a:extLst>
          </p:cNvPr>
          <p:cNvSpPr>
            <a:spLocks xmlns:a="http://schemas.openxmlformats.org/drawingml/2006/main" noGrp="1"/>
          </p:cNvSpPr>
          <p:nvPr/>
        </p:nvSpPr>
        <p:spPr>
          <a:xfrm xmlns:a="http://schemas.openxmlformats.org/drawingml/2006/main">
            <a:off x="6781800" y="333375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Return choice, score or probability</a:t>
            </a:r>
          </a:p>
        </p:txBody>
      </p:sp>
      <p:sp>
        <p:nvSpPr>
          <p:cNvPr id="19" name="">
            <a:extLst xmlns:a="http://schemas.openxmlformats.org/drawingml/2006/main">
              <a:ext uri="{FF2B5EF4-FFF2-40B4-BE49-F238E27FC236}">
                <a16:creationId xmlns:a16="http://schemas.microsoft.com/office/drawing/2014/main" id="{727DC29C-A190-4CC2-A88B-14D12C7AB3F5}"/>
              </a:ext>
            </a:extLst>
          </p:cNvPr>
          <p:cNvSpPr>
            <a:spLocks xmlns:a="http://schemas.openxmlformats.org/drawingml/2006/main" noGrp="1"/>
          </p:cNvSpPr>
          <p:nvPr/>
        </p:nvSpPr>
        <p:spPr>
          <a:xfrm xmlns:a="http://schemas.openxmlformats.org/drawingml/2006/main">
            <a:off x="6572250" y="384810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EDBA97-4410-4253-A691-F3A38415DCDE}"/>
              </a:ext>
            </a:extLst>
          </p:cNvPr>
          <p:cNvSpPr>
            <a:spLocks xmlns:a="http://schemas.openxmlformats.org/drawingml/2006/main" noGrp="1"/>
          </p:cNvSpPr>
          <p:nvPr/>
        </p:nvSpPr>
        <p:spPr>
          <a:xfrm xmlns:a="http://schemas.openxmlformats.org/drawingml/2006/main">
            <a:off x="6781800" y="377190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Allow software to branch directly</a:t>
            </a:r>
          </a:p>
        </p:txBody>
      </p:sp>
      <p:sp>
        <p:nvSpPr>
          <p:cNvPr id="21" name="">
            <a:extLst xmlns:a="http://schemas.openxmlformats.org/drawingml/2006/main">
              <a:ext uri="{FF2B5EF4-FFF2-40B4-BE49-F238E27FC236}">
                <a16:creationId xmlns:a16="http://schemas.microsoft.com/office/drawing/2014/main" id="{54672882-5064-4E37-B624-8E998CECFE5C}"/>
              </a:ext>
            </a:extLst>
          </p:cNvPr>
          <p:cNvSpPr>
            <a:spLocks xmlns:a="http://schemas.openxmlformats.org/drawingml/2006/main" noGrp="1"/>
          </p:cNvSpPr>
          <p:nvPr/>
        </p:nvSpPr>
        <p:spPr>
          <a:xfrm xmlns:a="http://schemas.openxmlformats.org/drawingml/2006/main">
            <a:off x="6572250" y="4286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F048FC8-C72D-4B54-917A-EC6BB5E266CD}"/>
              </a:ext>
            </a:extLst>
          </p:cNvPr>
          <p:cNvSpPr>
            <a:spLocks xmlns:a="http://schemas.openxmlformats.org/drawingml/2006/main" noGrp="1"/>
          </p:cNvSpPr>
          <p:nvPr/>
        </p:nvSpPr>
        <p:spPr>
          <a:xfrm xmlns:a="http://schemas.openxmlformats.org/drawingml/2006/main">
            <a:off x="6781800" y="4210050"/>
            <a:ext cx="4267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Best when the answer controls action</a:t>
            </a:r>
          </a:p>
        </p:txBody>
      </p:sp>
      <p:sp>
        <p:nvSpPr>
          <p:cNvPr id="23" name="">
            <a:extLst xmlns:a="http://schemas.openxmlformats.org/drawingml/2006/main">
              <a:ext uri="{FF2B5EF4-FFF2-40B4-BE49-F238E27FC236}">
                <a16:creationId xmlns:a16="http://schemas.microsoft.com/office/drawing/2014/main" id="{54AAFEC0-862D-42DD-A007-ABBC0CEAAB39}"/>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04</a:t>
            </a:r>
          </a:p>
        </p:txBody>
      </p:sp>
    </p:spTree>
    <p:extLst>
      <p:ext uri="{BB962C8B-B14F-4D97-AF65-F5344CB8AC3E}">
        <p14:creationId xmlns:p14="http://schemas.microsoft.com/office/powerpoint/2010/main" val="706701992"/>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5C6C10-1308-4783-8ABF-909FA6DF25E5}"/>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67F6E85F-954B-4527-B3E5-77AA7ADAC515}"/>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System 1 and System 2 design</a:t>
            </a:r>
          </a:p>
        </p:txBody>
      </p:sp>
      <p:sp>
        <p:nvSpPr>
          <p:cNvPr id="3" name="">
            <a:extLst xmlns:a="http://schemas.openxmlformats.org/drawingml/2006/main">
              <a:ext uri="{FF2B5EF4-FFF2-40B4-BE49-F238E27FC236}">
                <a16:creationId xmlns:a16="http://schemas.microsoft.com/office/drawing/2014/main" id="{389F2395-4A57-4963-8523-960421BE5064}"/>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742950" y="1638300"/>
          <a:ext xmlns:a="http://schemas.openxmlformats.org/drawingml/2006/main" cx="10287000" cy="3429000"/>
        </p:xfrm>
        <a:graphic xmlns:a="http://schemas.openxmlformats.org/drawingml/2006/main">
          <a:graphicData uri="http://schemas.openxmlformats.org/drawingml/2006/table">
            <a:tbl>
              <a:tblPr firstRow="1" bandRow="1"/>
              <a:tblGrid>
                <a:gridCol w="2523226"/>
                <a:gridCol w="3881887"/>
                <a:gridCol w="3881887"/>
              </a:tblGrid>
              <a:tr h="571500">
                <a:tc>
                  <a:txBody>
                    <a:bodyPr/>
                    <a:lstStyle/>
                    <a:p>
                      <a:r>
                        <a:t>Dimension</a:t>
                      </a:r>
                    </a:p>
                  </a:txBody>
                  <a:tcPr marL="91440" marR="91440" marT="45720" marB="45720"/>
                </a:tc>
                <a:tc>
                  <a:txBody>
                    <a:bodyPr/>
                    <a:lstStyle/>
                    <a:p>
                      <a:r>
                        <a:t>System 1 decisioning</a:t>
                      </a:r>
                    </a:p>
                  </a:txBody>
                  <a:tcPr marL="91440" marR="91440" marT="45720" marB="45720"/>
                </a:tc>
                <a:tc>
                  <a:txBody>
                    <a:bodyPr/>
                    <a:lstStyle/>
                    <a:p>
                      <a:r>
                        <a:t>System 2 reasoning</a:t>
                      </a:r>
                    </a:p>
                  </a:txBody>
                  <a:tcPr marL="91440" marR="91440" marT="45720" marB="45720"/>
                </a:tc>
              </a:tr>
              <a:tr h="571500">
                <a:tc>
                  <a:txBody>
                    <a:bodyPr/>
                    <a:lstStyle/>
                    <a:p>
                      <a:r>
                        <a:t>Primary job</a:t>
                      </a:r>
                    </a:p>
                  </a:txBody>
                  <a:tcPr marL="91440" marR="91440" marT="45720" marB="45720"/>
                </a:tc>
                <a:tc>
                  <a:txBody>
                    <a:bodyPr/>
                    <a:lstStyle/>
                    <a:p>
                      <a:r>
                        <a:t>Fast judgment</a:t>
                      </a:r>
                    </a:p>
                  </a:txBody>
                  <a:tcPr marL="91440" marR="91440" marT="45720" marB="45720"/>
                </a:tc>
                <a:tc>
                  <a:txBody>
                    <a:bodyPr/>
                    <a:lstStyle/>
                    <a:p>
                      <a:r>
                        <a:t>Deliberate reasoning</a:t>
                      </a:r>
                    </a:p>
                  </a:txBody>
                  <a:tcPr marL="91440" marR="91440" marT="45720" marB="45720"/>
                </a:tc>
              </a:tr>
              <a:tr h="571500">
                <a:tc>
                  <a:txBody>
                    <a:bodyPr/>
                    <a:lstStyle/>
                    <a:p>
                      <a:r>
                        <a:t>Output</a:t>
                      </a:r>
                    </a:p>
                  </a:txBody>
                  <a:tcPr marL="91440" marR="91440" marT="45720" marB="45720"/>
                </a:tc>
                <a:tc>
                  <a:txBody>
                    <a:bodyPr/>
                    <a:lstStyle/>
                    <a:p>
                      <a:r>
                        <a:t>Choice, score, probability</a:t>
                      </a:r>
                    </a:p>
                  </a:txBody>
                  <a:tcPr marL="91440" marR="91440" marT="45720" marB="45720"/>
                </a:tc>
                <a:tc>
                  <a:txBody>
                    <a:bodyPr/>
                    <a:lstStyle/>
                    <a:p>
                      <a:r>
                        <a:t>Generated language or plan</a:t>
                      </a:r>
                    </a:p>
                  </a:txBody>
                  <a:tcPr marL="91440" marR="91440" marT="45720" marB="45720"/>
                </a:tc>
              </a:tr>
              <a:tr h="571500">
                <a:tc>
                  <a:txBody>
                    <a:bodyPr/>
                    <a:lstStyle/>
                    <a:p>
                      <a:r>
                        <a:t>Latency profile</a:t>
                      </a:r>
                    </a:p>
                  </a:txBody>
                  <a:tcPr marL="91440" marR="91440" marT="45720" marB="45720"/>
                </a:tc>
                <a:tc>
                  <a:txBody>
                    <a:bodyPr/>
                    <a:lstStyle/>
                    <a:p>
                      <a:r>
                        <a:t>Low latency</a:t>
                      </a:r>
                    </a:p>
                  </a:txBody>
                  <a:tcPr marL="91440" marR="91440" marT="45720" marB="45720"/>
                </a:tc>
                <a:tc>
                  <a:txBody>
                    <a:bodyPr/>
                    <a:lstStyle/>
                    <a:p>
                      <a:r>
                        <a:t>Higher latency</a:t>
                      </a:r>
                    </a:p>
                  </a:txBody>
                  <a:tcPr marL="91440" marR="91440" marT="45720" marB="45720"/>
                </a:tc>
              </a:tr>
              <a:tr h="571500">
                <a:tc>
                  <a:txBody>
                    <a:bodyPr/>
                    <a:lstStyle/>
                    <a:p>
                      <a:r>
                        <a:t>Best fit</a:t>
                      </a:r>
                    </a:p>
                  </a:txBody>
                  <a:tcPr marL="91440" marR="91440" marT="45720" marB="45720"/>
                </a:tc>
                <a:tc>
                  <a:txBody>
                    <a:bodyPr/>
                    <a:lstStyle/>
                    <a:p>
                      <a:r>
                        <a:t>Routing, triage, policy checks</a:t>
                      </a:r>
                    </a:p>
                  </a:txBody>
                  <a:tcPr marL="91440" marR="91440" marT="45720" marB="45720"/>
                </a:tc>
                <a:tc>
                  <a:txBody>
                    <a:bodyPr/>
                    <a:lstStyle/>
                    <a:p>
                      <a:r>
                        <a:t>Synthesis, drafting, complex analysis</a:t>
                      </a:r>
                    </a:p>
                  </a:txBody>
                  <a:tcPr marL="91440" marR="91440" marT="45720" marB="45720"/>
                </a:tc>
              </a:tr>
              <a:tr h="571500">
                <a:tc>
                  <a:txBody>
                    <a:bodyPr/>
                    <a:lstStyle/>
                    <a:p>
                      <a:r>
                        <a:t>POC mapping</a:t>
                      </a:r>
                    </a:p>
                  </a:txBody>
                  <a:tcPr marL="91440" marR="91440" marT="45720" marB="45720"/>
                </a:tc>
                <a:tc>
                  <a:txBody>
                    <a:bodyPr/>
                    <a:lstStyle/>
                    <a:p>
                      <a:r>
                        <a:t>Jev</a:t>
                      </a:r>
                    </a:p>
                  </a:txBody>
                  <a:tcPr marL="91440" marR="91440" marT="45720" marB="45720"/>
                </a:tc>
                <a:tc>
                  <a:txBody>
                    <a:bodyPr/>
                    <a:lstStyle/>
                    <a:p>
                      <a:r>
                        <a:t>Claude Sonnet constrained by tool schema</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6D58C31E-2275-47B3-83EB-DE60D269059F}"/>
              </a:ext>
            </a:extLst>
          </p:cNvPr>
          <p:cNvSpPr>
            <a:spLocks xmlns:a="http://schemas.openxmlformats.org/drawingml/2006/main" noGrp="1"/>
          </p:cNvSpPr>
          <p:nvPr/>
        </p:nvSpPr>
        <p:spPr>
          <a:xfrm xmlns:a="http://schemas.openxmlformats.org/drawingml/2006/main">
            <a:off x="876300" y="54292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The comparison works only when both sides receive the same contract. The POC constrains Claude into Jev's decision shape for a fairer classification test.</a:t>
            </a:r>
          </a:p>
        </p:txBody>
      </p:sp>
      <p:sp>
        <p:nvSpPr>
          <p:cNvPr id="6" name="">
            <a:extLst xmlns:a="http://schemas.openxmlformats.org/drawingml/2006/main">
              <a:ext uri="{FF2B5EF4-FFF2-40B4-BE49-F238E27FC236}">
                <a16:creationId xmlns:a16="http://schemas.microsoft.com/office/drawing/2014/main" id="{B4070BB4-A077-4B96-B0C8-8D7F0A6940F0}"/>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05</a:t>
            </a:r>
          </a:p>
        </p:txBody>
      </p:sp>
    </p:spTree>
    <p:extLst>
      <p:ext uri="{BB962C8B-B14F-4D97-AF65-F5344CB8AC3E}">
        <p14:creationId xmlns:p14="http://schemas.microsoft.com/office/powerpoint/2010/main" val="1403844283"/>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1564C44-AF00-4DFA-925F-BB12181EA024}"/>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4AD3E3B2-6BE9-45AD-A531-4B9A5CBBA0C8}"/>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How Jev works conceptually</a:t>
            </a:r>
          </a:p>
        </p:txBody>
      </p:sp>
      <p:sp>
        <p:nvSpPr>
          <p:cNvPr id="3" name="">
            <a:extLst xmlns:a="http://schemas.openxmlformats.org/drawingml/2006/main">
              <a:ext uri="{FF2B5EF4-FFF2-40B4-BE49-F238E27FC236}">
                <a16:creationId xmlns:a16="http://schemas.microsoft.com/office/drawing/2014/main" id="{07919304-B437-4E8E-8FD5-DB5E212D9A93}"/>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2A1E740D-CAAE-474F-8067-261CACD44CAB}"/>
              </a:ext>
            </a:extLst>
          </p:cNvPr>
          <p:cNvSpPr>
            <a:spLocks xmlns:a="http://schemas.openxmlformats.org/drawingml/2006/main" noGrp="1"/>
          </p:cNvSpPr>
          <p:nvPr/>
        </p:nvSpPr>
        <p:spPr>
          <a:xfrm xmlns:a="http://schemas.openxmlformats.org/drawingml/2006/main">
            <a:off x="819150"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600E0D63-09CF-4D35-888F-124448A656A5}"/>
              </a:ext>
            </a:extLst>
          </p:cNvPr>
          <p:cNvSpPr>
            <a:spLocks xmlns:a="http://schemas.openxmlformats.org/drawingml/2006/main" noGrp="1"/>
          </p:cNvSpPr>
          <p:nvPr/>
        </p:nvSpPr>
        <p:spPr>
          <a:xfrm xmlns:a="http://schemas.openxmlformats.org/drawingml/2006/main">
            <a:off x="990600"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State</a:t>
            </a:r>
          </a:p>
        </p:txBody>
      </p:sp>
      <p:sp>
        <p:nvSpPr>
          <p:cNvPr id="6" name="">
            <a:extLst xmlns:a="http://schemas.openxmlformats.org/drawingml/2006/main">
              <a:ext uri="{FF2B5EF4-FFF2-40B4-BE49-F238E27FC236}">
                <a16:creationId xmlns:a16="http://schemas.microsoft.com/office/drawing/2014/main" id="{F6542995-9DEC-4796-BA74-F5518ECBCFA4}"/>
              </a:ext>
            </a:extLst>
          </p:cNvPr>
          <p:cNvSpPr>
            <a:spLocks xmlns:a="http://schemas.openxmlformats.org/drawingml/2006/main" noGrp="1"/>
          </p:cNvSpPr>
          <p:nvPr/>
        </p:nvSpPr>
        <p:spPr>
          <a:xfrm xmlns:a="http://schemas.openxmlformats.org/drawingml/2006/main">
            <a:off x="990600"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Text or JSON context</a:t>
            </a:r>
          </a:p>
        </p:txBody>
      </p:sp>
      <p:sp>
        <p:nvSpPr>
          <p:cNvPr id="7" name="">
            <a:extLst xmlns:a="http://schemas.openxmlformats.org/drawingml/2006/main">
              <a:ext uri="{FF2B5EF4-FFF2-40B4-BE49-F238E27FC236}">
                <a16:creationId xmlns:a16="http://schemas.microsoft.com/office/drawing/2014/main" id="{807BE5D9-B30D-4D91-85A3-76AA62EDBDCD}"/>
              </a:ext>
            </a:extLst>
          </p:cNvPr>
          <p:cNvSpPr>
            <a:spLocks xmlns:a="http://schemas.openxmlformats.org/drawingml/2006/main" noGrp="1"/>
          </p:cNvSpPr>
          <p:nvPr/>
        </p:nvSpPr>
        <p:spPr>
          <a:xfrm xmlns:a="http://schemas.openxmlformats.org/drawingml/2006/main">
            <a:off x="3009900" y="2724150"/>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3FD32CD1-56A3-4082-AD5F-F81C6DD29153}"/>
              </a:ext>
            </a:extLst>
          </p:cNvPr>
          <p:cNvSpPr>
            <a:spLocks xmlns:a="http://schemas.openxmlformats.org/drawingml/2006/main" noGrp="1"/>
          </p:cNvSpPr>
          <p:nvPr/>
        </p:nvSpPr>
        <p:spPr>
          <a:xfrm xmlns:a="http://schemas.openxmlformats.org/drawingml/2006/main">
            <a:off x="3714750"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9" name="">
            <a:extLst xmlns:a="http://schemas.openxmlformats.org/drawingml/2006/main">
              <a:ext uri="{FF2B5EF4-FFF2-40B4-BE49-F238E27FC236}">
                <a16:creationId xmlns:a16="http://schemas.microsoft.com/office/drawing/2014/main" id="{C8369832-4C8F-4BCF-8459-9F0709311794}"/>
              </a:ext>
            </a:extLst>
          </p:cNvPr>
          <p:cNvSpPr>
            <a:spLocks xmlns:a="http://schemas.openxmlformats.org/drawingml/2006/main" noGrp="1"/>
          </p:cNvSpPr>
          <p:nvPr/>
        </p:nvSpPr>
        <p:spPr>
          <a:xfrm xmlns:a="http://schemas.openxmlformats.org/drawingml/2006/main">
            <a:off x="3886200"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Questions</a:t>
            </a:r>
          </a:p>
        </p:txBody>
      </p:sp>
      <p:sp>
        <p:nvSpPr>
          <p:cNvPr id="10" name="">
            <a:extLst xmlns:a="http://schemas.openxmlformats.org/drawingml/2006/main">
              <a:ext uri="{FF2B5EF4-FFF2-40B4-BE49-F238E27FC236}">
                <a16:creationId xmlns:a16="http://schemas.microsoft.com/office/drawing/2014/main" id="{D9CC7419-521E-481C-A9FE-29280C1A4408}"/>
              </a:ext>
            </a:extLst>
          </p:cNvPr>
          <p:cNvSpPr>
            <a:spLocks xmlns:a="http://schemas.openxmlformats.org/drawingml/2006/main" noGrp="1"/>
          </p:cNvSpPr>
          <p:nvPr/>
        </p:nvSpPr>
        <p:spPr>
          <a:xfrm xmlns:a="http://schemas.openxmlformats.org/drawingml/2006/main">
            <a:off x="3886200"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Typed decision primitives</a:t>
            </a:r>
          </a:p>
        </p:txBody>
      </p:sp>
      <p:sp>
        <p:nvSpPr>
          <p:cNvPr id="11" name="">
            <a:extLst xmlns:a="http://schemas.openxmlformats.org/drawingml/2006/main">
              <a:ext uri="{FF2B5EF4-FFF2-40B4-BE49-F238E27FC236}">
                <a16:creationId xmlns:a16="http://schemas.microsoft.com/office/drawing/2014/main" id="{ACCAC3EA-01D6-4E15-9AB4-67073A40099F}"/>
              </a:ext>
            </a:extLst>
          </p:cNvPr>
          <p:cNvSpPr>
            <a:spLocks xmlns:a="http://schemas.openxmlformats.org/drawingml/2006/main" noGrp="1"/>
          </p:cNvSpPr>
          <p:nvPr/>
        </p:nvSpPr>
        <p:spPr>
          <a:xfrm xmlns:a="http://schemas.openxmlformats.org/drawingml/2006/main">
            <a:off x="5905500" y="2724150"/>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1845829E-C961-4CC4-B05E-5B896EC3E99B}"/>
              </a:ext>
            </a:extLst>
          </p:cNvPr>
          <p:cNvSpPr>
            <a:spLocks xmlns:a="http://schemas.openxmlformats.org/drawingml/2006/main" noGrp="1"/>
          </p:cNvSpPr>
          <p:nvPr/>
        </p:nvSpPr>
        <p:spPr>
          <a:xfrm xmlns:a="http://schemas.openxmlformats.org/drawingml/2006/main">
            <a:off x="6810375"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13" name="">
            <a:extLst xmlns:a="http://schemas.openxmlformats.org/drawingml/2006/main">
              <a:ext uri="{FF2B5EF4-FFF2-40B4-BE49-F238E27FC236}">
                <a16:creationId xmlns:a16="http://schemas.microsoft.com/office/drawing/2014/main" id="{38A2665F-566F-4AD2-B571-50E35B5E1847}"/>
              </a:ext>
            </a:extLst>
          </p:cNvPr>
          <p:cNvSpPr>
            <a:spLocks xmlns:a="http://schemas.openxmlformats.org/drawingml/2006/main" noGrp="1"/>
          </p:cNvSpPr>
          <p:nvPr/>
        </p:nvSpPr>
        <p:spPr>
          <a:xfrm xmlns:a="http://schemas.openxmlformats.org/drawingml/2006/main">
            <a:off x="6981825"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Model</a:t>
            </a:r>
          </a:p>
        </p:txBody>
      </p:sp>
      <p:sp>
        <p:nvSpPr>
          <p:cNvPr id="14" name="">
            <a:extLst xmlns:a="http://schemas.openxmlformats.org/drawingml/2006/main">
              <a:ext uri="{FF2B5EF4-FFF2-40B4-BE49-F238E27FC236}">
                <a16:creationId xmlns:a16="http://schemas.microsoft.com/office/drawing/2014/main" id="{2E6B8CCD-777D-4508-A2F3-2A6B69289CA5}"/>
              </a:ext>
            </a:extLst>
          </p:cNvPr>
          <p:cNvSpPr>
            <a:spLocks xmlns:a="http://schemas.openxmlformats.org/drawingml/2006/main" noGrp="1"/>
          </p:cNvSpPr>
          <p:nvPr/>
        </p:nvSpPr>
        <p:spPr>
          <a:xfrm xmlns:a="http://schemas.openxmlformats.org/drawingml/2006/main">
            <a:off x="6981825"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jev-latest or pinned version</a:t>
            </a:r>
          </a:p>
        </p:txBody>
      </p:sp>
      <p:sp>
        <p:nvSpPr>
          <p:cNvPr id="15" name="">
            <a:extLst xmlns:a="http://schemas.openxmlformats.org/drawingml/2006/main">
              <a:ext uri="{FF2B5EF4-FFF2-40B4-BE49-F238E27FC236}">
                <a16:creationId xmlns:a16="http://schemas.microsoft.com/office/drawing/2014/main" id="{DEF0AAA6-4FEE-4141-8290-E5FFD45D2778}"/>
              </a:ext>
            </a:extLst>
          </p:cNvPr>
          <p:cNvSpPr>
            <a:spLocks xmlns:a="http://schemas.openxmlformats.org/drawingml/2006/main" noGrp="1"/>
          </p:cNvSpPr>
          <p:nvPr/>
        </p:nvSpPr>
        <p:spPr>
          <a:xfrm xmlns:a="http://schemas.openxmlformats.org/drawingml/2006/main">
            <a:off x="9001125" y="2724150"/>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ECD74DE5-12D9-49B4-B339-6195017ABE74}"/>
              </a:ext>
            </a:extLst>
          </p:cNvPr>
          <p:cNvSpPr>
            <a:spLocks xmlns:a="http://schemas.openxmlformats.org/drawingml/2006/main" noGrp="1"/>
          </p:cNvSpPr>
          <p:nvPr/>
        </p:nvSpPr>
        <p:spPr>
          <a:xfrm xmlns:a="http://schemas.openxmlformats.org/drawingml/2006/main">
            <a:off x="9667875" y="2076450"/>
            <a:ext cx="209550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EE8"/>
            </a:solidFill>
            <a:prstDash val="solid"/>
          </a:ln>
        </p:spPr>
      </p:sp>
      <p:sp>
        <p:nvSpPr>
          <p:cNvPr id="17" name="">
            <a:extLst xmlns:a="http://schemas.openxmlformats.org/drawingml/2006/main">
              <a:ext uri="{FF2B5EF4-FFF2-40B4-BE49-F238E27FC236}">
                <a16:creationId xmlns:a16="http://schemas.microsoft.com/office/drawing/2014/main" id="{890A8D26-468C-43E1-8159-8CDDF3C732A2}"/>
              </a:ext>
            </a:extLst>
          </p:cNvPr>
          <p:cNvSpPr>
            <a:spLocks xmlns:a="http://schemas.openxmlformats.org/drawingml/2006/main" noGrp="1"/>
          </p:cNvSpPr>
          <p:nvPr/>
        </p:nvSpPr>
        <p:spPr>
          <a:xfrm xmlns:a="http://schemas.openxmlformats.org/drawingml/2006/main">
            <a:off x="9839325" y="23431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Answers</a:t>
            </a:r>
          </a:p>
        </p:txBody>
      </p:sp>
      <p:sp>
        <p:nvSpPr>
          <p:cNvPr id="18" name="">
            <a:extLst xmlns:a="http://schemas.openxmlformats.org/drawingml/2006/main">
              <a:ext uri="{FF2B5EF4-FFF2-40B4-BE49-F238E27FC236}">
                <a16:creationId xmlns:a16="http://schemas.microsoft.com/office/drawing/2014/main" id="{222B9E57-C436-4D68-BB71-B818577C4FA0}"/>
              </a:ext>
            </a:extLst>
          </p:cNvPr>
          <p:cNvSpPr>
            <a:spLocks xmlns:a="http://schemas.openxmlformats.org/drawingml/2006/main" noGrp="1"/>
          </p:cNvSpPr>
          <p:nvPr/>
        </p:nvSpPr>
        <p:spPr>
          <a:xfrm xmlns:a="http://schemas.openxmlformats.org/drawingml/2006/main">
            <a:off x="9839325" y="2800350"/>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657083"/>
                </a:solidFill>
                <a:latin typeface="Arial"/>
                <a:ea typeface="Arial"/>
                <a:cs typeface="Arial"/>
              </a:defRPr>
            </a:pPr>
            <a:r>
              <a:rPr sz="1275" b="0">
                <a:solidFill>
                  <a:srgbClr val="657083"/>
                </a:solidFill>
                <a:latin typeface="Arial"/>
                <a:ea typeface="Arial"/>
                <a:cs typeface="Arial"/>
              </a:rPr>
              <a:t>Machine-readable decisions</a:t>
            </a:r>
          </a:p>
        </p:txBody>
      </p:sp>
      <p:graphicFrame>
        <p:nvGraphicFramePr>
          <p:cNvPr id="39" name=""/>
          <p:cNvGraphicFramePr/>
          <p:nvPr/>
        </p:nvGraphicFramePr>
        <p:xfrm>
          <a:off xmlns:a="http://schemas.openxmlformats.org/drawingml/2006/main" x="1352550" y="4095750"/>
          <a:ext xmlns:a="http://schemas.openxmlformats.org/drawingml/2006/main" cx="9048750" cy="1428750"/>
        </p:xfrm>
        <a:graphic xmlns:a="http://schemas.openxmlformats.org/drawingml/2006/main">
          <a:graphicData uri="http://schemas.openxmlformats.org/drawingml/2006/table">
            <a:tbl>
              <a:tblPr firstRow="1" bandRow="1"/>
              <a:tblGrid>
                <a:gridCol w="3016250"/>
                <a:gridCol w="3016250"/>
                <a:gridCol w="3016250"/>
              </a:tblGrid>
              <a:tr h="357188">
                <a:tc>
                  <a:txBody>
                    <a:bodyPr/>
                    <a:lstStyle/>
                    <a:p>
                      <a:r>
                        <a:t>Primitive</a:t>
                      </a:r>
                    </a:p>
                  </a:txBody>
                  <a:tcPr marL="91440" marR="91440" marT="45720" marB="45720"/>
                </a:tc>
                <a:tc>
                  <a:txBody>
                    <a:bodyPr/>
                    <a:lstStyle/>
                    <a:p>
                      <a:r>
                        <a:t>Meaning</a:t>
                      </a:r>
                    </a:p>
                  </a:txBody>
                  <a:tcPr marL="91440" marR="91440" marT="45720" marB="45720"/>
                </a:tc>
                <a:tc>
                  <a:txBody>
                    <a:bodyPr/>
                    <a:lstStyle/>
                    <a:p>
                      <a:r>
                        <a:t>Example output</a:t>
                      </a:r>
                    </a:p>
                  </a:txBody>
                  <a:tcPr marL="91440" marR="91440" marT="45720" marB="45720"/>
                </a:tc>
              </a:tr>
              <a:tr h="357188">
                <a:tc>
                  <a:txBody>
                    <a:bodyPr/>
                    <a:lstStyle/>
                    <a:p>
                      <a:r>
                        <a:t>noul</a:t>
                      </a:r>
                    </a:p>
                  </a:txBody>
                  <a:tcPr marL="91440" marR="91440" marT="45720" marB="45720"/>
                </a:tc>
                <a:tc>
                  <a:txBody>
                    <a:bodyPr/>
                    <a:lstStyle/>
                    <a:p>
                      <a:r>
                        <a:t>Yes/no probability</a:t>
                      </a:r>
                    </a:p>
                  </a:txBody>
                  <a:tcPr marL="91440" marR="91440" marT="45720" marB="45720"/>
                </a:tc>
                <a:tc>
                  <a:txBody>
                    <a:bodyPr/>
                    <a:lstStyle/>
                    <a:p>
                      <a:r>
                        <a:t>urgent = 0.96</a:t>
                      </a:r>
                    </a:p>
                  </a:txBody>
                  <a:tcPr marL="91440" marR="91440" marT="45720" marB="45720"/>
                </a:tc>
              </a:tr>
              <a:tr h="357188">
                <a:tc>
                  <a:txBody>
                    <a:bodyPr/>
                    <a:lstStyle/>
                    <a:p>
                      <a:r>
                        <a:t>choice</a:t>
                      </a:r>
                    </a:p>
                  </a:txBody>
                  <a:tcPr marL="91440" marR="91440" marT="45720" marB="45720"/>
                </a:tc>
                <a:tc>
                  <a:txBody>
                    <a:bodyPr/>
                    <a:lstStyle/>
                    <a:p>
                      <a:r>
                        <a:t>Pick from defined options</a:t>
                      </a:r>
                    </a:p>
                  </a:txBody>
                  <a:tcPr marL="91440" marR="91440" marT="45720" marB="45720"/>
                </a:tc>
                <a:tc>
                  <a:txBody>
                    <a:bodyPr/>
                    <a:lstStyle/>
                    <a:p>
                      <a:r>
                        <a:t>route = technical</a:t>
                      </a:r>
                    </a:p>
                  </a:txBody>
                  <a:tcPr marL="91440" marR="91440" marT="45720" marB="45720"/>
                </a:tc>
              </a:tr>
              <a:tr h="357188">
                <a:tc>
                  <a:txBody>
                    <a:bodyPr/>
                    <a:lstStyle/>
                    <a:p>
                      <a:r>
                        <a:t>score</a:t>
                      </a:r>
                    </a:p>
                  </a:txBody>
                  <a:tcPr marL="91440" marR="91440" marT="45720" marB="45720"/>
                </a:tc>
                <a:tc>
                  <a:txBody>
                    <a:bodyPr/>
                    <a:lstStyle/>
                    <a:p>
                      <a:r>
                        <a:t>Rate against ordered levels</a:t>
                      </a:r>
                    </a:p>
                  </a:txBody>
                  <a:tcPr marL="91440" marR="91440" marT="45720" marB="45720"/>
                </a:tc>
                <a:tc>
                  <a:txBody>
                    <a:bodyPr/>
                    <a:lstStyle/>
                    <a:p>
                      <a:r>
                        <a:t>risk = 0.72</a:t>
                      </a:r>
                    </a:p>
                  </a:txBody>
                  <a:tcPr marL="91440" marR="91440" marT="45720" marB="45720"/>
                </a:tc>
              </a:tr>
            </a:tbl>
          </a:graphicData>
        </a:graphic>
      </p:graphicFrame>
      <p:sp>
        <p:nvSpPr>
          <p:cNvPr id="20" name="">
            <a:extLst xmlns:a="http://schemas.openxmlformats.org/drawingml/2006/main">
              <a:ext uri="{FF2B5EF4-FFF2-40B4-BE49-F238E27FC236}">
                <a16:creationId xmlns:a16="http://schemas.microsoft.com/office/drawing/2014/main" id="{B56E776A-6A41-45B1-B6E7-92EFFEFFEF87}"/>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06</a:t>
            </a:r>
          </a:p>
        </p:txBody>
      </p:sp>
    </p:spTree>
    <p:extLst>
      <p:ext uri="{BB962C8B-B14F-4D97-AF65-F5344CB8AC3E}">
        <p14:creationId xmlns:p14="http://schemas.microsoft.com/office/powerpoint/2010/main" val="1266430053"/>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AA6DD3-7223-4FEC-BB35-36A8AA96386A}"/>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D5D28F41-FEDB-4808-8D5A-D5312B9F238A}"/>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Where Jev fits beside LLMs</a:t>
            </a:r>
          </a:p>
        </p:txBody>
      </p:sp>
      <p:sp>
        <p:nvSpPr>
          <p:cNvPr id="3" name="">
            <a:extLst xmlns:a="http://schemas.openxmlformats.org/drawingml/2006/main">
              <a:ext uri="{FF2B5EF4-FFF2-40B4-BE49-F238E27FC236}">
                <a16:creationId xmlns:a16="http://schemas.microsoft.com/office/drawing/2014/main" id="{A45F3AF6-AE43-47AD-BA70-3255F86BD497}"/>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762000" y="1638300"/>
          <a:ext xmlns:a="http://schemas.openxmlformats.org/drawingml/2006/main" cx="10287000" cy="3429000"/>
        </p:xfrm>
        <a:graphic xmlns:a="http://schemas.openxmlformats.org/drawingml/2006/main">
          <a:graphicData uri="http://schemas.openxmlformats.org/drawingml/2006/table">
            <a:tbl>
              <a:tblPr firstRow="1" bandRow="1"/>
              <a:tblGrid>
                <a:gridCol w="3429000"/>
                <a:gridCol w="3429000"/>
                <a:gridCol w="3429000"/>
              </a:tblGrid>
              <a:tr h="571500">
                <a:tc>
                  <a:txBody>
                    <a:bodyPr/>
                    <a:lstStyle/>
                    <a:p>
                      <a:r>
                        <a:t>Need</a:t>
                      </a:r>
                    </a:p>
                  </a:txBody>
                  <a:tcPr marL="91440" marR="91440" marT="45720" marB="45720"/>
                </a:tc>
                <a:tc>
                  <a:txBody>
                    <a:bodyPr/>
                    <a:lstStyle/>
                    <a:p>
                      <a:r>
                        <a:t>Use Jev</a:t>
                      </a:r>
                    </a:p>
                  </a:txBody>
                  <a:tcPr marL="91440" marR="91440" marT="45720" marB="45720"/>
                </a:tc>
                <a:tc>
                  <a:txBody>
                    <a:bodyPr/>
                    <a:lstStyle/>
                    <a:p>
                      <a:r>
                        <a:t>Use Claude or another LLM</a:t>
                      </a:r>
                    </a:p>
                  </a:txBody>
                  <a:tcPr marL="91440" marR="91440" marT="45720" marB="45720"/>
                </a:tc>
              </a:tr>
              <a:tr h="571500">
                <a:tc>
                  <a:txBody>
                    <a:bodyPr/>
                    <a:lstStyle/>
                    <a:p>
                      <a:r>
                        <a:t>Route a support ticket</a:t>
                      </a:r>
                    </a:p>
                  </a:txBody>
                  <a:tcPr marL="91440" marR="91440" marT="45720" marB="45720"/>
                </a:tc>
                <a:tc>
                  <a:txBody>
                    <a:bodyPr/>
                    <a:lstStyle/>
                    <a:p>
                      <a:r>
                        <a:t>Strong fit</a:t>
                      </a:r>
                    </a:p>
                  </a:txBody>
                  <a:tcPr marL="91440" marR="91440" marT="45720" marB="45720"/>
                </a:tc>
                <a:tc>
                  <a:txBody>
                    <a:bodyPr/>
                    <a:lstStyle/>
                    <a:p>
                      <a:r>
                        <a:t>Fit when rationale is central</a:t>
                      </a:r>
                    </a:p>
                  </a:txBody>
                  <a:tcPr marL="91440" marR="91440" marT="45720" marB="45720"/>
                </a:tc>
              </a:tr>
              <a:tr h="571500">
                <a:tc>
                  <a:txBody>
                    <a:bodyPr/>
                    <a:lstStyle/>
                    <a:p>
                      <a:r>
                        <a:t>Moderate or approve a tool call</a:t>
                      </a:r>
                    </a:p>
                  </a:txBody>
                  <a:tcPr marL="91440" marR="91440" marT="45720" marB="45720"/>
                </a:tc>
                <a:tc>
                  <a:txBody>
                    <a:bodyPr/>
                    <a:lstStyle/>
                    <a:p>
                      <a:r>
                        <a:t>Strong fit</a:t>
                      </a:r>
                    </a:p>
                  </a:txBody>
                  <a:tcPr marL="91440" marR="91440" marT="45720" marB="45720"/>
                </a:tc>
                <a:tc>
                  <a:txBody>
                    <a:bodyPr/>
                    <a:lstStyle/>
                    <a:p>
                      <a:r>
                        <a:t>Fit for policy interpretation</a:t>
                      </a:r>
                    </a:p>
                  </a:txBody>
                  <a:tcPr marL="91440" marR="91440" marT="45720" marB="45720"/>
                </a:tc>
              </a:tr>
              <a:tr h="571500">
                <a:tc>
                  <a:txBody>
                    <a:bodyPr/>
                    <a:lstStyle/>
                    <a:p>
                      <a:r>
                        <a:t>Draft a customer response</a:t>
                      </a:r>
                    </a:p>
                  </a:txBody>
                  <a:tcPr marL="91440" marR="91440" marT="45720" marB="45720"/>
                </a:tc>
                <a:tc>
                  <a:txBody>
                    <a:bodyPr/>
                    <a:lstStyle/>
                    <a:p>
                      <a:r>
                        <a:t>No</a:t>
                      </a:r>
                    </a:p>
                  </a:txBody>
                  <a:tcPr marL="91440" marR="91440" marT="45720" marB="45720"/>
                </a:tc>
                <a:tc>
                  <a:txBody>
                    <a:bodyPr/>
                    <a:lstStyle/>
                    <a:p>
                      <a:r>
                        <a:t>Strong fit</a:t>
                      </a:r>
                    </a:p>
                  </a:txBody>
                  <a:tcPr marL="91440" marR="91440" marT="45720" marB="45720"/>
                </a:tc>
              </a:tr>
              <a:tr h="571500">
                <a:tc>
                  <a:txBody>
                    <a:bodyPr/>
                    <a:lstStyle/>
                    <a:p>
                      <a:r>
                        <a:t>Summarize a case history</a:t>
                      </a:r>
                    </a:p>
                  </a:txBody>
                  <a:tcPr marL="91440" marR="91440" marT="45720" marB="45720"/>
                </a:tc>
                <a:tc>
                  <a:txBody>
                    <a:bodyPr/>
                    <a:lstStyle/>
                    <a:p>
                      <a:r>
                        <a:t>No</a:t>
                      </a:r>
                    </a:p>
                  </a:txBody>
                  <a:tcPr marL="91440" marR="91440" marT="45720" marB="45720"/>
                </a:tc>
                <a:tc>
                  <a:txBody>
                    <a:bodyPr/>
                    <a:lstStyle/>
                    <a:p>
                      <a:r>
                        <a:t>Strong fit</a:t>
                      </a:r>
                    </a:p>
                  </a:txBody>
                  <a:tcPr marL="91440" marR="91440" marT="45720" marB="45720"/>
                </a:tc>
              </a:tr>
              <a:tr h="571500">
                <a:tc>
                  <a:txBody>
                    <a:bodyPr/>
                    <a:lstStyle/>
                    <a:p>
                      <a:r>
                        <a:t>Handle ambiguous edge cases</a:t>
                      </a:r>
                    </a:p>
                  </a:txBody>
                  <a:tcPr marL="91440" marR="91440" marT="45720" marB="45720"/>
                </a:tc>
                <a:tc>
                  <a:txBody>
                    <a:bodyPr/>
                    <a:lstStyle/>
                    <a:p>
                      <a:r>
                        <a:t>Threshold and escalate</a:t>
                      </a:r>
                    </a:p>
                  </a:txBody>
                  <a:tcPr marL="91440" marR="91440" marT="45720" marB="45720"/>
                </a:tc>
                <a:tc>
                  <a:txBody>
                    <a:bodyPr/>
                    <a:lstStyle/>
                    <a:p>
                      <a:r>
                        <a:t>Strong fit</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59C3E2FE-BB28-4343-A9F0-C5C8BA07B06A}"/>
              </a:ext>
            </a:extLst>
          </p:cNvPr>
          <p:cNvSpPr>
            <a:spLocks xmlns:a="http://schemas.openxmlformats.org/drawingml/2006/main" noGrp="1"/>
          </p:cNvSpPr>
          <p:nvPr/>
        </p:nvSpPr>
        <p:spPr>
          <a:xfrm xmlns:a="http://schemas.openxmlformats.org/drawingml/2006/main">
            <a:off x="876300" y="5429250"/>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02033"/>
                </a:solidFill>
                <a:latin typeface="Arial"/>
                <a:ea typeface="Arial"/>
                <a:cs typeface="Arial"/>
              </a:defRPr>
            </a:pPr>
            <a:r>
              <a:rPr sz="1725" b="1">
                <a:solidFill>
                  <a:srgbClr val="102033"/>
                </a:solidFill>
                <a:latin typeface="Arial"/>
                <a:ea typeface="Arial"/>
                <a:cs typeface="Arial"/>
              </a:rPr>
              <a:t>Plain view: use Jev when the app needs a decision. Use an LLM when the app needs language or reasoning.</a:t>
            </a:r>
          </a:p>
        </p:txBody>
      </p:sp>
      <p:sp>
        <p:nvSpPr>
          <p:cNvPr id="6" name="">
            <a:extLst xmlns:a="http://schemas.openxmlformats.org/drawingml/2006/main">
              <a:ext uri="{FF2B5EF4-FFF2-40B4-BE49-F238E27FC236}">
                <a16:creationId xmlns:a16="http://schemas.microsoft.com/office/drawing/2014/main" id="{BA43F766-C85D-4B02-819F-AB56A70109B2}"/>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07</a:t>
            </a:r>
          </a:p>
        </p:txBody>
      </p:sp>
    </p:spTree>
    <p:extLst>
      <p:ext uri="{BB962C8B-B14F-4D97-AF65-F5344CB8AC3E}">
        <p14:creationId xmlns:p14="http://schemas.microsoft.com/office/powerpoint/2010/main" val="1396166807"/>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20AB36F-DDC5-43BC-9D1B-A0193D24B27C}"/>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4E42B69C-8F82-43B2-AF15-C3A1D8292F53}"/>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Technical design pattern</a:t>
            </a:r>
          </a:p>
        </p:txBody>
      </p:sp>
      <p:sp>
        <p:nvSpPr>
          <p:cNvPr id="3" name="">
            <a:extLst xmlns:a="http://schemas.openxmlformats.org/drawingml/2006/main">
              <a:ext uri="{FF2B5EF4-FFF2-40B4-BE49-F238E27FC236}">
                <a16:creationId xmlns:a16="http://schemas.microsoft.com/office/drawing/2014/main" id="{06811CB1-C1D7-496C-B586-45450BAA82B2}"/>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05FFEA22-3A75-41FE-9A81-7EC5CE4DF3B9}"/>
              </a:ext>
            </a:extLst>
          </p:cNvPr>
          <p:cNvSpPr>
            <a:spLocks xmlns:a="http://schemas.openxmlformats.org/drawingml/2006/main" noGrp="1"/>
          </p:cNvSpPr>
          <p:nvPr/>
        </p:nvSpPr>
        <p:spPr>
          <a:xfrm xmlns:a="http://schemas.openxmlformats.org/drawingml/2006/main">
            <a:off x="914400" y="1600200"/>
            <a:ext cx="609600" cy="60960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1A4B80-0BD1-47B0-88F2-678C7817B5C6}"/>
              </a:ext>
            </a:extLst>
          </p:cNvPr>
          <p:cNvSpPr>
            <a:spLocks xmlns:a="http://schemas.openxmlformats.org/drawingml/2006/main" noGrp="1"/>
          </p:cNvSpPr>
          <p:nvPr/>
        </p:nvSpPr>
        <p:spPr>
          <a:xfrm xmlns:a="http://schemas.openxmlformats.org/drawingml/2006/main">
            <a:off x="914400" y="17430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5533E41-4B6A-48A9-8161-BDAE8F20B644}"/>
              </a:ext>
            </a:extLst>
          </p:cNvPr>
          <p:cNvSpPr>
            <a:spLocks xmlns:a="http://schemas.openxmlformats.org/drawingml/2006/main" noGrp="1"/>
          </p:cNvSpPr>
          <p:nvPr/>
        </p:nvSpPr>
        <p:spPr>
          <a:xfrm xmlns:a="http://schemas.openxmlformats.org/drawingml/2006/main">
            <a:off x="1809750" y="1657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Input event</a:t>
            </a:r>
          </a:p>
        </p:txBody>
      </p:sp>
      <p:sp>
        <p:nvSpPr>
          <p:cNvPr id="7" name="">
            <a:extLst xmlns:a="http://schemas.openxmlformats.org/drawingml/2006/main">
              <a:ext uri="{FF2B5EF4-FFF2-40B4-BE49-F238E27FC236}">
                <a16:creationId xmlns:a16="http://schemas.microsoft.com/office/drawing/2014/main" id="{902ED48B-9348-4C1D-991C-EAB94AF86C5C}"/>
              </a:ext>
            </a:extLst>
          </p:cNvPr>
          <p:cNvSpPr>
            <a:spLocks xmlns:a="http://schemas.openxmlformats.org/drawingml/2006/main" noGrp="1"/>
          </p:cNvSpPr>
          <p:nvPr/>
        </p:nvSpPr>
        <p:spPr>
          <a:xfrm xmlns:a="http://schemas.openxmlformats.org/drawingml/2006/main">
            <a:off x="1809750" y="20002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Ticket, message, record or agent state</a:t>
            </a:r>
          </a:p>
        </p:txBody>
      </p:sp>
      <p:sp>
        <p:nvSpPr>
          <p:cNvPr id="8" name="">
            <a:extLst xmlns:a="http://schemas.openxmlformats.org/drawingml/2006/main">
              <a:ext uri="{FF2B5EF4-FFF2-40B4-BE49-F238E27FC236}">
                <a16:creationId xmlns:a16="http://schemas.microsoft.com/office/drawing/2014/main" id="{FB3E7586-8767-4E6E-8255-D57166D94DE5}"/>
              </a:ext>
            </a:extLst>
          </p:cNvPr>
          <p:cNvSpPr>
            <a:spLocks xmlns:a="http://schemas.openxmlformats.org/drawingml/2006/main" noGrp="1"/>
          </p:cNvSpPr>
          <p:nvPr/>
        </p:nvSpPr>
        <p:spPr>
          <a:xfrm xmlns:a="http://schemas.openxmlformats.org/drawingml/2006/main">
            <a:off x="914400" y="2590800"/>
            <a:ext cx="609600" cy="609600"/>
          </a:xfrm>
          <a:prstGeom xmlns:a="http://schemas.openxmlformats.org/drawingml/2006/main" prst="roundRect">
            <a:avLst>
              <a:gd name="adj" fmla="val 50000"/>
            </a:avLst>
          </a:prstGeom>
          <a:solidFill xmlns:a="http://schemas.openxmlformats.org/drawingml/2006/main">
            <a:srgbClr val="A7F43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AD41477-71D1-4C54-AE4B-1D73F23BA0A6}"/>
              </a:ext>
            </a:extLst>
          </p:cNvPr>
          <p:cNvSpPr>
            <a:spLocks xmlns:a="http://schemas.openxmlformats.org/drawingml/2006/main" noGrp="1"/>
          </p:cNvSpPr>
          <p:nvPr/>
        </p:nvSpPr>
        <p:spPr>
          <a:xfrm xmlns:a="http://schemas.openxmlformats.org/drawingml/2006/main">
            <a:off x="914400" y="27336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BFE3941C-64B8-4870-986B-9EED766DCCF9}"/>
              </a:ext>
            </a:extLst>
          </p:cNvPr>
          <p:cNvSpPr>
            <a:spLocks xmlns:a="http://schemas.openxmlformats.org/drawingml/2006/main" noGrp="1"/>
          </p:cNvSpPr>
          <p:nvPr/>
        </p:nvSpPr>
        <p:spPr>
          <a:xfrm xmlns:a="http://schemas.openxmlformats.org/drawingml/2006/main">
            <a:off x="1809750" y="26479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Jev decision</a:t>
            </a:r>
          </a:p>
        </p:txBody>
      </p:sp>
      <p:sp>
        <p:nvSpPr>
          <p:cNvPr id="11" name="">
            <a:extLst xmlns:a="http://schemas.openxmlformats.org/drawingml/2006/main">
              <a:ext uri="{FF2B5EF4-FFF2-40B4-BE49-F238E27FC236}">
                <a16:creationId xmlns:a16="http://schemas.microsoft.com/office/drawing/2014/main" id="{643E8653-7BB3-4C1D-A4AA-3168F3601C31}"/>
              </a:ext>
            </a:extLst>
          </p:cNvPr>
          <p:cNvSpPr>
            <a:spLocks xmlns:a="http://schemas.openxmlformats.org/drawingml/2006/main" noGrp="1"/>
          </p:cNvSpPr>
          <p:nvPr/>
        </p:nvSpPr>
        <p:spPr>
          <a:xfrm xmlns:a="http://schemas.openxmlformats.org/drawingml/2006/main">
            <a:off x="1809750" y="29908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Typed questions return probabilities</a:t>
            </a:r>
          </a:p>
        </p:txBody>
      </p:sp>
      <p:sp>
        <p:nvSpPr>
          <p:cNvPr id="12" name="">
            <a:extLst xmlns:a="http://schemas.openxmlformats.org/drawingml/2006/main">
              <a:ext uri="{FF2B5EF4-FFF2-40B4-BE49-F238E27FC236}">
                <a16:creationId xmlns:a16="http://schemas.microsoft.com/office/drawing/2014/main" id="{9A29E9BC-1982-4B38-86ED-2732DD2FBB6E}"/>
              </a:ext>
            </a:extLst>
          </p:cNvPr>
          <p:cNvSpPr>
            <a:spLocks xmlns:a="http://schemas.openxmlformats.org/drawingml/2006/main" noGrp="1"/>
          </p:cNvSpPr>
          <p:nvPr/>
        </p:nvSpPr>
        <p:spPr>
          <a:xfrm xmlns:a="http://schemas.openxmlformats.org/drawingml/2006/main">
            <a:off x="914400" y="3581400"/>
            <a:ext cx="609600" cy="60960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C3E0204-DA3E-4826-BB3E-E8B7CC83F822}"/>
              </a:ext>
            </a:extLst>
          </p:cNvPr>
          <p:cNvSpPr>
            <a:spLocks xmlns:a="http://schemas.openxmlformats.org/drawingml/2006/main" noGrp="1"/>
          </p:cNvSpPr>
          <p:nvPr/>
        </p:nvSpPr>
        <p:spPr>
          <a:xfrm xmlns:a="http://schemas.openxmlformats.org/drawingml/2006/main">
            <a:off x="914400" y="37242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E708C8E5-DD20-4D9B-A79C-899EE9204FC2}"/>
              </a:ext>
            </a:extLst>
          </p:cNvPr>
          <p:cNvSpPr>
            <a:spLocks xmlns:a="http://schemas.openxmlformats.org/drawingml/2006/main" noGrp="1"/>
          </p:cNvSpPr>
          <p:nvPr/>
        </p:nvSpPr>
        <p:spPr>
          <a:xfrm xmlns:a="http://schemas.openxmlformats.org/drawingml/2006/main">
            <a:off x="1809750" y="36385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Confidence gate</a:t>
            </a:r>
          </a:p>
        </p:txBody>
      </p:sp>
      <p:sp>
        <p:nvSpPr>
          <p:cNvPr id="15" name="">
            <a:extLst xmlns:a="http://schemas.openxmlformats.org/drawingml/2006/main">
              <a:ext uri="{FF2B5EF4-FFF2-40B4-BE49-F238E27FC236}">
                <a16:creationId xmlns:a16="http://schemas.microsoft.com/office/drawing/2014/main" id="{A9EED11C-08A6-488C-87D3-94E77C0B51A4}"/>
              </a:ext>
            </a:extLst>
          </p:cNvPr>
          <p:cNvSpPr>
            <a:spLocks xmlns:a="http://schemas.openxmlformats.org/drawingml/2006/main" noGrp="1"/>
          </p:cNvSpPr>
          <p:nvPr/>
        </p:nvSpPr>
        <p:spPr>
          <a:xfrm xmlns:a="http://schemas.openxmlformats.org/drawingml/2006/main">
            <a:off x="1809750" y="39814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Apply thresholds and route policy</a:t>
            </a:r>
          </a:p>
        </p:txBody>
      </p:sp>
      <p:sp>
        <p:nvSpPr>
          <p:cNvPr id="16" name="">
            <a:extLst xmlns:a="http://schemas.openxmlformats.org/drawingml/2006/main">
              <a:ext uri="{FF2B5EF4-FFF2-40B4-BE49-F238E27FC236}">
                <a16:creationId xmlns:a16="http://schemas.microsoft.com/office/drawing/2014/main" id="{BE967E19-7F1A-407B-BF7E-02A344C63F7D}"/>
              </a:ext>
            </a:extLst>
          </p:cNvPr>
          <p:cNvSpPr>
            <a:spLocks xmlns:a="http://schemas.openxmlformats.org/drawingml/2006/main" noGrp="1"/>
          </p:cNvSpPr>
          <p:nvPr/>
        </p:nvSpPr>
        <p:spPr>
          <a:xfrm xmlns:a="http://schemas.openxmlformats.org/drawingml/2006/main">
            <a:off x="914400" y="4572000"/>
            <a:ext cx="609600" cy="60960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DBDB7A-E99F-4C36-B107-79A8744B81FC}"/>
              </a:ext>
            </a:extLst>
          </p:cNvPr>
          <p:cNvSpPr>
            <a:spLocks xmlns:a="http://schemas.openxmlformats.org/drawingml/2006/main" noGrp="1"/>
          </p:cNvSpPr>
          <p:nvPr/>
        </p:nvSpPr>
        <p:spPr>
          <a:xfrm xmlns:a="http://schemas.openxmlformats.org/drawingml/2006/main">
            <a:off x="914400" y="4714875"/>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102033"/>
                </a:solidFill>
                <a:latin typeface="Arial"/>
                <a:ea typeface="Arial"/>
                <a:cs typeface="Arial"/>
              </a:defRPr>
            </a:pPr>
            <a:r>
              <a:rPr sz="1800" b="1">
                <a:solidFill>
                  <a:srgbClr val="102033"/>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EC8A1150-6A25-4ED7-94F2-64129CBE5865}"/>
              </a:ext>
            </a:extLst>
          </p:cNvPr>
          <p:cNvSpPr>
            <a:spLocks xmlns:a="http://schemas.openxmlformats.org/drawingml/2006/main" noGrp="1"/>
          </p:cNvSpPr>
          <p:nvPr/>
        </p:nvSpPr>
        <p:spPr>
          <a:xfrm xmlns:a="http://schemas.openxmlformats.org/drawingml/2006/main">
            <a:off x="1809750" y="4629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Action path</a:t>
            </a:r>
          </a:p>
        </p:txBody>
      </p:sp>
      <p:sp>
        <p:nvSpPr>
          <p:cNvPr id="19" name="">
            <a:extLst xmlns:a="http://schemas.openxmlformats.org/drawingml/2006/main">
              <a:ext uri="{FF2B5EF4-FFF2-40B4-BE49-F238E27FC236}">
                <a16:creationId xmlns:a16="http://schemas.microsoft.com/office/drawing/2014/main" id="{EA599D38-2FD2-4BB4-9717-999768400833}"/>
              </a:ext>
            </a:extLst>
          </p:cNvPr>
          <p:cNvSpPr>
            <a:spLocks xmlns:a="http://schemas.openxmlformats.org/drawingml/2006/main" noGrp="1"/>
          </p:cNvSpPr>
          <p:nvPr/>
        </p:nvSpPr>
        <p:spPr>
          <a:xfrm xmlns:a="http://schemas.openxmlformats.org/drawingml/2006/main">
            <a:off x="1809750" y="49720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657083"/>
                </a:solidFill>
                <a:latin typeface="Arial"/>
                <a:ea typeface="Arial"/>
                <a:cs typeface="Arial"/>
              </a:defRPr>
            </a:pPr>
            <a:r>
              <a:rPr sz="1350" b="0">
                <a:solidFill>
                  <a:srgbClr val="657083"/>
                </a:solidFill>
                <a:latin typeface="Arial"/>
                <a:ea typeface="Arial"/>
                <a:cs typeface="Arial"/>
              </a:rPr>
              <a:t>Auto-route, Claude fallback or human review</a:t>
            </a:r>
          </a:p>
        </p:txBody>
      </p:sp>
      <p:sp>
        <p:nvSpPr>
          <p:cNvPr id="20" name="">
            <a:extLst xmlns:a="http://schemas.openxmlformats.org/drawingml/2006/main">
              <a:ext uri="{FF2B5EF4-FFF2-40B4-BE49-F238E27FC236}">
                <a16:creationId xmlns:a16="http://schemas.microsoft.com/office/drawing/2014/main" id="{F29664BF-6C42-46F7-91C8-98C36210CD31}"/>
              </a:ext>
            </a:extLst>
          </p:cNvPr>
          <p:cNvSpPr>
            <a:spLocks xmlns:a="http://schemas.openxmlformats.org/drawingml/2006/main" noGrp="1"/>
          </p:cNvSpPr>
          <p:nvPr/>
        </p:nvSpPr>
        <p:spPr>
          <a:xfrm xmlns:a="http://schemas.openxmlformats.org/drawingml/2006/main">
            <a:off x="8191500" y="2171700"/>
            <a:ext cx="25717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DEE8"/>
            </a:solidFill>
            <a:prstDash val="solid"/>
          </a:ln>
        </p:spPr>
      </p:sp>
      <p:sp>
        <p:nvSpPr>
          <p:cNvPr id="21" name="">
            <a:extLst xmlns:a="http://schemas.openxmlformats.org/drawingml/2006/main">
              <a:ext uri="{FF2B5EF4-FFF2-40B4-BE49-F238E27FC236}">
                <a16:creationId xmlns:a16="http://schemas.microsoft.com/office/drawing/2014/main" id="{C735B8FF-4A0B-4126-96AC-C606D3C3B304}"/>
              </a:ext>
            </a:extLst>
          </p:cNvPr>
          <p:cNvSpPr>
            <a:spLocks xmlns:a="http://schemas.openxmlformats.org/drawingml/2006/main" noGrp="1"/>
          </p:cNvSpPr>
          <p:nvPr/>
        </p:nvSpPr>
        <p:spPr>
          <a:xfrm xmlns:a="http://schemas.openxmlformats.org/drawingml/2006/main">
            <a:off x="8420100" y="2419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Audit fields</a:t>
            </a:r>
          </a:p>
        </p:txBody>
      </p:sp>
      <p:sp>
        <p:nvSpPr>
          <p:cNvPr id="22" name="">
            <a:extLst xmlns:a="http://schemas.openxmlformats.org/drawingml/2006/main">
              <a:ext uri="{FF2B5EF4-FFF2-40B4-BE49-F238E27FC236}">
                <a16:creationId xmlns:a16="http://schemas.microsoft.com/office/drawing/2014/main" id="{9DC85B9D-F832-44DA-BE34-3E71891DAD84}"/>
              </a:ext>
            </a:extLst>
          </p:cNvPr>
          <p:cNvSpPr>
            <a:spLocks xmlns:a="http://schemas.openxmlformats.org/drawingml/2006/main" noGrp="1"/>
          </p:cNvSpPr>
          <p:nvPr/>
        </p:nvSpPr>
        <p:spPr>
          <a:xfrm xmlns:a="http://schemas.openxmlformats.org/drawingml/2006/main">
            <a:off x="8420100" y="29908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34AF6BA-CB56-42B6-9A48-BD0B3CFD229B}"/>
              </a:ext>
            </a:extLst>
          </p:cNvPr>
          <p:cNvSpPr>
            <a:spLocks xmlns:a="http://schemas.openxmlformats.org/drawingml/2006/main" noGrp="1"/>
          </p:cNvSpPr>
          <p:nvPr/>
        </p:nvSpPr>
        <p:spPr>
          <a:xfrm xmlns:a="http://schemas.openxmlformats.org/drawingml/2006/main">
            <a:off x="8629650" y="29146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Raw provider response</a:t>
            </a:r>
          </a:p>
        </p:txBody>
      </p:sp>
      <p:sp>
        <p:nvSpPr>
          <p:cNvPr id="24" name="">
            <a:extLst xmlns:a="http://schemas.openxmlformats.org/drawingml/2006/main">
              <a:ext uri="{FF2B5EF4-FFF2-40B4-BE49-F238E27FC236}">
                <a16:creationId xmlns:a16="http://schemas.microsoft.com/office/drawing/2014/main" id="{2BFBED8E-A6A8-4FEB-A76A-9580CC63CA70}"/>
              </a:ext>
            </a:extLst>
          </p:cNvPr>
          <p:cNvSpPr>
            <a:spLocks xmlns:a="http://schemas.openxmlformats.org/drawingml/2006/main" noGrp="1"/>
          </p:cNvSpPr>
          <p:nvPr/>
        </p:nvSpPr>
        <p:spPr>
          <a:xfrm xmlns:a="http://schemas.openxmlformats.org/drawingml/2006/main">
            <a:off x="8420100" y="33337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FC33999-C86B-46E3-8E8E-F9A076B7B4AC}"/>
              </a:ext>
            </a:extLst>
          </p:cNvPr>
          <p:cNvSpPr>
            <a:spLocks xmlns:a="http://schemas.openxmlformats.org/drawingml/2006/main" noGrp="1"/>
          </p:cNvSpPr>
          <p:nvPr/>
        </p:nvSpPr>
        <p:spPr>
          <a:xfrm xmlns:a="http://schemas.openxmlformats.org/drawingml/2006/main">
            <a:off x="8629650" y="32575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Normalized decision</a:t>
            </a:r>
          </a:p>
        </p:txBody>
      </p:sp>
      <p:sp>
        <p:nvSpPr>
          <p:cNvPr id="26" name="">
            <a:extLst xmlns:a="http://schemas.openxmlformats.org/drawingml/2006/main">
              <a:ext uri="{FF2B5EF4-FFF2-40B4-BE49-F238E27FC236}">
                <a16:creationId xmlns:a16="http://schemas.microsoft.com/office/drawing/2014/main" id="{65AF5506-3B70-4940-9012-37A6D1FA7CEC}"/>
              </a:ext>
            </a:extLst>
          </p:cNvPr>
          <p:cNvSpPr>
            <a:spLocks xmlns:a="http://schemas.openxmlformats.org/drawingml/2006/main" noGrp="1"/>
          </p:cNvSpPr>
          <p:nvPr/>
        </p:nvSpPr>
        <p:spPr>
          <a:xfrm xmlns:a="http://schemas.openxmlformats.org/drawingml/2006/main">
            <a:off x="8420100" y="36766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B46AA09-153E-4627-B02E-5AE27E525F2A}"/>
              </a:ext>
            </a:extLst>
          </p:cNvPr>
          <p:cNvSpPr>
            <a:spLocks xmlns:a="http://schemas.openxmlformats.org/drawingml/2006/main" noGrp="1"/>
          </p:cNvSpPr>
          <p:nvPr/>
        </p:nvSpPr>
        <p:spPr>
          <a:xfrm xmlns:a="http://schemas.openxmlformats.org/drawingml/2006/main">
            <a:off x="8629650" y="36004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Confidence</a:t>
            </a:r>
          </a:p>
        </p:txBody>
      </p:sp>
      <p:sp>
        <p:nvSpPr>
          <p:cNvPr id="28" name="">
            <a:extLst xmlns:a="http://schemas.openxmlformats.org/drawingml/2006/main">
              <a:ext uri="{FF2B5EF4-FFF2-40B4-BE49-F238E27FC236}">
                <a16:creationId xmlns:a16="http://schemas.microsoft.com/office/drawing/2014/main" id="{134AE957-835F-46C2-B861-21B4CDB06B6B}"/>
              </a:ext>
            </a:extLst>
          </p:cNvPr>
          <p:cNvSpPr>
            <a:spLocks xmlns:a="http://schemas.openxmlformats.org/drawingml/2006/main" noGrp="1"/>
          </p:cNvSpPr>
          <p:nvPr/>
        </p:nvSpPr>
        <p:spPr>
          <a:xfrm xmlns:a="http://schemas.openxmlformats.org/drawingml/2006/main">
            <a:off x="8420100" y="40195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68D68BD-58CB-4201-9AD1-156ED72434FE}"/>
              </a:ext>
            </a:extLst>
          </p:cNvPr>
          <p:cNvSpPr>
            <a:spLocks xmlns:a="http://schemas.openxmlformats.org/drawingml/2006/main" noGrp="1"/>
          </p:cNvSpPr>
          <p:nvPr/>
        </p:nvSpPr>
        <p:spPr>
          <a:xfrm xmlns:a="http://schemas.openxmlformats.org/drawingml/2006/main">
            <a:off x="8629650" y="3943350"/>
            <a:ext cx="1885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Latency and cost</a:t>
            </a:r>
          </a:p>
        </p:txBody>
      </p:sp>
      <p:sp>
        <p:nvSpPr>
          <p:cNvPr id="30" name="">
            <a:extLst xmlns:a="http://schemas.openxmlformats.org/drawingml/2006/main">
              <a:ext uri="{FF2B5EF4-FFF2-40B4-BE49-F238E27FC236}">
                <a16:creationId xmlns:a16="http://schemas.microsoft.com/office/drawing/2014/main" id="{D6AAEB0B-583E-4F92-A754-FB9037C49295}"/>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08</a:t>
            </a:r>
          </a:p>
        </p:txBody>
      </p:sp>
    </p:spTree>
    <p:extLst>
      <p:ext uri="{BB962C8B-B14F-4D97-AF65-F5344CB8AC3E}">
        <p14:creationId xmlns:p14="http://schemas.microsoft.com/office/powerpoint/2010/main" val="1501817986"/>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71E7EA-D856-4029-BB47-5F6A2E53E8FE}"/>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965F8EFE-494F-4E4B-A63F-1CB972A888EF}"/>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POC setup</a:t>
            </a:r>
          </a:p>
        </p:txBody>
      </p:sp>
      <p:sp>
        <p:nvSpPr>
          <p:cNvPr id="3" name="">
            <a:extLst xmlns:a="http://schemas.openxmlformats.org/drawingml/2006/main">
              <a:ext uri="{FF2B5EF4-FFF2-40B4-BE49-F238E27FC236}">
                <a16:creationId xmlns:a16="http://schemas.microsoft.com/office/drawing/2014/main" id="{FACEABA7-A70E-4D56-B216-ABF7F4C8A97E}"/>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9" name=""/>
          <p:cNvGraphicFramePr/>
          <p:nvPr/>
        </p:nvGraphicFramePr>
        <p:xfrm>
          <a:off xmlns:a="http://schemas.openxmlformats.org/drawingml/2006/main" x="762000" y="1524000"/>
          <a:ext xmlns:a="http://schemas.openxmlformats.org/drawingml/2006/main" cx="10287000" cy="3600450"/>
        </p:xfrm>
        <a:graphic xmlns:a="http://schemas.openxmlformats.org/drawingml/2006/main">
          <a:graphicData uri="http://schemas.openxmlformats.org/drawingml/2006/table">
            <a:tbl>
              <a:tblPr firstRow="1" bandRow="1"/>
              <a:tblGrid>
                <a:gridCol w="2523226"/>
                <a:gridCol w="3881887"/>
                <a:gridCol w="3881887"/>
              </a:tblGrid>
              <a:tr h="514350">
                <a:tc>
                  <a:txBody>
                    <a:bodyPr/>
                    <a:lstStyle/>
                    <a:p>
                      <a:r>
                        <a:t>Area</a:t>
                      </a:r>
                    </a:p>
                  </a:txBody>
                  <a:tcPr marL="91440" marR="91440" marT="45720" marB="45720"/>
                </a:tc>
                <a:tc>
                  <a:txBody>
                    <a:bodyPr/>
                    <a:lstStyle/>
                    <a:p>
                      <a:r>
                        <a:t>Jev path</a:t>
                      </a:r>
                    </a:p>
                  </a:txBody>
                  <a:tcPr marL="91440" marR="91440" marT="45720" marB="45720"/>
                </a:tc>
                <a:tc>
                  <a:txBody>
                    <a:bodyPr/>
                    <a:lstStyle/>
                    <a:p>
                      <a:r>
                        <a:t>Claude path</a:t>
                      </a:r>
                    </a:p>
                  </a:txBody>
                  <a:tcPr marL="91440" marR="91440" marT="45720" marB="45720"/>
                </a:tc>
              </a:tr>
              <a:tr h="514350">
                <a:tc>
                  <a:txBody>
                    <a:bodyPr/>
                    <a:lstStyle/>
                    <a:p>
                      <a:r>
                        <a:t>Model</a:t>
                      </a:r>
                    </a:p>
                  </a:txBody>
                  <a:tcPr marL="91440" marR="91440" marT="45720" marB="45720"/>
                </a:tc>
                <a:tc>
                  <a:txBody>
                    <a:bodyPr/>
                    <a:lstStyle/>
                    <a:p>
                      <a:r>
                        <a:t>jev-1.13.0 / jev-latest</a:t>
                      </a:r>
                    </a:p>
                  </a:txBody>
                  <a:tcPr marL="91440" marR="91440" marT="45720" marB="45720"/>
                </a:tc>
                <a:tc>
                  <a:txBody>
                    <a:bodyPr/>
                    <a:lstStyle/>
                    <a:p>
                      <a:r>
                        <a:t>Claude Sonnet 4.5 on Bedrock</a:t>
                      </a:r>
                    </a:p>
                  </a:txBody>
                  <a:tcPr marL="91440" marR="91440" marT="45720" marB="45720"/>
                </a:tc>
              </a:tr>
              <a:tr h="514350">
                <a:tc>
                  <a:txBody>
                    <a:bodyPr/>
                    <a:lstStyle/>
                    <a:p>
                      <a:r>
                        <a:t>API shape</a:t>
                      </a:r>
                    </a:p>
                  </a:txBody>
                  <a:tcPr marL="91440" marR="91440" marT="45720" marB="45720"/>
                </a:tc>
                <a:tc>
                  <a:txBody>
                    <a:bodyPr/>
                    <a:lstStyle/>
                    <a:p>
                      <a:r>
                        <a:t>state + typed questions</a:t>
                      </a:r>
                    </a:p>
                  </a:txBody>
                  <a:tcPr marL="91440" marR="91440" marT="45720" marB="45720"/>
                </a:tc>
                <a:tc>
                  <a:txBody>
                    <a:bodyPr/>
                    <a:lstStyle/>
                    <a:p>
                      <a:r>
                        <a:t>Converse API + forced tool schema</a:t>
                      </a:r>
                    </a:p>
                  </a:txBody>
                  <a:tcPr marL="91440" marR="91440" marT="45720" marB="45720"/>
                </a:tc>
              </a:tr>
              <a:tr h="514350">
                <a:tc>
                  <a:txBody>
                    <a:bodyPr/>
                    <a:lstStyle/>
                    <a:p>
                      <a:r>
                        <a:t>Outputs</a:t>
                      </a:r>
                    </a:p>
                  </a:txBody>
                  <a:tcPr marL="91440" marR="91440" marT="45720" marB="45720"/>
                </a:tc>
                <a:tc>
                  <a:txBody>
                    <a:bodyPr/>
                    <a:lstStyle/>
                    <a:p>
                      <a:r>
                        <a:t>choice, noul probabilities, confidence</a:t>
                      </a:r>
                    </a:p>
                  </a:txBody>
                  <a:tcPr marL="91440" marR="91440" marT="45720" marB="45720"/>
                </a:tc>
                <a:tc>
                  <a:txBody>
                    <a:bodyPr/>
                    <a:lstStyle/>
                    <a:p>
                      <a:r>
                        <a:t>structured JSON requested from LLM</a:t>
                      </a:r>
                    </a:p>
                  </a:txBody>
                  <a:tcPr marL="91440" marR="91440" marT="45720" marB="45720"/>
                </a:tc>
              </a:tr>
              <a:tr h="514350">
                <a:tc>
                  <a:txBody>
                    <a:bodyPr/>
                    <a:lstStyle/>
                    <a:p>
                      <a:r>
                        <a:t>Telemetry</a:t>
                      </a:r>
                    </a:p>
                  </a:txBody>
                  <a:tcPr marL="91440" marR="91440" marT="45720" marB="45720"/>
                </a:tc>
                <a:tc>
                  <a:txBody>
                    <a:bodyPr/>
                    <a:lstStyle/>
                    <a:p>
                      <a:r>
                        <a:t>tokens, latency, cost, diagnostics</a:t>
                      </a:r>
                    </a:p>
                  </a:txBody>
                  <a:tcPr marL="91440" marR="91440" marT="45720" marB="45720"/>
                </a:tc>
                <a:tc>
                  <a:txBody>
                    <a:bodyPr/>
                    <a:lstStyle/>
                    <a:p>
                      <a:r>
                        <a:t>tokens, latency, cost, diagnostics</a:t>
                      </a:r>
                    </a:p>
                  </a:txBody>
                  <a:tcPr marL="91440" marR="91440" marT="45720" marB="45720"/>
                </a:tc>
              </a:tr>
              <a:tr h="514350">
                <a:tc>
                  <a:txBody>
                    <a:bodyPr/>
                    <a:lstStyle/>
                    <a:p>
                      <a:r>
                        <a:t>Pricing inputs</a:t>
                      </a:r>
                    </a:p>
                  </a:txBody>
                  <a:tcPr marL="91440" marR="91440" marT="45720" marB="45720"/>
                </a:tc>
                <a:tc>
                  <a:txBody>
                    <a:bodyPr/>
                    <a:lstStyle/>
                    <a:p>
                      <a:r>
                        <a:t>$0.042 / 1M input tokens</a:t>
                      </a:r>
                    </a:p>
                  </a:txBody>
                  <a:tcPr marL="91440" marR="91440" marT="45720" marB="45720"/>
                </a:tc>
                <a:tc>
                  <a:txBody>
                    <a:bodyPr/>
                    <a:lstStyle/>
                    <a:p>
                      <a:r>
                        <a:t>$3.30 / 1M input, $16.50 / 1M output</a:t>
                      </a:r>
                    </a:p>
                  </a:txBody>
                  <a:tcPr marL="91440" marR="91440" marT="45720" marB="45720"/>
                </a:tc>
              </a:tr>
              <a:tr h="514350">
                <a:tc>
                  <a:txBody>
                    <a:bodyPr/>
                    <a:lstStyle/>
                    <a:p>
                      <a:r>
                        <a:t>UI</a:t>
                      </a:r>
                    </a:p>
                  </a:txBody>
                  <a:tcPr marL="91440" marR="91440" marT="45720" marB="45720"/>
                </a:tc>
                <a:tc>
                  <a:txBody>
                    <a:bodyPr/>
                    <a:lstStyle/>
                    <a:p>
                      <a:r>
                        <a:t>Left pane</a:t>
                      </a:r>
                    </a:p>
                  </a:txBody>
                  <a:tcPr marL="91440" marR="91440" marT="45720" marB="45720"/>
                </a:tc>
                <a:tc>
                  <a:txBody>
                    <a:bodyPr/>
                    <a:lstStyle/>
                    <a:p>
                      <a:r>
                        <a:t>Right pane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77B8AAFF-AC16-4B28-8138-0AEF8B451D8F}"/>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09</a:t>
            </a:r>
          </a:p>
        </p:txBody>
      </p:sp>
    </p:spTree>
    <p:extLst>
      <p:ext uri="{BB962C8B-B14F-4D97-AF65-F5344CB8AC3E}">
        <p14:creationId xmlns:p14="http://schemas.microsoft.com/office/powerpoint/2010/main" val="1394763954"/>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001C16-70CD-4D35-9C2C-B402FEED8358}"/>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F256FB24-A53E-413A-BF9C-3A462DD16D6A}"/>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Evaluation cases</a:t>
            </a:r>
          </a:p>
        </p:txBody>
      </p:sp>
      <p:sp>
        <p:nvSpPr>
          <p:cNvPr id="3" name="">
            <a:extLst xmlns:a="http://schemas.openxmlformats.org/drawingml/2006/main">
              <a:ext uri="{FF2B5EF4-FFF2-40B4-BE49-F238E27FC236}">
                <a16:creationId xmlns:a16="http://schemas.microsoft.com/office/drawing/2014/main" id="{825A5E4B-9F31-45BB-9A99-B398F27C009E}"/>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666750" y="1676400"/>
          <a:ext xmlns:a="http://schemas.openxmlformats.org/drawingml/2006/main" cx="10763250" cy="2476500"/>
        </p:xfrm>
        <a:graphic xmlns:a="http://schemas.openxmlformats.org/drawingml/2006/main">
          <a:graphicData uri="http://schemas.openxmlformats.org/drawingml/2006/table">
            <a:tbl>
              <a:tblPr firstRow="1" bandRow="1"/>
              <a:tblGrid>
                <a:gridCol w="857250"/>
                <a:gridCol w="4365356"/>
                <a:gridCol w="1846881"/>
                <a:gridCol w="1846881"/>
                <a:gridCol w="1846881"/>
              </a:tblGrid>
              <a:tr h="619125">
                <a:tc>
                  <a:txBody>
                    <a:bodyPr/>
                    <a:lstStyle/>
                    <a:p>
                      <a:r>
                        <a:t>Case</a:t>
                      </a:r>
                    </a:p>
                  </a:txBody>
                  <a:tcPr marL="91440" marR="91440" marT="45720" marB="45720"/>
                </a:tc>
                <a:tc>
                  <a:txBody>
                    <a:bodyPr/>
                    <a:lstStyle/>
                    <a:p>
                      <a:r>
                        <a:t>Ticket</a:t>
                      </a:r>
                    </a:p>
                  </a:txBody>
                  <a:tcPr marL="91440" marR="91440" marT="45720" marB="45720"/>
                </a:tc>
                <a:tc>
                  <a:txBody>
                    <a:bodyPr/>
                    <a:lstStyle/>
                    <a:p>
                      <a:r>
                        <a:t>Route</a:t>
                      </a:r>
                    </a:p>
                  </a:txBody>
                  <a:tcPr marL="91440" marR="91440" marT="45720" marB="45720"/>
                </a:tc>
                <a:tc>
                  <a:txBody>
                    <a:bodyPr/>
                    <a:lstStyle/>
                    <a:p>
                      <a:r>
                        <a:t>Urgent</a:t>
                      </a:r>
                    </a:p>
                  </a:txBody>
                  <a:tcPr marL="91440" marR="91440" marT="45720" marB="45720"/>
                </a:tc>
                <a:tc>
                  <a:txBody>
                    <a:bodyPr/>
                    <a:lstStyle/>
                    <a:p>
                      <a:r>
                        <a:t>Refund</a:t>
                      </a:r>
                    </a:p>
                  </a:txBody>
                  <a:tcPr marL="91440" marR="91440" marT="45720" marB="45720"/>
                </a:tc>
              </a:tr>
              <a:tr h="619125">
                <a:tc>
                  <a:txBody>
                    <a:bodyPr/>
                    <a:lstStyle/>
                    <a:p>
                      <a:r>
                        <a:t>UC1</a:t>
                      </a:r>
                    </a:p>
                  </a:txBody>
                  <a:tcPr marL="91440" marR="91440" marT="45720" marB="45720"/>
                </a:tc>
                <a:tc>
                  <a:txBody>
                    <a:bodyPr/>
                    <a:lstStyle/>
                    <a:p>
                      <a:r>
                        <a:t>Password reset link opens a blank page</a:t>
                      </a:r>
                    </a:p>
                  </a:txBody>
                  <a:tcPr marL="91440" marR="91440" marT="45720" marB="45720"/>
                </a:tc>
                <a:tc>
                  <a:txBody>
                    <a:bodyPr/>
                    <a:lstStyle/>
                    <a:p>
                      <a:r>
                        <a:t>Technical</a:t>
                      </a:r>
                    </a:p>
                  </a:txBody>
                  <a:tcPr marL="91440" marR="91440" marT="45720" marB="45720"/>
                </a:tc>
                <a:tc>
                  <a:txBody>
                    <a:bodyPr/>
                    <a:lstStyle/>
                    <a:p>
                      <a:r>
                        <a:t>No</a:t>
                      </a:r>
                    </a:p>
                  </a:txBody>
                  <a:tcPr marL="91440" marR="91440" marT="45720" marB="45720"/>
                </a:tc>
                <a:tc>
                  <a:txBody>
                    <a:bodyPr/>
                    <a:lstStyle/>
                    <a:p>
                      <a:r>
                        <a:t>No</a:t>
                      </a:r>
                    </a:p>
                  </a:txBody>
                  <a:tcPr marL="91440" marR="91440" marT="45720" marB="45720"/>
                </a:tc>
              </a:tr>
              <a:tr h="619125">
                <a:tc>
                  <a:txBody>
                    <a:bodyPr/>
                    <a:lstStyle/>
                    <a:p>
                      <a:r>
                        <a:t>UC2</a:t>
                      </a:r>
                    </a:p>
                  </a:txBody>
                  <a:tcPr marL="91440" marR="91440" marT="45720" marB="45720"/>
                </a:tc>
                <a:tc>
                  <a:txBody>
                    <a:bodyPr/>
                    <a:lstStyle/>
                    <a:p>
                      <a:r>
                        <a:t>Do you have an office in Singapore?</a:t>
                      </a:r>
                    </a:p>
                  </a:txBody>
                  <a:tcPr marL="91440" marR="91440" marT="45720" marB="45720"/>
                </a:tc>
                <a:tc>
                  <a:txBody>
                    <a:bodyPr/>
                    <a:lstStyle/>
                    <a:p>
                      <a:r>
                        <a:t>Other</a:t>
                      </a:r>
                    </a:p>
                  </a:txBody>
                  <a:tcPr marL="91440" marR="91440" marT="45720" marB="45720"/>
                </a:tc>
                <a:tc>
                  <a:txBody>
                    <a:bodyPr/>
                    <a:lstStyle/>
                    <a:p>
                      <a:r>
                        <a:t>No</a:t>
                      </a:r>
                    </a:p>
                  </a:txBody>
                  <a:tcPr marL="91440" marR="91440" marT="45720" marB="45720"/>
                </a:tc>
                <a:tc>
                  <a:txBody>
                    <a:bodyPr/>
                    <a:lstStyle/>
                    <a:p>
                      <a:r>
                        <a:t>No</a:t>
                      </a:r>
                    </a:p>
                  </a:txBody>
                  <a:tcPr marL="91440" marR="91440" marT="45720" marB="45720"/>
                </a:tc>
              </a:tr>
              <a:tr h="619125">
                <a:tc>
                  <a:txBody>
                    <a:bodyPr/>
                    <a:lstStyle/>
                    <a:p>
                      <a:r>
                        <a:t>UC3</a:t>
                      </a:r>
                    </a:p>
                  </a:txBody>
                  <a:tcPr marL="91440" marR="91440" marT="45720" marB="45720"/>
                </a:tc>
                <a:tc>
                  <a:txBody>
                    <a:bodyPr/>
                    <a:lstStyle/>
                    <a:p>
                      <a:r>
                        <a:t>Production payment processing outage</a:t>
                      </a:r>
                    </a:p>
                  </a:txBody>
                  <a:tcPr marL="91440" marR="91440" marT="45720" marB="45720"/>
                </a:tc>
                <a:tc>
                  <a:txBody>
                    <a:bodyPr/>
                    <a:lstStyle/>
                    <a:p>
                      <a:r>
                        <a:t>Technical</a:t>
                      </a:r>
                    </a:p>
                  </a:txBody>
                  <a:tcPr marL="91440" marR="91440" marT="45720" marB="45720"/>
                </a:tc>
                <a:tc>
                  <a:txBody>
                    <a:bodyPr/>
                    <a:lstStyle/>
                    <a:p>
                      <a:r>
                        <a:t>Yes</a:t>
                      </a:r>
                    </a:p>
                  </a:txBody>
                  <a:tcPr marL="91440" marR="91440" marT="45720" marB="45720"/>
                </a:tc>
                <a:tc>
                  <a:txBody>
                    <a:bodyPr/>
                    <a:lstStyle/>
                    <a:p>
                      <a:r>
                        <a:t>No</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5D31CFE3-C18B-4D73-9BB7-76EADDBD5F58}"/>
              </a:ext>
            </a:extLst>
          </p:cNvPr>
          <p:cNvSpPr>
            <a:spLocks xmlns:a="http://schemas.openxmlformats.org/drawingml/2006/main" noGrp="1"/>
          </p:cNvSpPr>
          <p:nvPr/>
        </p:nvSpPr>
        <p:spPr>
          <a:xfrm xmlns:a="http://schemas.openxmlformats.org/drawingml/2006/main">
            <a:off x="838200" y="464820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102033"/>
                </a:solidFill>
                <a:latin typeface="Arial"/>
                <a:ea typeface="Arial"/>
                <a:cs typeface="Arial"/>
              </a:defRPr>
            </a:pPr>
            <a:r>
              <a:rPr sz="1650" b="1">
                <a:solidFill>
                  <a:srgbClr val="102033"/>
                </a:solidFill>
                <a:latin typeface="Arial"/>
                <a:ea typeface="Arial"/>
                <a:cs typeface="Arial"/>
              </a:rPr>
              <a:t>The cases test routing discipline across account-like wording, general information, and payment-related outage language.</a:t>
            </a:r>
          </a:p>
        </p:txBody>
      </p:sp>
      <p:sp>
        <p:nvSpPr>
          <p:cNvPr id="6" name="">
            <a:extLst xmlns:a="http://schemas.openxmlformats.org/drawingml/2006/main">
              <a:ext uri="{FF2B5EF4-FFF2-40B4-BE49-F238E27FC236}">
                <a16:creationId xmlns:a16="http://schemas.microsoft.com/office/drawing/2014/main" id="{8A5EEE99-C361-48D4-937E-6A1D0EC9B9DB}"/>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10</a:t>
            </a:r>
          </a:p>
        </p:txBody>
      </p:sp>
    </p:spTree>
    <p:extLst>
      <p:ext uri="{BB962C8B-B14F-4D97-AF65-F5344CB8AC3E}">
        <p14:creationId xmlns:p14="http://schemas.microsoft.com/office/powerpoint/2010/main" val="2023964899"/>
      </p:ext>
    </p:extLst>
  </p:cSld>
</p:sld>
</file>

<file path=ppt/slides/slide1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216221-B7FD-45BA-A4AC-F5D052CE7CB5}"/>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4ED46F24-DA2D-4B67-8DF0-852E874827FD}"/>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POC results summary</a:t>
            </a:r>
          </a:p>
        </p:txBody>
      </p:sp>
      <p:sp>
        <p:nvSpPr>
          <p:cNvPr id="3" name="">
            <a:extLst xmlns:a="http://schemas.openxmlformats.org/drawingml/2006/main">
              <a:ext uri="{FF2B5EF4-FFF2-40B4-BE49-F238E27FC236}">
                <a16:creationId xmlns:a16="http://schemas.microsoft.com/office/drawing/2014/main" id="{321183B1-593C-4169-825B-57308A6128BB}"/>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8EBDCD58-027E-473E-A14C-1C0B395A5A68}"/>
              </a:ext>
            </a:extLst>
          </p:cNvPr>
          <p:cNvSpPr>
            <a:spLocks xmlns:a="http://schemas.openxmlformats.org/drawingml/2006/main" noGrp="1"/>
          </p:cNvSpPr>
          <p:nvPr/>
        </p:nvSpPr>
        <p:spPr>
          <a:xfrm xmlns:a="http://schemas.openxmlformats.org/drawingml/2006/main">
            <a:off x="7810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5" name="">
            <a:extLst xmlns:a="http://schemas.openxmlformats.org/drawingml/2006/main">
              <a:ext uri="{FF2B5EF4-FFF2-40B4-BE49-F238E27FC236}">
                <a16:creationId xmlns:a16="http://schemas.microsoft.com/office/drawing/2014/main" id="{5E9273C7-BBD7-48F5-BF87-62659CF1BBFB}"/>
              </a:ext>
            </a:extLst>
          </p:cNvPr>
          <p:cNvSpPr>
            <a:spLocks xmlns:a="http://schemas.openxmlformats.org/drawingml/2006/main" noGrp="1"/>
          </p:cNvSpPr>
          <p:nvPr/>
        </p:nvSpPr>
        <p:spPr>
          <a:xfrm xmlns:a="http://schemas.openxmlformats.org/drawingml/2006/main">
            <a:off x="9525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9/9</a:t>
            </a:r>
          </a:p>
        </p:txBody>
      </p:sp>
      <p:sp>
        <p:nvSpPr>
          <p:cNvPr id="6" name="">
            <a:extLst xmlns:a="http://schemas.openxmlformats.org/drawingml/2006/main">
              <a:ext uri="{FF2B5EF4-FFF2-40B4-BE49-F238E27FC236}">
                <a16:creationId xmlns:a16="http://schemas.microsoft.com/office/drawing/2014/main" id="{1D6DB729-4A92-49C0-B773-C7CA443A6F81}"/>
              </a:ext>
            </a:extLst>
          </p:cNvPr>
          <p:cNvSpPr>
            <a:spLocks xmlns:a="http://schemas.openxmlformats.org/drawingml/2006/main" noGrp="1"/>
          </p:cNvSpPr>
          <p:nvPr/>
        </p:nvSpPr>
        <p:spPr>
          <a:xfrm xmlns:a="http://schemas.openxmlformats.org/drawingml/2006/main">
            <a:off x="9525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Field accuracy for both platforms</a:t>
            </a:r>
          </a:p>
        </p:txBody>
      </p:sp>
      <p:sp>
        <p:nvSpPr>
          <p:cNvPr id="7" name="">
            <a:extLst xmlns:a="http://schemas.openxmlformats.org/drawingml/2006/main">
              <a:ext uri="{FF2B5EF4-FFF2-40B4-BE49-F238E27FC236}">
                <a16:creationId xmlns:a16="http://schemas.microsoft.com/office/drawing/2014/main" id="{7AD1A3E2-DEAA-4216-A736-8C3C19A3F943}"/>
              </a:ext>
            </a:extLst>
          </p:cNvPr>
          <p:cNvSpPr>
            <a:spLocks xmlns:a="http://schemas.openxmlformats.org/drawingml/2006/main" noGrp="1"/>
          </p:cNvSpPr>
          <p:nvPr/>
        </p:nvSpPr>
        <p:spPr>
          <a:xfrm xmlns:a="http://schemas.openxmlformats.org/drawingml/2006/main">
            <a:off x="34861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8" name="">
            <a:extLst xmlns:a="http://schemas.openxmlformats.org/drawingml/2006/main">
              <a:ext uri="{FF2B5EF4-FFF2-40B4-BE49-F238E27FC236}">
                <a16:creationId xmlns:a16="http://schemas.microsoft.com/office/drawing/2014/main" id="{0A16843E-A5AC-42F1-91A9-87D417083A28}"/>
              </a:ext>
            </a:extLst>
          </p:cNvPr>
          <p:cNvSpPr>
            <a:spLocks xmlns:a="http://schemas.openxmlformats.org/drawingml/2006/main" noGrp="1"/>
          </p:cNvSpPr>
          <p:nvPr/>
        </p:nvSpPr>
        <p:spPr>
          <a:xfrm xmlns:a="http://schemas.openxmlformats.org/drawingml/2006/main">
            <a:off x="36576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970 ms</a:t>
            </a:r>
          </a:p>
        </p:txBody>
      </p:sp>
      <p:sp>
        <p:nvSpPr>
          <p:cNvPr id="9" name="">
            <a:extLst xmlns:a="http://schemas.openxmlformats.org/drawingml/2006/main">
              <a:ext uri="{FF2B5EF4-FFF2-40B4-BE49-F238E27FC236}">
                <a16:creationId xmlns:a16="http://schemas.microsoft.com/office/drawing/2014/main" id="{D9AC0188-31A4-4282-BC75-11D90A990139}"/>
              </a:ext>
            </a:extLst>
          </p:cNvPr>
          <p:cNvSpPr>
            <a:spLocks xmlns:a="http://schemas.openxmlformats.org/drawingml/2006/main" noGrp="1"/>
          </p:cNvSpPr>
          <p:nvPr/>
        </p:nvSpPr>
        <p:spPr>
          <a:xfrm xmlns:a="http://schemas.openxmlformats.org/drawingml/2006/main">
            <a:off x="36576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Jev average API latency</a:t>
            </a:r>
          </a:p>
        </p:txBody>
      </p:sp>
      <p:sp>
        <p:nvSpPr>
          <p:cNvPr id="10" name="">
            <a:extLst xmlns:a="http://schemas.openxmlformats.org/drawingml/2006/main">
              <a:ext uri="{FF2B5EF4-FFF2-40B4-BE49-F238E27FC236}">
                <a16:creationId xmlns:a16="http://schemas.microsoft.com/office/drawing/2014/main" id="{3F56BE4A-1FA6-4E79-BE8A-3EB433D5FD06}"/>
              </a:ext>
            </a:extLst>
          </p:cNvPr>
          <p:cNvSpPr>
            <a:spLocks xmlns:a="http://schemas.openxmlformats.org/drawingml/2006/main" noGrp="1"/>
          </p:cNvSpPr>
          <p:nvPr/>
        </p:nvSpPr>
        <p:spPr>
          <a:xfrm xmlns:a="http://schemas.openxmlformats.org/drawingml/2006/main">
            <a:off x="61912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11" name="">
            <a:extLst xmlns:a="http://schemas.openxmlformats.org/drawingml/2006/main">
              <a:ext uri="{FF2B5EF4-FFF2-40B4-BE49-F238E27FC236}">
                <a16:creationId xmlns:a16="http://schemas.microsoft.com/office/drawing/2014/main" id="{882BBBC3-F698-4DE4-9390-5FCAC46EAE9B}"/>
              </a:ext>
            </a:extLst>
          </p:cNvPr>
          <p:cNvSpPr>
            <a:spLocks xmlns:a="http://schemas.openxmlformats.org/drawingml/2006/main" noGrp="1"/>
          </p:cNvSpPr>
          <p:nvPr/>
        </p:nvSpPr>
        <p:spPr>
          <a:xfrm xmlns:a="http://schemas.openxmlformats.org/drawingml/2006/main">
            <a:off x="63627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4,741 ms</a:t>
            </a:r>
          </a:p>
        </p:txBody>
      </p:sp>
      <p:sp>
        <p:nvSpPr>
          <p:cNvPr id="12" name="">
            <a:extLst xmlns:a="http://schemas.openxmlformats.org/drawingml/2006/main">
              <a:ext uri="{FF2B5EF4-FFF2-40B4-BE49-F238E27FC236}">
                <a16:creationId xmlns:a16="http://schemas.microsoft.com/office/drawing/2014/main" id="{566508F1-C938-4A2B-B71C-4B4C00A8B2D8}"/>
              </a:ext>
            </a:extLst>
          </p:cNvPr>
          <p:cNvSpPr>
            <a:spLocks xmlns:a="http://schemas.openxmlformats.org/drawingml/2006/main" noGrp="1"/>
          </p:cNvSpPr>
          <p:nvPr/>
        </p:nvSpPr>
        <p:spPr>
          <a:xfrm xmlns:a="http://schemas.openxmlformats.org/drawingml/2006/main">
            <a:off x="63627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Claude average API latency</a:t>
            </a:r>
          </a:p>
        </p:txBody>
      </p:sp>
      <p:sp>
        <p:nvSpPr>
          <p:cNvPr id="13" name="">
            <a:extLst xmlns:a="http://schemas.openxmlformats.org/drawingml/2006/main">
              <a:ext uri="{FF2B5EF4-FFF2-40B4-BE49-F238E27FC236}">
                <a16:creationId xmlns:a16="http://schemas.microsoft.com/office/drawing/2014/main" id="{860C7FD6-9268-43FA-96C0-BA0AF972A513}"/>
              </a:ext>
            </a:extLst>
          </p:cNvPr>
          <p:cNvSpPr>
            <a:spLocks xmlns:a="http://schemas.openxmlformats.org/drawingml/2006/main" noGrp="1"/>
          </p:cNvSpPr>
          <p:nvPr/>
        </p:nvSpPr>
        <p:spPr>
          <a:xfrm xmlns:a="http://schemas.openxmlformats.org/drawingml/2006/main">
            <a:off x="8896350" y="16002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DEE8"/>
            </a:solidFill>
            <a:prstDash val="solid"/>
          </a:ln>
        </p:spPr>
      </p:sp>
      <p:sp>
        <p:nvSpPr>
          <p:cNvPr id="14" name="">
            <a:extLst xmlns:a="http://schemas.openxmlformats.org/drawingml/2006/main">
              <a:ext uri="{FF2B5EF4-FFF2-40B4-BE49-F238E27FC236}">
                <a16:creationId xmlns:a16="http://schemas.microsoft.com/office/drawing/2014/main" id="{E71FA481-7A55-4E11-BF5C-D1CDD9C55498}"/>
              </a:ext>
            </a:extLst>
          </p:cNvPr>
          <p:cNvSpPr>
            <a:spLocks xmlns:a="http://schemas.openxmlformats.org/drawingml/2006/main" noGrp="1"/>
          </p:cNvSpPr>
          <p:nvPr/>
        </p:nvSpPr>
        <p:spPr>
          <a:xfrm xmlns:a="http://schemas.openxmlformats.org/drawingml/2006/main">
            <a:off x="9067800" y="1771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02033"/>
                </a:solidFill>
                <a:latin typeface="Arial"/>
                <a:ea typeface="Arial"/>
                <a:cs typeface="Arial"/>
              </a:defRPr>
            </a:pPr>
            <a:r>
              <a:rPr sz="2100" b="1">
                <a:solidFill>
                  <a:srgbClr val="102033"/>
                </a:solidFill>
                <a:latin typeface="Arial"/>
                <a:ea typeface="Arial"/>
                <a:cs typeface="Arial"/>
              </a:rPr>
              <a:t>$0.00002072</a:t>
            </a:r>
          </a:p>
        </p:txBody>
      </p:sp>
      <p:sp>
        <p:nvSpPr>
          <p:cNvPr id="15" name="">
            <a:extLst xmlns:a="http://schemas.openxmlformats.org/drawingml/2006/main">
              <a:ext uri="{FF2B5EF4-FFF2-40B4-BE49-F238E27FC236}">
                <a16:creationId xmlns:a16="http://schemas.microsoft.com/office/drawing/2014/main" id="{A4D6530F-38DF-4CFC-8F10-DDD634F0351D}"/>
              </a:ext>
            </a:extLst>
          </p:cNvPr>
          <p:cNvSpPr>
            <a:spLocks xmlns:a="http://schemas.openxmlformats.org/drawingml/2006/main" noGrp="1"/>
          </p:cNvSpPr>
          <p:nvPr/>
        </p:nvSpPr>
        <p:spPr>
          <a:xfrm xmlns:a="http://schemas.openxmlformats.org/drawingml/2006/main">
            <a:off x="9067800" y="2190750"/>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657083"/>
                </a:solidFill>
                <a:latin typeface="Arial"/>
                <a:ea typeface="Arial"/>
                <a:cs typeface="Arial"/>
              </a:defRPr>
            </a:pPr>
            <a:r>
              <a:rPr sz="1125" b="0">
                <a:solidFill>
                  <a:srgbClr val="657083"/>
                </a:solidFill>
                <a:latin typeface="Arial"/>
                <a:ea typeface="Arial"/>
                <a:cs typeface="Arial"/>
              </a:rPr>
              <a:t>Jev estimated cost per run</a:t>
            </a:r>
          </a:p>
        </p:txBody>
      </p:sp>
      <p:graphicFrame>
        <p:nvGraphicFramePr>
          <p:cNvPr id="33" name=""/>
          <p:cNvGraphicFramePr/>
          <p:nvPr/>
        </p:nvGraphicFramePr>
        <p:xfrm>
          <a:off xmlns:a="http://schemas.openxmlformats.org/drawingml/2006/main" x="1047750" y="3143250"/>
          <a:ext xmlns:a="http://schemas.openxmlformats.org/drawingml/2006/main" cx="9334500" cy="2190750"/>
        </p:xfrm>
        <a:graphic xmlns:a="http://schemas.openxmlformats.org/drawingml/2006/main">
          <a:graphicData uri="http://schemas.openxmlformats.org/drawingml/2006/table">
            <a:tbl>
              <a:tblPr firstRow="1" bandRow="1"/>
              <a:tblGrid>
                <a:gridCol w="3111500"/>
                <a:gridCol w="3111500"/>
                <a:gridCol w="3111500"/>
              </a:tblGrid>
              <a:tr h="365125">
                <a:tc>
                  <a:txBody>
                    <a:bodyPr/>
                    <a:lstStyle/>
                    <a:p>
                      <a:r>
                        <a:t>Metric</a:t>
                      </a:r>
                    </a:p>
                  </a:txBody>
                  <a:tcPr marL="91440" marR="91440" marT="45720" marB="45720"/>
                </a:tc>
                <a:tc>
                  <a:txBody>
                    <a:bodyPr/>
                    <a:lstStyle/>
                    <a:p>
                      <a:r>
                        <a:t>Jev</a:t>
                      </a:r>
                    </a:p>
                  </a:txBody>
                  <a:tcPr marL="91440" marR="91440" marT="45720" marB="45720"/>
                </a:tc>
                <a:tc>
                  <a:txBody>
                    <a:bodyPr/>
                    <a:lstStyle/>
                    <a:p>
                      <a:r>
                        <a:t>Claude Sonnet 4.5</a:t>
                      </a:r>
                    </a:p>
                  </a:txBody>
                  <a:tcPr marL="91440" marR="91440" marT="45720" marB="45720"/>
                </a:tc>
              </a:tr>
              <a:tr h="365125">
                <a:tc>
                  <a:txBody>
                    <a:bodyPr/>
                    <a:lstStyle/>
                    <a:p>
                      <a:r>
                        <a:t>Field accuracy</a:t>
                      </a:r>
                    </a:p>
                  </a:txBody>
                  <a:tcPr marL="91440" marR="91440" marT="45720" marB="45720"/>
                </a:tc>
                <a:tc>
                  <a:txBody>
                    <a:bodyPr/>
                    <a:lstStyle/>
                    <a:p>
                      <a:r>
                        <a:t>9/9</a:t>
                      </a:r>
                    </a:p>
                  </a:txBody>
                  <a:tcPr marL="91440" marR="91440" marT="45720" marB="45720"/>
                </a:tc>
                <a:tc>
                  <a:txBody>
                    <a:bodyPr/>
                    <a:lstStyle/>
                    <a:p>
                      <a:r>
                        <a:t>9/9</a:t>
                      </a:r>
                    </a:p>
                  </a:txBody>
                  <a:tcPr marL="91440" marR="91440" marT="45720" marB="45720"/>
                </a:tc>
              </a:tr>
              <a:tr h="365125">
                <a:tc>
                  <a:txBody>
                    <a:bodyPr/>
                    <a:lstStyle/>
                    <a:p>
                      <a:r>
                        <a:t>Average API latency</a:t>
                      </a:r>
                    </a:p>
                  </a:txBody>
                  <a:tcPr marL="91440" marR="91440" marT="45720" marB="45720"/>
                </a:tc>
                <a:tc>
                  <a:txBody>
                    <a:bodyPr/>
                    <a:lstStyle/>
                    <a:p>
                      <a:r>
                        <a:t>970 ms</a:t>
                      </a:r>
                    </a:p>
                  </a:txBody>
                  <a:tcPr marL="91440" marR="91440" marT="45720" marB="45720"/>
                </a:tc>
                <a:tc>
                  <a:txBody>
                    <a:bodyPr/>
                    <a:lstStyle/>
                    <a:p>
                      <a:r>
                        <a:t>4,741 ms</a:t>
                      </a:r>
                    </a:p>
                  </a:txBody>
                  <a:tcPr marL="91440" marR="91440" marT="45720" marB="45720"/>
                </a:tc>
              </a:tr>
              <a:tr h="365125">
                <a:tc>
                  <a:txBody>
                    <a:bodyPr/>
                    <a:lstStyle/>
                    <a:p>
                      <a:r>
                        <a:t>Average total time</a:t>
                      </a:r>
                    </a:p>
                  </a:txBody>
                  <a:tcPr marL="91440" marR="91440" marT="45720" marB="45720"/>
                </a:tc>
                <a:tc>
                  <a:txBody>
                    <a:bodyPr/>
                    <a:lstStyle/>
                    <a:p>
                      <a:r>
                        <a:t>1,030 ms</a:t>
                      </a:r>
                    </a:p>
                  </a:txBody>
                  <a:tcPr marL="91440" marR="91440" marT="45720" marB="45720"/>
                </a:tc>
                <a:tc>
                  <a:txBody>
                    <a:bodyPr/>
                    <a:lstStyle/>
                    <a:p>
                      <a:r>
                        <a:t>5,001 ms</a:t>
                      </a:r>
                    </a:p>
                  </a:txBody>
                  <a:tcPr marL="91440" marR="91440" marT="45720" marB="45720"/>
                </a:tc>
              </a:tr>
              <a:tr h="365125">
                <a:tc>
                  <a:txBody>
                    <a:bodyPr/>
                    <a:lstStyle/>
                    <a:p>
                      <a:r>
                        <a:t>Average total tokens</a:t>
                      </a:r>
                    </a:p>
                  </a:txBody>
                  <a:tcPr marL="91440" marR="91440" marT="45720" marB="45720"/>
                </a:tc>
                <a:tc>
                  <a:txBody>
                    <a:bodyPr/>
                    <a:lstStyle/>
                    <a:p>
                      <a:r>
                        <a:t>579</a:t>
                      </a:r>
                    </a:p>
                  </a:txBody>
                  <a:tcPr marL="91440" marR="91440" marT="45720" marB="45720"/>
                </a:tc>
                <a:tc>
                  <a:txBody>
                    <a:bodyPr/>
                    <a:lstStyle/>
                    <a:p>
                      <a:r>
                        <a:t>1,260</a:t>
                      </a:r>
                    </a:p>
                  </a:txBody>
                  <a:tcPr marL="91440" marR="91440" marT="45720" marB="45720"/>
                </a:tc>
              </a:tr>
              <a:tr h="365125">
                <a:tc>
                  <a:txBody>
                    <a:bodyPr/>
                    <a:lstStyle/>
                    <a:p>
                      <a:r>
                        <a:t>Average estimated cost/run</a:t>
                      </a:r>
                    </a:p>
                  </a:txBody>
                  <a:tcPr marL="91440" marR="91440" marT="45720" marB="45720"/>
                </a:tc>
                <a:tc>
                  <a:txBody>
                    <a:bodyPr/>
                    <a:lstStyle/>
                    <a:p>
                      <a:r>
                        <a:t>$0.00002072</a:t>
                      </a:r>
                    </a:p>
                  </a:txBody>
                  <a:tcPr marL="91440" marR="91440" marT="45720" marB="45720"/>
                </a:tc>
                <a:tc>
                  <a:txBody>
                    <a:bodyPr/>
                    <a:lstStyle/>
                    <a:p>
                      <a:r>
                        <a:t>$0.00693110</a:t>
                      </a:r>
                    </a:p>
                  </a:txBody>
                  <a:tcPr marL="91440" marR="91440" marT="45720" marB="45720"/>
                </a:tc>
              </a:tr>
            </a:tbl>
          </a:graphicData>
        </a:graphic>
      </p:graphicFrame>
      <p:sp>
        <p:nvSpPr>
          <p:cNvPr id="17" name="">
            <a:extLst xmlns:a="http://schemas.openxmlformats.org/drawingml/2006/main">
              <a:ext uri="{FF2B5EF4-FFF2-40B4-BE49-F238E27FC236}">
                <a16:creationId xmlns:a16="http://schemas.microsoft.com/office/drawing/2014/main" id="{51EC7BD6-B491-499E-9DC5-A904358B6763}"/>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11</a:t>
            </a:r>
          </a:p>
        </p:txBody>
      </p:sp>
    </p:spTree>
    <p:extLst>
      <p:ext uri="{BB962C8B-B14F-4D97-AF65-F5344CB8AC3E}">
        <p14:creationId xmlns:p14="http://schemas.microsoft.com/office/powerpoint/2010/main" val="1865910152"/>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D8BA4F-2784-4D2F-B9E9-D519A7DBB2FE}"/>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A64F647F-E5B4-4A44-A61D-C4D7E176847C}"/>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Latency and cost profile</a:t>
            </a:r>
          </a:p>
        </p:txBody>
      </p:sp>
      <p:sp>
        <p:nvSpPr>
          <p:cNvPr id="3" name="">
            <a:extLst xmlns:a="http://schemas.openxmlformats.org/drawingml/2006/main">
              <a:ext uri="{FF2B5EF4-FFF2-40B4-BE49-F238E27FC236}">
                <a16:creationId xmlns:a16="http://schemas.microsoft.com/office/drawing/2014/main" id="{B1A7053F-143E-480C-B068-04C24A220DA7}"/>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1" name="Chart"/>
          <p:cNvGraphicFramePr/>
          <p:nvPr/>
        </p:nvGraphicFramePr>
        <p:xfrm>
          <a:off xmlns:a="http://schemas.openxmlformats.org/drawingml/2006/main" x="742950" y="1638300"/>
          <a:ext xmlns:a="http://schemas.openxmlformats.org/drawingml/2006/main" cx="4857750" cy="2952750"/>
        </p:xfrm>
        <a:graphic xmlns:a="http://schemas.openxmlformats.org/drawingml/2006/main">
          <a:graphicData uri="http://schemas.openxmlformats.org/drawingml/2006/chart">
            <c:chart xmlns:r="http://schemas.openxmlformats.org/officeDocument/2006/relationships" xmlns:c="http://schemas.openxmlformats.org/drawingml/2006/chart" r:id="Rcc2eed065a6044ac"/>
          </a:graphicData>
        </a:graphic>
      </p:graphicFrame>
      <p:graphicFrame>
        <p:nvGraphicFramePr>
          <p:cNvPr id="12" name="Chart"/>
          <p:cNvGraphicFramePr/>
          <p:nvPr/>
        </p:nvGraphicFramePr>
        <p:xfrm>
          <a:off xmlns:a="http://schemas.openxmlformats.org/drawingml/2006/main" x="6477000" y="1638300"/>
          <a:ext xmlns:a="http://schemas.openxmlformats.org/drawingml/2006/main" cx="4857750" cy="2952750"/>
        </p:xfrm>
        <a:graphic xmlns:a="http://schemas.openxmlformats.org/drawingml/2006/main">
          <a:graphicData uri="http://schemas.openxmlformats.org/drawingml/2006/chart">
            <c:chart xmlns:r="http://schemas.openxmlformats.org/officeDocument/2006/relationships" xmlns:c="http://schemas.openxmlformats.org/drawingml/2006/chart" r:id="R321d15ab61b346b3"/>
          </a:graphicData>
        </a:graphic>
      </p:graphicFrame>
      <p:sp>
        <p:nvSpPr>
          <p:cNvPr id="6" name="">
            <a:extLst xmlns:a="http://schemas.openxmlformats.org/drawingml/2006/main">
              <a:ext uri="{FF2B5EF4-FFF2-40B4-BE49-F238E27FC236}">
                <a16:creationId xmlns:a16="http://schemas.microsoft.com/office/drawing/2014/main" id="{32A1747D-6D63-4B88-9BBD-3E08D1CB24ED}"/>
              </a:ext>
            </a:extLst>
          </p:cNvPr>
          <p:cNvSpPr>
            <a:spLocks xmlns:a="http://schemas.openxmlformats.org/drawingml/2006/main" noGrp="1"/>
          </p:cNvSpPr>
          <p:nvPr/>
        </p:nvSpPr>
        <p:spPr>
          <a:xfrm xmlns:a="http://schemas.openxmlformats.org/drawingml/2006/main">
            <a:off x="914400" y="52197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033"/>
                </a:solidFill>
                <a:latin typeface="Arial"/>
                <a:ea typeface="Arial"/>
                <a:cs typeface="Arial"/>
              </a:defRPr>
            </a:pPr>
            <a:r>
              <a:rPr sz="1800" b="1">
                <a:solidFill>
                  <a:srgbClr val="102033"/>
                </a:solidFill>
                <a:latin typeface="Arial"/>
                <a:ea typeface="Arial"/>
                <a:cs typeface="Arial"/>
              </a:rPr>
              <a:t>In this sample, Jev delivered the same field accuracy with materially lower latency and estimated cost.</a:t>
            </a:r>
          </a:p>
        </p:txBody>
      </p:sp>
      <p:sp>
        <p:nvSpPr>
          <p:cNvPr id="7" name="">
            <a:extLst xmlns:a="http://schemas.openxmlformats.org/drawingml/2006/main">
              <a:ext uri="{FF2B5EF4-FFF2-40B4-BE49-F238E27FC236}">
                <a16:creationId xmlns:a16="http://schemas.microsoft.com/office/drawing/2014/main" id="{E1920461-61A2-4839-BB25-F834CCEE815D}"/>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12</a:t>
            </a:r>
          </a:p>
        </p:txBody>
      </p:sp>
    </p:spTree>
    <p:extLst>
      <p:ext uri="{BB962C8B-B14F-4D97-AF65-F5344CB8AC3E}">
        <p14:creationId xmlns:p14="http://schemas.microsoft.com/office/powerpoint/2010/main" val="1630210284"/>
      </p:ext>
    </p:extLst>
  </p:cSld>
</p:sld>
</file>

<file path=ppt/slides/slide1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78A678-7BB3-49EA-A4BF-C798456B408F}"/>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397ADA4A-1530-4060-A9B3-3A114DA7A9BD}"/>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Use case detail</a:t>
            </a:r>
          </a:p>
        </p:txBody>
      </p:sp>
      <p:sp>
        <p:nvSpPr>
          <p:cNvPr id="3" name="">
            <a:extLst xmlns:a="http://schemas.openxmlformats.org/drawingml/2006/main">
              <a:ext uri="{FF2B5EF4-FFF2-40B4-BE49-F238E27FC236}">
                <a16:creationId xmlns:a16="http://schemas.microsoft.com/office/drawing/2014/main" id="{849BB5DE-48E2-4BF5-BCA9-0F9BA88404AD}"/>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10" name=""/>
          <p:cNvGraphicFramePr/>
          <p:nvPr/>
        </p:nvGraphicFramePr>
        <p:xfrm>
          <a:off xmlns:a="http://schemas.openxmlformats.org/drawingml/2006/main" x="619125" y="1543050"/>
          <a:ext xmlns:a="http://schemas.openxmlformats.org/drawingml/2006/main" cx="10953750" cy="3562350"/>
        </p:xfrm>
        <a:graphic xmlns:a="http://schemas.openxmlformats.org/drawingml/2006/main">
          <a:graphicData uri="http://schemas.openxmlformats.org/drawingml/2006/table">
            <a:tbl>
              <a:tblPr firstRow="1" bandRow="1"/>
              <a:tblGrid>
                <a:gridCol w="723900"/>
                <a:gridCol w="2306731"/>
                <a:gridCol w="2306731"/>
                <a:gridCol w="1805268"/>
                <a:gridCol w="3811121"/>
              </a:tblGrid>
              <a:tr h="890588">
                <a:tc>
                  <a:txBody>
                    <a:bodyPr/>
                    <a:lstStyle/>
                    <a:p>
                      <a:r>
                        <a:t>Case</a:t>
                      </a:r>
                    </a:p>
                  </a:txBody>
                  <a:tcPr marL="91440" marR="91440" marT="45720" marB="45720"/>
                </a:tc>
                <a:tc>
                  <a:txBody>
                    <a:bodyPr/>
                    <a:lstStyle/>
                    <a:p>
                      <a:r>
                        <a:t>Jev route/conf</a:t>
                      </a:r>
                    </a:p>
                  </a:txBody>
                  <a:tcPr marL="91440" marR="91440" marT="45720" marB="45720"/>
                </a:tc>
                <a:tc>
                  <a:txBody>
                    <a:bodyPr/>
                    <a:lstStyle/>
                    <a:p>
                      <a:r>
                        <a:t>Claude route/conf</a:t>
                      </a:r>
                    </a:p>
                  </a:txBody>
                  <a:tcPr marL="91440" marR="91440" marT="45720" marB="45720"/>
                </a:tc>
                <a:tc>
                  <a:txBody>
                    <a:bodyPr/>
                    <a:lstStyle/>
                    <a:p>
                      <a:r>
                        <a:t>Urgency</a:t>
                      </a:r>
                    </a:p>
                  </a:txBody>
                  <a:tcPr marL="91440" marR="91440" marT="45720" marB="45720"/>
                </a:tc>
                <a:tc>
                  <a:txBody>
                    <a:bodyPr/>
                    <a:lstStyle/>
                    <a:p>
                      <a:r>
                        <a:t>Takeaway</a:t>
                      </a:r>
                    </a:p>
                  </a:txBody>
                  <a:tcPr marL="91440" marR="91440" marT="45720" marB="45720"/>
                </a:tc>
              </a:tr>
              <a:tr h="890588">
                <a:tc>
                  <a:txBody>
                    <a:bodyPr/>
                    <a:lstStyle/>
                    <a:p>
                      <a:r>
                        <a:t>UC1</a:t>
                      </a:r>
                    </a:p>
                  </a:txBody>
                  <a:tcPr marL="91440" marR="91440" marT="45720" marB="45720"/>
                </a:tc>
                <a:tc>
                  <a:txBody>
                    <a:bodyPr/>
                    <a:lstStyle/>
                    <a:p>
                      <a:r>
                        <a:t>Technical / 45%</a:t>
                      </a:r>
                    </a:p>
                  </a:txBody>
                  <a:tcPr marL="91440" marR="91440" marT="45720" marB="45720"/>
                </a:tc>
                <a:tc>
                  <a:txBody>
                    <a:bodyPr/>
                    <a:lstStyle/>
                    <a:p>
                      <a:r>
                        <a:t>Technical / 95%</a:t>
                      </a:r>
                    </a:p>
                  </a:txBody>
                  <a:tcPr marL="91440" marR="91440" marT="45720" marB="45720"/>
                </a:tc>
                <a:tc>
                  <a:txBody>
                    <a:bodyPr/>
                    <a:lstStyle/>
                    <a:p>
                      <a:r>
                        <a:t>14% vs 30%</a:t>
                      </a:r>
                    </a:p>
                  </a:txBody>
                  <a:tcPr marL="91440" marR="91440" marT="45720" marB="45720"/>
                </a:tc>
                <a:tc>
                  <a:txBody>
                    <a:bodyPr/>
                    <a:lstStyle/>
                    <a:p>
                      <a:r>
                        <a:t>Both correct. Jev exposed route ambiguity.</a:t>
                      </a:r>
                    </a:p>
                  </a:txBody>
                  <a:tcPr marL="91440" marR="91440" marT="45720" marB="45720"/>
                </a:tc>
              </a:tr>
              <a:tr h="890588">
                <a:tc>
                  <a:txBody>
                    <a:bodyPr/>
                    <a:lstStyle/>
                    <a:p>
                      <a:r>
                        <a:t>UC2</a:t>
                      </a:r>
                    </a:p>
                  </a:txBody>
                  <a:tcPr marL="91440" marR="91440" marT="45720" marB="45720"/>
                </a:tc>
                <a:tc>
                  <a:txBody>
                    <a:bodyPr/>
                    <a:lstStyle/>
                    <a:p>
                      <a:r>
                        <a:t>Other / 76%</a:t>
                      </a:r>
                    </a:p>
                  </a:txBody>
                  <a:tcPr marL="91440" marR="91440" marT="45720" marB="45720"/>
                </a:tc>
                <a:tc>
                  <a:txBody>
                    <a:bodyPr/>
                    <a:lstStyle/>
                    <a:p>
                      <a:r>
                        <a:t>Other / 95%</a:t>
                      </a:r>
                    </a:p>
                  </a:txBody>
                  <a:tcPr marL="91440" marR="91440" marT="45720" marB="45720"/>
                </a:tc>
                <a:tc>
                  <a:txBody>
                    <a:bodyPr/>
                    <a:lstStyle/>
                    <a:p>
                      <a:r>
                        <a:t>2% vs 5%</a:t>
                      </a:r>
                    </a:p>
                  </a:txBody>
                  <a:tcPr marL="91440" marR="91440" marT="45720" marB="45720"/>
                </a:tc>
                <a:tc>
                  <a:txBody>
                    <a:bodyPr/>
                    <a:lstStyle/>
                    <a:p>
                      <a:r>
                        <a:t>Both treated it as informational.</a:t>
                      </a:r>
                    </a:p>
                  </a:txBody>
                  <a:tcPr marL="91440" marR="91440" marT="45720" marB="45720"/>
                </a:tc>
              </a:tr>
              <a:tr h="890588">
                <a:tc>
                  <a:txBody>
                    <a:bodyPr/>
                    <a:lstStyle/>
                    <a:p>
                      <a:r>
                        <a:t>UC3</a:t>
                      </a:r>
                    </a:p>
                  </a:txBody>
                  <a:tcPr marL="91440" marR="91440" marT="45720" marB="45720"/>
                </a:tc>
                <a:tc>
                  <a:txBody>
                    <a:bodyPr/>
                    <a:lstStyle/>
                    <a:p>
                      <a:r>
                        <a:t>Technical / 64%</a:t>
                      </a:r>
                    </a:p>
                  </a:txBody>
                  <a:tcPr marL="91440" marR="91440" marT="45720" marB="45720"/>
                </a:tc>
                <a:tc>
                  <a:txBody>
                    <a:bodyPr/>
                    <a:lstStyle/>
                    <a:p>
                      <a:r>
                        <a:t>Technical / 95%</a:t>
                      </a:r>
                    </a:p>
                  </a:txBody>
                  <a:tcPr marL="91440" marR="91440" marT="45720" marB="45720"/>
                </a:tc>
                <a:tc>
                  <a:txBody>
                    <a:bodyPr/>
                    <a:lstStyle/>
                    <a:p>
                      <a:r>
                        <a:t>96% vs 99%</a:t>
                      </a:r>
                    </a:p>
                  </a:txBody>
                  <a:tcPr marL="91440" marR="91440" marT="45720" marB="45720"/>
                </a:tc>
                <a:tc>
                  <a:txBody>
                    <a:bodyPr/>
                    <a:lstStyle/>
                    <a:p>
                      <a:r>
                        <a:t>Both detected production outage urgency.</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A767E30D-9E53-4E5A-BFC0-9306BA6BEB01}"/>
              </a:ext>
            </a:extLst>
          </p:cNvPr>
          <p:cNvSpPr>
            <a:spLocks xmlns:a="http://schemas.openxmlformats.org/drawingml/2006/main" noGrp="1"/>
          </p:cNvSpPr>
          <p:nvPr/>
        </p:nvSpPr>
        <p:spPr>
          <a:xfrm xmlns:a="http://schemas.openxmlformats.org/drawingml/2006/main">
            <a:off x="857250" y="5295900"/>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02033"/>
                </a:solidFill>
                <a:latin typeface="Arial"/>
                <a:ea typeface="Arial"/>
                <a:cs typeface="Arial"/>
              </a:defRPr>
            </a:pPr>
            <a:r>
              <a:rPr sz="1500" b="1">
                <a:solidFill>
                  <a:srgbClr val="102033"/>
                </a:solidFill>
                <a:latin typeface="Arial"/>
                <a:ea typeface="Arial"/>
                <a:cs typeface="Arial"/>
              </a:rPr>
              <a:t>Lower route confidence is useful when the policy is to escalate ambiguous decisions instead of forcing a route.</a:t>
            </a:r>
          </a:p>
        </p:txBody>
      </p:sp>
      <p:sp>
        <p:nvSpPr>
          <p:cNvPr id="6" name="">
            <a:extLst xmlns:a="http://schemas.openxmlformats.org/drawingml/2006/main">
              <a:ext uri="{FF2B5EF4-FFF2-40B4-BE49-F238E27FC236}">
                <a16:creationId xmlns:a16="http://schemas.microsoft.com/office/drawing/2014/main" id="{4BC19F13-A66B-4523-8924-08EB870E6F69}"/>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13</a:t>
            </a:r>
          </a:p>
        </p:txBody>
      </p:sp>
    </p:spTree>
    <p:extLst>
      <p:ext uri="{BB962C8B-B14F-4D97-AF65-F5344CB8AC3E}">
        <p14:creationId xmlns:p14="http://schemas.microsoft.com/office/powerpoint/2010/main" val="1390595001"/>
      </p:ext>
    </p:extLst>
  </p:cSld>
</p:sld>
</file>

<file path=ppt/slides/slide1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82468E8-A8E9-433C-982E-C3EDF65F860D}"/>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8E7C71C3-212B-4ABF-B78F-660041F6AC71}"/>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Confidence and scores</a:t>
            </a:r>
          </a:p>
        </p:txBody>
      </p:sp>
      <p:sp>
        <p:nvSpPr>
          <p:cNvPr id="3" name="">
            <a:extLst xmlns:a="http://schemas.openxmlformats.org/drawingml/2006/main">
              <a:ext uri="{FF2B5EF4-FFF2-40B4-BE49-F238E27FC236}">
                <a16:creationId xmlns:a16="http://schemas.microsoft.com/office/drawing/2014/main" id="{A473A475-CA95-4DC1-B80D-639BDADC50D7}"/>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22FA4BDB-BA74-4BCD-9730-35D07808E97C}"/>
              </a:ext>
            </a:extLst>
          </p:cNvPr>
          <p:cNvSpPr>
            <a:spLocks xmlns:a="http://schemas.openxmlformats.org/drawingml/2006/main" noGrp="1"/>
          </p:cNvSpPr>
          <p:nvPr/>
        </p:nvSpPr>
        <p:spPr>
          <a:xfrm xmlns:a="http://schemas.openxmlformats.org/drawingml/2006/main">
            <a:off x="819150" y="15811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Returned by model or platform</a:t>
            </a:r>
          </a:p>
        </p:txBody>
      </p:sp>
      <p:sp>
        <p:nvSpPr>
          <p:cNvPr id="5" name="">
            <a:extLst xmlns:a="http://schemas.openxmlformats.org/drawingml/2006/main">
              <a:ext uri="{FF2B5EF4-FFF2-40B4-BE49-F238E27FC236}">
                <a16:creationId xmlns:a16="http://schemas.microsoft.com/office/drawing/2014/main" id="{472BDC30-1B97-4843-A658-596B61EE7C5D}"/>
              </a:ext>
            </a:extLst>
          </p:cNvPr>
          <p:cNvSpPr>
            <a:spLocks xmlns:a="http://schemas.openxmlformats.org/drawingml/2006/main" noGrp="1"/>
          </p:cNvSpPr>
          <p:nvPr/>
        </p:nvSpPr>
        <p:spPr>
          <a:xfrm xmlns:a="http://schemas.openxmlformats.org/drawingml/2006/main">
            <a:off x="876300" y="22288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43CA5E-D1AE-4F3F-85A0-087C275175D3}"/>
              </a:ext>
            </a:extLst>
          </p:cNvPr>
          <p:cNvSpPr>
            <a:spLocks xmlns:a="http://schemas.openxmlformats.org/drawingml/2006/main" noGrp="1"/>
          </p:cNvSpPr>
          <p:nvPr/>
        </p:nvSpPr>
        <p:spPr>
          <a:xfrm xmlns:a="http://schemas.openxmlformats.org/drawingml/2006/main">
            <a:off x="1085850" y="2152650"/>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Jev returns typed probabilities, choices and route confidence.</a:t>
            </a:r>
          </a:p>
        </p:txBody>
      </p:sp>
      <p:sp>
        <p:nvSpPr>
          <p:cNvPr id="7" name="">
            <a:extLst xmlns:a="http://schemas.openxmlformats.org/drawingml/2006/main">
              <a:ext uri="{FF2B5EF4-FFF2-40B4-BE49-F238E27FC236}">
                <a16:creationId xmlns:a16="http://schemas.microsoft.com/office/drawing/2014/main" id="{C7D75908-5ECE-426F-9EA9-BD8724B27169}"/>
              </a:ext>
            </a:extLst>
          </p:cNvPr>
          <p:cNvSpPr>
            <a:spLocks xmlns:a="http://schemas.openxmlformats.org/drawingml/2006/main" noGrp="1"/>
          </p:cNvSpPr>
          <p:nvPr/>
        </p:nvSpPr>
        <p:spPr>
          <a:xfrm xmlns:a="http://schemas.openxmlformats.org/drawingml/2006/main">
            <a:off x="876300" y="26860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6B1D41-25CE-4381-897E-74F46973D63D}"/>
              </a:ext>
            </a:extLst>
          </p:cNvPr>
          <p:cNvSpPr>
            <a:spLocks xmlns:a="http://schemas.openxmlformats.org/drawingml/2006/main" noGrp="1"/>
          </p:cNvSpPr>
          <p:nvPr/>
        </p:nvSpPr>
        <p:spPr>
          <a:xfrm xmlns:a="http://schemas.openxmlformats.org/drawingml/2006/main">
            <a:off x="1085850" y="2609850"/>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Claude returns scores because the Bedrock tool schema asks for them.</a:t>
            </a:r>
          </a:p>
        </p:txBody>
      </p:sp>
      <p:sp>
        <p:nvSpPr>
          <p:cNvPr id="9" name="">
            <a:extLst xmlns:a="http://schemas.openxmlformats.org/drawingml/2006/main">
              <a:ext uri="{FF2B5EF4-FFF2-40B4-BE49-F238E27FC236}">
                <a16:creationId xmlns:a16="http://schemas.microsoft.com/office/drawing/2014/main" id="{73D9D666-4242-4AA6-B247-A9FFD434DF08}"/>
              </a:ext>
            </a:extLst>
          </p:cNvPr>
          <p:cNvSpPr>
            <a:spLocks xmlns:a="http://schemas.openxmlformats.org/drawingml/2006/main" noGrp="1"/>
          </p:cNvSpPr>
          <p:nvPr/>
        </p:nvSpPr>
        <p:spPr>
          <a:xfrm xmlns:a="http://schemas.openxmlformats.org/drawingml/2006/main">
            <a:off x="876300" y="3143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507B32-E24F-4516-968F-8D92854F7CB6}"/>
              </a:ext>
            </a:extLst>
          </p:cNvPr>
          <p:cNvSpPr>
            <a:spLocks xmlns:a="http://schemas.openxmlformats.org/drawingml/2006/main" noGrp="1"/>
          </p:cNvSpPr>
          <p:nvPr/>
        </p:nvSpPr>
        <p:spPr>
          <a:xfrm xmlns:a="http://schemas.openxmlformats.org/drawingml/2006/main">
            <a:off x="1085850" y="3067050"/>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Bedrock returns token usage; Jev returns token usage in its API response.</a:t>
            </a:r>
          </a:p>
        </p:txBody>
      </p:sp>
      <p:sp>
        <p:nvSpPr>
          <p:cNvPr id="11" name="">
            <a:extLst xmlns:a="http://schemas.openxmlformats.org/drawingml/2006/main">
              <a:ext uri="{FF2B5EF4-FFF2-40B4-BE49-F238E27FC236}">
                <a16:creationId xmlns:a16="http://schemas.microsoft.com/office/drawing/2014/main" id="{D7B359AD-1168-4EA8-83BD-3D22AC646433}"/>
              </a:ext>
            </a:extLst>
          </p:cNvPr>
          <p:cNvSpPr>
            <a:spLocks xmlns:a="http://schemas.openxmlformats.org/drawingml/2006/main" noGrp="1"/>
          </p:cNvSpPr>
          <p:nvPr/>
        </p:nvSpPr>
        <p:spPr>
          <a:xfrm xmlns:a="http://schemas.openxmlformats.org/drawingml/2006/main">
            <a:off x="6705600" y="15811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4768FF"/>
                </a:solidFill>
                <a:latin typeface="Arial"/>
                <a:ea typeface="Arial"/>
                <a:cs typeface="Arial"/>
              </a:defRPr>
            </a:pPr>
            <a:r>
              <a:rPr sz="1875" b="1">
                <a:solidFill>
                  <a:srgbClr val="4768FF"/>
                </a:solidFill>
                <a:latin typeface="Arial"/>
                <a:ea typeface="Arial"/>
                <a:cs typeface="Arial"/>
              </a:rPr>
              <a:t>Calculated by the UI</a:t>
            </a:r>
          </a:p>
        </p:txBody>
      </p:sp>
      <p:sp>
        <p:nvSpPr>
          <p:cNvPr id="12" name="">
            <a:extLst xmlns:a="http://schemas.openxmlformats.org/drawingml/2006/main">
              <a:ext uri="{FF2B5EF4-FFF2-40B4-BE49-F238E27FC236}">
                <a16:creationId xmlns:a16="http://schemas.microsoft.com/office/drawing/2014/main" id="{AD95C933-459C-4E0F-9ED6-33682E74BF14}"/>
              </a:ext>
            </a:extLst>
          </p:cNvPr>
          <p:cNvSpPr>
            <a:spLocks xmlns:a="http://schemas.openxmlformats.org/drawingml/2006/main" noGrp="1"/>
          </p:cNvSpPr>
          <p:nvPr/>
        </p:nvSpPr>
        <p:spPr>
          <a:xfrm xmlns:a="http://schemas.openxmlformats.org/drawingml/2006/main">
            <a:off x="6762750" y="22288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1FFE1D-5CAD-4834-8BF2-DBAD57343778}"/>
              </a:ext>
            </a:extLst>
          </p:cNvPr>
          <p:cNvSpPr>
            <a:spLocks xmlns:a="http://schemas.openxmlformats.org/drawingml/2006/main" noGrp="1"/>
          </p:cNvSpPr>
          <p:nvPr/>
        </p:nvSpPr>
        <p:spPr>
          <a:xfrm xmlns:a="http://schemas.openxmlformats.org/drawingml/2006/main">
            <a:off x="6972300" y="2152650"/>
            <a:ext cx="4171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Yes/no result from probability threshold.</a:t>
            </a:r>
          </a:p>
        </p:txBody>
      </p:sp>
      <p:sp>
        <p:nvSpPr>
          <p:cNvPr id="14" name="">
            <a:extLst xmlns:a="http://schemas.openxmlformats.org/drawingml/2006/main">
              <a:ext uri="{FF2B5EF4-FFF2-40B4-BE49-F238E27FC236}">
                <a16:creationId xmlns:a16="http://schemas.microsoft.com/office/drawing/2014/main" id="{EC1F8087-5FA7-4893-A350-A1A3849D1F91}"/>
              </a:ext>
            </a:extLst>
          </p:cNvPr>
          <p:cNvSpPr>
            <a:spLocks xmlns:a="http://schemas.openxmlformats.org/drawingml/2006/main" noGrp="1"/>
          </p:cNvSpPr>
          <p:nvPr/>
        </p:nvSpPr>
        <p:spPr>
          <a:xfrm xmlns:a="http://schemas.openxmlformats.org/drawingml/2006/main">
            <a:off x="6762750" y="26860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17AC64B-AD10-42B0-9C6E-D6496FF42BE1}"/>
              </a:ext>
            </a:extLst>
          </p:cNvPr>
          <p:cNvSpPr>
            <a:spLocks xmlns:a="http://schemas.openxmlformats.org/drawingml/2006/main" noGrp="1"/>
          </p:cNvSpPr>
          <p:nvPr/>
        </p:nvSpPr>
        <p:spPr>
          <a:xfrm xmlns:a="http://schemas.openxmlformats.org/drawingml/2006/main">
            <a:off x="6972300" y="2609850"/>
            <a:ext cx="4171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Binary confidence as distance from 50/50.</a:t>
            </a:r>
          </a:p>
        </p:txBody>
      </p:sp>
      <p:sp>
        <p:nvSpPr>
          <p:cNvPr id="16" name="">
            <a:extLst xmlns:a="http://schemas.openxmlformats.org/drawingml/2006/main">
              <a:ext uri="{FF2B5EF4-FFF2-40B4-BE49-F238E27FC236}">
                <a16:creationId xmlns:a16="http://schemas.microsoft.com/office/drawing/2014/main" id="{E13AC3D0-680E-4A15-88D1-2AAB827D9200}"/>
              </a:ext>
            </a:extLst>
          </p:cNvPr>
          <p:cNvSpPr>
            <a:spLocks xmlns:a="http://schemas.openxmlformats.org/drawingml/2006/main" noGrp="1"/>
          </p:cNvSpPr>
          <p:nvPr/>
        </p:nvSpPr>
        <p:spPr>
          <a:xfrm xmlns:a="http://schemas.openxmlformats.org/drawingml/2006/main">
            <a:off x="6762750" y="31432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E68616-6A18-4466-B4B3-D36E6FA11009}"/>
              </a:ext>
            </a:extLst>
          </p:cNvPr>
          <p:cNvSpPr>
            <a:spLocks xmlns:a="http://schemas.openxmlformats.org/drawingml/2006/main" noGrp="1"/>
          </p:cNvSpPr>
          <p:nvPr/>
        </p:nvSpPr>
        <p:spPr>
          <a:xfrm xmlns:a="http://schemas.openxmlformats.org/drawingml/2006/main">
            <a:off x="6972300" y="3067050"/>
            <a:ext cx="4171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Estimated cost from token usage and configured price.</a:t>
            </a:r>
          </a:p>
        </p:txBody>
      </p:sp>
      <p:sp>
        <p:nvSpPr>
          <p:cNvPr id="18" name="">
            <a:extLst xmlns:a="http://schemas.openxmlformats.org/drawingml/2006/main">
              <a:ext uri="{FF2B5EF4-FFF2-40B4-BE49-F238E27FC236}">
                <a16:creationId xmlns:a16="http://schemas.microsoft.com/office/drawing/2014/main" id="{2DC8CF49-DF8E-412B-A1C6-B7205D080565}"/>
              </a:ext>
            </a:extLst>
          </p:cNvPr>
          <p:cNvSpPr>
            <a:spLocks xmlns:a="http://schemas.openxmlformats.org/drawingml/2006/main" noGrp="1"/>
          </p:cNvSpPr>
          <p:nvPr/>
        </p:nvSpPr>
        <p:spPr>
          <a:xfrm xmlns:a="http://schemas.openxmlformats.org/drawingml/2006/main">
            <a:off x="2857500" y="4838700"/>
            <a:ext cx="6477000" cy="6667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EE8"/>
            </a:solidFill>
            <a:prstDash val="solid"/>
          </a:ln>
        </p:spPr>
      </p:sp>
      <p:sp>
        <p:nvSpPr>
          <p:cNvPr id="19" name="">
            <a:extLst xmlns:a="http://schemas.openxmlformats.org/drawingml/2006/main">
              <a:ext uri="{FF2B5EF4-FFF2-40B4-BE49-F238E27FC236}">
                <a16:creationId xmlns:a16="http://schemas.microsoft.com/office/drawing/2014/main" id="{55BB97B3-8762-4C6D-A686-EB270D8CB449}"/>
              </a:ext>
            </a:extLst>
          </p:cNvPr>
          <p:cNvSpPr>
            <a:spLocks xmlns:a="http://schemas.openxmlformats.org/drawingml/2006/main" noGrp="1"/>
          </p:cNvSpPr>
          <p:nvPr/>
        </p:nvSpPr>
        <p:spPr>
          <a:xfrm xmlns:a="http://schemas.openxmlformats.org/drawingml/2006/main">
            <a:off x="3143250" y="50292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102033"/>
                </a:solidFill>
                <a:latin typeface="Arial"/>
                <a:ea typeface="Arial"/>
                <a:cs typeface="Arial"/>
              </a:defRPr>
            </a:pPr>
            <a:r>
              <a:rPr sz="1650" b="1">
                <a:solidFill>
                  <a:srgbClr val="102033"/>
                </a:solidFill>
                <a:latin typeface="Arial"/>
                <a:ea typeface="Arial"/>
                <a:cs typeface="Arial"/>
              </a:rPr>
              <a:t>Example: refund probability 2% becomes Result = No, Confidence = 96%</a:t>
            </a:r>
          </a:p>
        </p:txBody>
      </p:sp>
      <p:sp>
        <p:nvSpPr>
          <p:cNvPr id="20" name="">
            <a:extLst xmlns:a="http://schemas.openxmlformats.org/drawingml/2006/main">
              <a:ext uri="{FF2B5EF4-FFF2-40B4-BE49-F238E27FC236}">
                <a16:creationId xmlns:a16="http://schemas.microsoft.com/office/drawing/2014/main" id="{80D9849D-17C6-4809-BB65-3B363FEE1F7B}"/>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14</a:t>
            </a:r>
          </a:p>
        </p:txBody>
      </p:sp>
    </p:spTree>
    <p:extLst>
      <p:ext uri="{BB962C8B-B14F-4D97-AF65-F5344CB8AC3E}">
        <p14:creationId xmlns:p14="http://schemas.microsoft.com/office/powerpoint/2010/main" val="231648635"/>
      </p:ext>
    </p:extLst>
  </p:cSld>
</p:sld>
</file>

<file path=ppt/slides/slide1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EC714A-A5D3-46AE-AD6B-0211881833A8}"/>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CD8D2F6A-1FEE-4CC7-967C-9029CBF14380}"/>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Observed strengths</a:t>
            </a:r>
          </a:p>
        </p:txBody>
      </p:sp>
      <p:sp>
        <p:nvSpPr>
          <p:cNvPr id="3" name="">
            <a:extLst xmlns:a="http://schemas.openxmlformats.org/drawingml/2006/main">
              <a:ext uri="{FF2B5EF4-FFF2-40B4-BE49-F238E27FC236}">
                <a16:creationId xmlns:a16="http://schemas.microsoft.com/office/drawing/2014/main" id="{4FBB49BD-9304-442C-81D6-A68DBCD572F3}"/>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9" name=""/>
          <p:cNvGraphicFramePr/>
          <p:nvPr/>
        </p:nvGraphicFramePr>
        <p:xfrm>
          <a:off xmlns:a="http://schemas.openxmlformats.org/drawingml/2006/main" x="704850" y="1524000"/>
          <a:ext xmlns:a="http://schemas.openxmlformats.org/drawingml/2006/main" cx="10572750" cy="3619500"/>
        </p:xfrm>
        <a:graphic xmlns:a="http://schemas.openxmlformats.org/drawingml/2006/main">
          <a:graphicData uri="http://schemas.openxmlformats.org/drawingml/2006/table">
            <a:tbl>
              <a:tblPr firstRow="1" bandRow="1"/>
              <a:tblGrid>
                <a:gridCol w="3524250"/>
                <a:gridCol w="3524250"/>
                <a:gridCol w="3524250"/>
              </a:tblGrid>
              <a:tr h="603250">
                <a:tc>
                  <a:txBody>
                    <a:bodyPr/>
                    <a:lstStyle/>
                    <a:p>
                      <a:r>
                        <a:t>Area</a:t>
                      </a:r>
                    </a:p>
                  </a:txBody>
                  <a:tcPr marL="91440" marR="91440" marT="45720" marB="45720"/>
                </a:tc>
                <a:tc>
                  <a:txBody>
                    <a:bodyPr/>
                    <a:lstStyle/>
                    <a:p>
                      <a:r>
                        <a:t>Jev</a:t>
                      </a:r>
                    </a:p>
                  </a:txBody>
                  <a:tcPr marL="91440" marR="91440" marT="45720" marB="45720"/>
                </a:tc>
                <a:tc>
                  <a:txBody>
                    <a:bodyPr/>
                    <a:lstStyle/>
                    <a:p>
                      <a:r>
                        <a:t>Claude Sonnet 4.5</a:t>
                      </a:r>
                    </a:p>
                  </a:txBody>
                  <a:tcPr marL="91440" marR="91440" marT="45720" marB="45720"/>
                </a:tc>
              </a:tr>
              <a:tr h="603250">
                <a:tc>
                  <a:txBody>
                    <a:bodyPr/>
                    <a:lstStyle/>
                    <a:p>
                      <a:r>
                        <a:t>Decision speed</a:t>
                      </a:r>
                    </a:p>
                  </a:txBody>
                  <a:tcPr marL="91440" marR="91440" marT="45720" marB="45720"/>
                </a:tc>
                <a:tc>
                  <a:txBody>
                    <a:bodyPr/>
                    <a:lstStyle/>
                    <a:p>
                      <a:r>
                        <a:t>Lower latency in POC</a:t>
                      </a:r>
                    </a:p>
                  </a:txBody>
                  <a:tcPr marL="91440" marR="91440" marT="45720" marB="45720"/>
                </a:tc>
                <a:tc>
                  <a:txBody>
                    <a:bodyPr/>
                    <a:lstStyle/>
                    <a:p>
                      <a:r>
                        <a:t>Slower but still interactive</a:t>
                      </a:r>
                    </a:p>
                  </a:txBody>
                  <a:tcPr marL="91440" marR="91440" marT="45720" marB="45720"/>
                </a:tc>
              </a:tr>
              <a:tr h="603250">
                <a:tc>
                  <a:txBody>
                    <a:bodyPr/>
                    <a:lstStyle/>
                    <a:p>
                      <a:r>
                        <a:t>Decision cost</a:t>
                      </a:r>
                    </a:p>
                  </a:txBody>
                  <a:tcPr marL="91440" marR="91440" marT="45720" marB="45720"/>
                </a:tc>
                <a:tc>
                  <a:txBody>
                    <a:bodyPr/>
                    <a:lstStyle/>
                    <a:p>
                      <a:r>
                        <a:t>Much lower estimated cost</a:t>
                      </a:r>
                    </a:p>
                  </a:txBody>
                  <a:tcPr marL="91440" marR="91440" marT="45720" marB="45720"/>
                </a:tc>
                <a:tc>
                  <a:txBody>
                    <a:bodyPr/>
                    <a:lstStyle/>
                    <a:p>
                      <a:r>
                        <a:t>Higher cost due to token generation</a:t>
                      </a:r>
                    </a:p>
                  </a:txBody>
                  <a:tcPr marL="91440" marR="91440" marT="45720" marB="45720"/>
                </a:tc>
              </a:tr>
              <a:tr h="603250">
                <a:tc>
                  <a:txBody>
                    <a:bodyPr/>
                    <a:lstStyle/>
                    <a:p>
                      <a:r>
                        <a:t>Output shape</a:t>
                      </a:r>
                    </a:p>
                  </a:txBody>
                  <a:tcPr marL="91440" marR="91440" marT="45720" marB="45720"/>
                </a:tc>
                <a:tc>
                  <a:txBody>
                    <a:bodyPr/>
                    <a:lstStyle/>
                    <a:p>
                      <a:r>
                        <a:t>Native typed decisions</a:t>
                      </a:r>
                    </a:p>
                  </a:txBody>
                  <a:tcPr marL="91440" marR="91440" marT="45720" marB="45720"/>
                </a:tc>
                <a:tc>
                  <a:txBody>
                    <a:bodyPr/>
                    <a:lstStyle/>
                    <a:p>
                      <a:r>
                        <a:t>Structured through tool schema</a:t>
                      </a:r>
                    </a:p>
                  </a:txBody>
                  <a:tcPr marL="91440" marR="91440" marT="45720" marB="45720"/>
                </a:tc>
              </a:tr>
              <a:tr h="603250">
                <a:tc>
                  <a:txBody>
                    <a:bodyPr/>
                    <a:lstStyle/>
                    <a:p>
                      <a:r>
                        <a:t>Rationale</a:t>
                      </a:r>
                    </a:p>
                  </a:txBody>
                  <a:tcPr marL="91440" marR="91440" marT="45720" marB="45720"/>
                </a:tc>
                <a:tc>
                  <a:txBody>
                    <a:bodyPr/>
                    <a:lstStyle/>
                    <a:p>
                      <a:r>
                        <a:t>Score-derived evidence</a:t>
                      </a:r>
                    </a:p>
                  </a:txBody>
                  <a:tcPr marL="91440" marR="91440" marT="45720" marB="45720"/>
                </a:tc>
                <a:tc>
                  <a:txBody>
                    <a:bodyPr/>
                    <a:lstStyle/>
                    <a:p>
                      <a:r>
                        <a:t>Strong prose rationale</a:t>
                      </a:r>
                    </a:p>
                  </a:txBody>
                  <a:tcPr marL="91440" marR="91440" marT="45720" marB="45720"/>
                </a:tc>
              </a:tr>
              <a:tr h="603250">
                <a:tc>
                  <a:txBody>
                    <a:bodyPr/>
                    <a:lstStyle/>
                    <a:p>
                      <a:r>
                        <a:t>Extension path</a:t>
                      </a:r>
                    </a:p>
                  </a:txBody>
                  <a:tcPr marL="91440" marR="91440" marT="45720" marB="45720"/>
                </a:tc>
                <a:tc>
                  <a:txBody>
                    <a:bodyPr/>
                    <a:lstStyle/>
                    <a:p>
                      <a:r>
                        <a:t>Routing, triage, guardrails</a:t>
                      </a:r>
                    </a:p>
                  </a:txBody>
                  <a:tcPr marL="91440" marR="91440" marT="45720" marB="45720"/>
                </a:tc>
                <a:tc>
                  <a:txBody>
                    <a:bodyPr/>
                    <a:lstStyle/>
                    <a:p>
                      <a:r>
                        <a:t>Drafting, analysis, synthesis</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6C625EC1-2D58-40D7-BB2F-54E555A6AC11}"/>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15</a:t>
            </a:r>
          </a:p>
        </p:txBody>
      </p:sp>
    </p:spTree>
    <p:extLst>
      <p:ext uri="{BB962C8B-B14F-4D97-AF65-F5344CB8AC3E}">
        <p14:creationId xmlns:p14="http://schemas.microsoft.com/office/powerpoint/2010/main" val="1032797380"/>
      </p:ext>
    </p:extLst>
  </p:cSld>
</p:sld>
</file>

<file path=ppt/slides/slide1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F40D63B-BC67-425B-A4E2-8FC93CF65704}"/>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DD34F0D7-CE4F-4934-8FB6-E917461D61FF}"/>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Design implications</a:t>
            </a:r>
          </a:p>
        </p:txBody>
      </p:sp>
      <p:sp>
        <p:nvSpPr>
          <p:cNvPr id="3" name="">
            <a:extLst xmlns:a="http://schemas.openxmlformats.org/drawingml/2006/main">
              <a:ext uri="{FF2B5EF4-FFF2-40B4-BE49-F238E27FC236}">
                <a16:creationId xmlns:a16="http://schemas.microsoft.com/office/drawing/2014/main" id="{8DEE6E90-2E8E-4F98-A682-1663FAFD619E}"/>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sp>
        <p:nvSpPr>
          <p:cNvPr id="4" name="">
            <a:extLst xmlns:a="http://schemas.openxmlformats.org/drawingml/2006/main">
              <a:ext uri="{FF2B5EF4-FFF2-40B4-BE49-F238E27FC236}">
                <a16:creationId xmlns:a16="http://schemas.microsoft.com/office/drawing/2014/main" id="{C3015923-9D8A-4C33-8FE0-1927C6413D06}"/>
              </a:ext>
            </a:extLst>
          </p:cNvPr>
          <p:cNvSpPr>
            <a:spLocks xmlns:a="http://schemas.openxmlformats.org/drawingml/2006/main" noGrp="1"/>
          </p:cNvSpPr>
          <p:nvPr/>
        </p:nvSpPr>
        <p:spPr>
          <a:xfrm xmlns:a="http://schemas.openxmlformats.org/drawingml/2006/main">
            <a:off x="838200" y="16383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0F766E"/>
                </a:solidFill>
                <a:latin typeface="Arial"/>
                <a:ea typeface="Arial"/>
                <a:cs typeface="Arial"/>
              </a:defRPr>
            </a:pPr>
            <a:r>
              <a:rPr sz="1950" b="1">
                <a:solidFill>
                  <a:srgbClr val="0F766E"/>
                </a:solidFill>
                <a:latin typeface="Arial"/>
                <a:ea typeface="Arial"/>
                <a:cs typeface="Arial"/>
              </a:rPr>
              <a:t>Use Jev when</a:t>
            </a:r>
          </a:p>
        </p:txBody>
      </p:sp>
      <p:sp>
        <p:nvSpPr>
          <p:cNvPr id="5" name="">
            <a:extLst xmlns:a="http://schemas.openxmlformats.org/drawingml/2006/main">
              <a:ext uri="{FF2B5EF4-FFF2-40B4-BE49-F238E27FC236}">
                <a16:creationId xmlns:a16="http://schemas.microsoft.com/office/drawing/2014/main" id="{80144E33-0C1A-46A4-AD93-FEE9F947D9E5}"/>
              </a:ext>
            </a:extLst>
          </p:cNvPr>
          <p:cNvSpPr>
            <a:spLocks xmlns:a="http://schemas.openxmlformats.org/drawingml/2006/main" noGrp="1"/>
          </p:cNvSpPr>
          <p:nvPr/>
        </p:nvSpPr>
        <p:spPr>
          <a:xfrm xmlns:a="http://schemas.openxmlformats.org/drawingml/2006/main">
            <a:off x="876300" y="2266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181537-B10C-421D-BD87-3E80E38CE367}"/>
              </a:ext>
            </a:extLst>
          </p:cNvPr>
          <p:cNvSpPr>
            <a:spLocks xmlns:a="http://schemas.openxmlformats.org/drawingml/2006/main" noGrp="1"/>
          </p:cNvSpPr>
          <p:nvPr/>
        </p:nvSpPr>
        <p:spPr>
          <a:xfrm xmlns:a="http://schemas.openxmlformats.org/drawingml/2006/main">
            <a:off x="1085850" y="21907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question set is known in advance</a:t>
            </a:r>
          </a:p>
        </p:txBody>
      </p:sp>
      <p:sp>
        <p:nvSpPr>
          <p:cNvPr id="7" name="">
            <a:extLst xmlns:a="http://schemas.openxmlformats.org/drawingml/2006/main">
              <a:ext uri="{FF2B5EF4-FFF2-40B4-BE49-F238E27FC236}">
                <a16:creationId xmlns:a16="http://schemas.microsoft.com/office/drawing/2014/main" id="{AE9A2C46-E3EC-4C89-80B0-ECF6A40B5322}"/>
              </a:ext>
            </a:extLst>
          </p:cNvPr>
          <p:cNvSpPr>
            <a:spLocks xmlns:a="http://schemas.openxmlformats.org/drawingml/2006/main" noGrp="1"/>
          </p:cNvSpPr>
          <p:nvPr/>
        </p:nvSpPr>
        <p:spPr>
          <a:xfrm xmlns:a="http://schemas.openxmlformats.org/drawingml/2006/main">
            <a:off x="876300" y="27241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7C77EA-16EA-4761-A7C8-B07D4541ED5A}"/>
              </a:ext>
            </a:extLst>
          </p:cNvPr>
          <p:cNvSpPr>
            <a:spLocks xmlns:a="http://schemas.openxmlformats.org/drawingml/2006/main" noGrp="1"/>
          </p:cNvSpPr>
          <p:nvPr/>
        </p:nvSpPr>
        <p:spPr>
          <a:xfrm xmlns:a="http://schemas.openxmlformats.org/drawingml/2006/main">
            <a:off x="1085850" y="26479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output schema is stable</a:t>
            </a:r>
          </a:p>
        </p:txBody>
      </p:sp>
      <p:sp>
        <p:nvSpPr>
          <p:cNvPr id="9" name="">
            <a:extLst xmlns:a="http://schemas.openxmlformats.org/drawingml/2006/main">
              <a:ext uri="{FF2B5EF4-FFF2-40B4-BE49-F238E27FC236}">
                <a16:creationId xmlns:a16="http://schemas.microsoft.com/office/drawing/2014/main" id="{9BFBEBB7-70E0-4C52-8017-317130D03F28}"/>
              </a:ext>
            </a:extLst>
          </p:cNvPr>
          <p:cNvSpPr>
            <a:spLocks xmlns:a="http://schemas.openxmlformats.org/drawingml/2006/main" noGrp="1"/>
          </p:cNvSpPr>
          <p:nvPr/>
        </p:nvSpPr>
        <p:spPr>
          <a:xfrm xmlns:a="http://schemas.openxmlformats.org/drawingml/2006/main">
            <a:off x="876300" y="31813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47E1F5-FDDA-4A4B-8A3D-033FEF03F3DD}"/>
              </a:ext>
            </a:extLst>
          </p:cNvPr>
          <p:cNvSpPr>
            <a:spLocks xmlns:a="http://schemas.openxmlformats.org/drawingml/2006/main" noGrp="1"/>
          </p:cNvSpPr>
          <p:nvPr/>
        </p:nvSpPr>
        <p:spPr>
          <a:xfrm xmlns:a="http://schemas.openxmlformats.org/drawingml/2006/main">
            <a:off x="1085850" y="31051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Confidence thresholds can drive routing</a:t>
            </a:r>
          </a:p>
        </p:txBody>
      </p:sp>
      <p:sp>
        <p:nvSpPr>
          <p:cNvPr id="11" name="">
            <a:extLst xmlns:a="http://schemas.openxmlformats.org/drawingml/2006/main">
              <a:ext uri="{FF2B5EF4-FFF2-40B4-BE49-F238E27FC236}">
                <a16:creationId xmlns:a16="http://schemas.microsoft.com/office/drawing/2014/main" id="{BC072F41-5C24-4394-8708-2E05D8A6C596}"/>
              </a:ext>
            </a:extLst>
          </p:cNvPr>
          <p:cNvSpPr>
            <a:spLocks xmlns:a="http://schemas.openxmlformats.org/drawingml/2006/main" noGrp="1"/>
          </p:cNvSpPr>
          <p:nvPr/>
        </p:nvSpPr>
        <p:spPr>
          <a:xfrm xmlns:a="http://schemas.openxmlformats.org/drawingml/2006/main">
            <a:off x="876300" y="36385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BB1E26-AA24-4F60-81A2-48D41C601ED6}"/>
              </a:ext>
            </a:extLst>
          </p:cNvPr>
          <p:cNvSpPr>
            <a:spLocks xmlns:a="http://schemas.openxmlformats.org/drawingml/2006/main" noGrp="1"/>
          </p:cNvSpPr>
          <p:nvPr/>
        </p:nvSpPr>
        <p:spPr>
          <a:xfrm xmlns:a="http://schemas.openxmlformats.org/drawingml/2006/main">
            <a:off x="1085850" y="3562350"/>
            <a:ext cx="4362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High volume makes cost and latency matter</a:t>
            </a:r>
          </a:p>
        </p:txBody>
      </p:sp>
      <p:sp>
        <p:nvSpPr>
          <p:cNvPr id="13" name="">
            <a:extLst xmlns:a="http://schemas.openxmlformats.org/drawingml/2006/main">
              <a:ext uri="{FF2B5EF4-FFF2-40B4-BE49-F238E27FC236}">
                <a16:creationId xmlns:a16="http://schemas.microsoft.com/office/drawing/2014/main" id="{7D881C39-DAEC-4A02-86FD-D1EAA4664CE2}"/>
              </a:ext>
            </a:extLst>
          </p:cNvPr>
          <p:cNvSpPr>
            <a:spLocks xmlns:a="http://schemas.openxmlformats.org/drawingml/2006/main" noGrp="1"/>
          </p:cNvSpPr>
          <p:nvPr/>
        </p:nvSpPr>
        <p:spPr>
          <a:xfrm xmlns:a="http://schemas.openxmlformats.org/drawingml/2006/main">
            <a:off x="6762750" y="16383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4768FF"/>
                </a:solidFill>
                <a:latin typeface="Arial"/>
                <a:ea typeface="Arial"/>
                <a:cs typeface="Arial"/>
              </a:defRPr>
            </a:pPr>
            <a:r>
              <a:rPr sz="1950" b="1">
                <a:solidFill>
                  <a:srgbClr val="4768FF"/>
                </a:solidFill>
                <a:latin typeface="Arial"/>
                <a:ea typeface="Arial"/>
                <a:cs typeface="Arial"/>
              </a:rPr>
              <a:t>Use Claude when</a:t>
            </a:r>
          </a:p>
        </p:txBody>
      </p:sp>
      <p:sp>
        <p:nvSpPr>
          <p:cNvPr id="14" name="">
            <a:extLst xmlns:a="http://schemas.openxmlformats.org/drawingml/2006/main">
              <a:ext uri="{FF2B5EF4-FFF2-40B4-BE49-F238E27FC236}">
                <a16:creationId xmlns:a16="http://schemas.microsoft.com/office/drawing/2014/main" id="{7714CA6A-A225-46C6-A2B9-64752C9D3E9D}"/>
              </a:ext>
            </a:extLst>
          </p:cNvPr>
          <p:cNvSpPr>
            <a:spLocks xmlns:a="http://schemas.openxmlformats.org/drawingml/2006/main" noGrp="1"/>
          </p:cNvSpPr>
          <p:nvPr/>
        </p:nvSpPr>
        <p:spPr>
          <a:xfrm xmlns:a="http://schemas.openxmlformats.org/drawingml/2006/main">
            <a:off x="6800850" y="22669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6C0966-C4B5-4EAA-AFEA-8931E49983FA}"/>
              </a:ext>
            </a:extLst>
          </p:cNvPr>
          <p:cNvSpPr>
            <a:spLocks xmlns:a="http://schemas.openxmlformats.org/drawingml/2006/main" noGrp="1"/>
          </p:cNvSpPr>
          <p:nvPr/>
        </p:nvSpPr>
        <p:spPr>
          <a:xfrm xmlns:a="http://schemas.openxmlformats.org/drawingml/2006/main">
            <a:off x="7010400" y="21907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task changes frequently</a:t>
            </a:r>
          </a:p>
        </p:txBody>
      </p:sp>
      <p:sp>
        <p:nvSpPr>
          <p:cNvPr id="16" name="">
            <a:extLst xmlns:a="http://schemas.openxmlformats.org/drawingml/2006/main">
              <a:ext uri="{FF2B5EF4-FFF2-40B4-BE49-F238E27FC236}">
                <a16:creationId xmlns:a16="http://schemas.microsoft.com/office/drawing/2014/main" id="{0D55E3F4-55D4-4E5C-A911-7A49CE505445}"/>
              </a:ext>
            </a:extLst>
          </p:cNvPr>
          <p:cNvSpPr>
            <a:spLocks xmlns:a="http://schemas.openxmlformats.org/drawingml/2006/main" noGrp="1"/>
          </p:cNvSpPr>
          <p:nvPr/>
        </p:nvSpPr>
        <p:spPr>
          <a:xfrm xmlns:a="http://schemas.openxmlformats.org/drawingml/2006/main">
            <a:off x="6800850" y="27241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9CADD2B-1C86-4CB4-88B7-DB71EE1E8FF4}"/>
              </a:ext>
            </a:extLst>
          </p:cNvPr>
          <p:cNvSpPr>
            <a:spLocks xmlns:a="http://schemas.openxmlformats.org/drawingml/2006/main" noGrp="1"/>
          </p:cNvSpPr>
          <p:nvPr/>
        </p:nvSpPr>
        <p:spPr>
          <a:xfrm xmlns:a="http://schemas.openxmlformats.org/drawingml/2006/main">
            <a:off x="7010400" y="26479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Users need narrative explanation</a:t>
            </a:r>
          </a:p>
        </p:txBody>
      </p:sp>
      <p:sp>
        <p:nvSpPr>
          <p:cNvPr id="18" name="">
            <a:extLst xmlns:a="http://schemas.openxmlformats.org/drawingml/2006/main">
              <a:ext uri="{FF2B5EF4-FFF2-40B4-BE49-F238E27FC236}">
                <a16:creationId xmlns:a16="http://schemas.microsoft.com/office/drawing/2014/main" id="{5C547544-BEBC-4C95-BC0C-6CF0C20D617B}"/>
              </a:ext>
            </a:extLst>
          </p:cNvPr>
          <p:cNvSpPr>
            <a:spLocks xmlns:a="http://schemas.openxmlformats.org/drawingml/2006/main" noGrp="1"/>
          </p:cNvSpPr>
          <p:nvPr/>
        </p:nvSpPr>
        <p:spPr>
          <a:xfrm xmlns:a="http://schemas.openxmlformats.org/drawingml/2006/main">
            <a:off x="6800850" y="31813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CE81C09-C74C-4D60-A6D3-CD0B7334BFD9}"/>
              </a:ext>
            </a:extLst>
          </p:cNvPr>
          <p:cNvSpPr>
            <a:spLocks xmlns:a="http://schemas.openxmlformats.org/drawingml/2006/main" noGrp="1"/>
          </p:cNvSpPr>
          <p:nvPr/>
        </p:nvSpPr>
        <p:spPr>
          <a:xfrm xmlns:a="http://schemas.openxmlformats.org/drawingml/2006/main">
            <a:off x="7010400" y="31051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model must synthesize broader context</a:t>
            </a:r>
          </a:p>
        </p:txBody>
      </p:sp>
      <p:sp>
        <p:nvSpPr>
          <p:cNvPr id="20" name="">
            <a:extLst xmlns:a="http://schemas.openxmlformats.org/drawingml/2006/main">
              <a:ext uri="{FF2B5EF4-FFF2-40B4-BE49-F238E27FC236}">
                <a16:creationId xmlns:a16="http://schemas.microsoft.com/office/drawing/2014/main" id="{77F38550-05A6-42C0-AA9C-4447AC983339}"/>
              </a:ext>
            </a:extLst>
          </p:cNvPr>
          <p:cNvSpPr>
            <a:spLocks xmlns:a="http://schemas.openxmlformats.org/drawingml/2006/main" noGrp="1"/>
          </p:cNvSpPr>
          <p:nvPr/>
        </p:nvSpPr>
        <p:spPr>
          <a:xfrm xmlns:a="http://schemas.openxmlformats.org/drawingml/2006/main">
            <a:off x="6800850" y="3638550"/>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B5F3CEC-22EC-4E5C-B6EC-205B38068F9A}"/>
              </a:ext>
            </a:extLst>
          </p:cNvPr>
          <p:cNvSpPr>
            <a:spLocks xmlns:a="http://schemas.openxmlformats.org/drawingml/2006/main" noGrp="1"/>
          </p:cNvSpPr>
          <p:nvPr/>
        </p:nvSpPr>
        <p:spPr>
          <a:xfrm xmlns:a="http://schemas.openxmlformats.org/drawingml/2006/main">
            <a:off x="7010400" y="3562350"/>
            <a:ext cx="4267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The output is prose, plan or recommendation</a:t>
            </a:r>
          </a:p>
        </p:txBody>
      </p:sp>
      <p:sp>
        <p:nvSpPr>
          <p:cNvPr id="22" name="">
            <a:extLst xmlns:a="http://schemas.openxmlformats.org/drawingml/2006/main">
              <a:ext uri="{FF2B5EF4-FFF2-40B4-BE49-F238E27FC236}">
                <a16:creationId xmlns:a16="http://schemas.microsoft.com/office/drawing/2014/main" id="{F7810497-8633-482B-BFD4-1925DA781C24}"/>
              </a:ext>
            </a:extLst>
          </p:cNvPr>
          <p:cNvSpPr>
            <a:spLocks xmlns:a="http://schemas.openxmlformats.org/drawingml/2006/main" noGrp="1"/>
          </p:cNvSpPr>
          <p:nvPr/>
        </p:nvSpPr>
        <p:spPr>
          <a:xfrm xmlns:a="http://schemas.openxmlformats.org/drawingml/2006/main">
            <a:off x="1123950" y="5257800"/>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1">
                <a:solidFill>
                  <a:srgbClr val="102033"/>
                </a:solidFill>
                <a:latin typeface="Arial"/>
                <a:ea typeface="Arial"/>
                <a:cs typeface="Arial"/>
              </a:defRPr>
            </a:pPr>
            <a:r>
              <a:rPr sz="1725" b="1">
                <a:solidFill>
                  <a:srgbClr val="102033"/>
                </a:solidFill>
                <a:latin typeface="Arial"/>
                <a:ea typeface="Arial"/>
                <a:cs typeface="Arial"/>
              </a:rPr>
              <a:t>The practical architecture is not either-or. Jev handles frequent decisions. LLMs handle reasoning and language.</a:t>
            </a:r>
          </a:p>
        </p:txBody>
      </p:sp>
      <p:sp>
        <p:nvSpPr>
          <p:cNvPr id="23" name="">
            <a:extLst xmlns:a="http://schemas.openxmlformats.org/drawingml/2006/main">
              <a:ext uri="{FF2B5EF4-FFF2-40B4-BE49-F238E27FC236}">
                <a16:creationId xmlns:a16="http://schemas.microsoft.com/office/drawing/2014/main" id="{6678186B-774A-4615-BA5F-7328740BED22}"/>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16</a:t>
            </a:r>
          </a:p>
        </p:txBody>
      </p:sp>
    </p:spTree>
    <p:extLst>
      <p:ext uri="{BB962C8B-B14F-4D97-AF65-F5344CB8AC3E}">
        <p14:creationId xmlns:p14="http://schemas.microsoft.com/office/powerpoint/2010/main" val="364750480"/>
      </p:ext>
    </p:extLst>
  </p:cSld>
</p:sld>
</file>

<file path=ppt/slides/slide1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A06722-D497-4CB9-B04E-61F2A6FF3168}"/>
              </a:ext>
            </a:extLst>
          </p:cNvPr>
          <p:cNvSpPr>
            <a:spLocks xmlns:a="http://schemas.openxmlformats.org/drawingml/2006/main" noGrp="1"/>
          </p:cNvSpPr>
          <p:nvPr/>
        </p:nvSpPr>
        <p:spPr>
          <a:xfrm xmlns:a="http://schemas.openxmlformats.org/drawingml/2006/main">
            <a:off x="609600" y="323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0F766E"/>
                </a:solidFill>
                <a:latin typeface="Arial"/>
                <a:ea typeface="Arial"/>
                <a:cs typeface="Arial"/>
              </a:defRPr>
            </a:pPr>
            <a:r>
              <a:rPr sz="975" b="1">
                <a:solidFill>
                  <a:srgbClr val="0F766E"/>
                </a:solidFill>
                <a:latin typeface="Arial"/>
                <a:ea typeface="Arial"/>
                <a:cs typeface="Arial"/>
              </a:rPr>
              <a:t>JEV EVALUATION</a:t>
            </a:r>
          </a:p>
        </p:txBody>
      </p:sp>
      <p:sp>
        <p:nvSpPr>
          <p:cNvPr id="2" name="">
            <a:extLst xmlns:a="http://schemas.openxmlformats.org/drawingml/2006/main">
              <a:ext uri="{FF2B5EF4-FFF2-40B4-BE49-F238E27FC236}">
                <a16:creationId xmlns:a16="http://schemas.microsoft.com/office/drawing/2014/main" id="{39CD33B7-E864-4E8F-8AA9-3AC5F13F4051}"/>
              </a:ext>
            </a:extLst>
          </p:cNvPr>
          <p:cNvSpPr>
            <a:spLocks xmlns:a="http://schemas.openxmlformats.org/drawingml/2006/main" noGrp="1"/>
          </p:cNvSpPr>
          <p:nvPr/>
        </p:nvSpPr>
        <p:spPr>
          <a:xfrm xmlns:a="http://schemas.openxmlformats.org/drawingml/2006/main">
            <a:off x="609600" y="6286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33"/>
                </a:solidFill>
                <a:latin typeface="Arial"/>
                <a:ea typeface="Arial"/>
                <a:cs typeface="Arial"/>
              </a:defRPr>
            </a:pPr>
            <a:r>
              <a:rPr sz="2550" b="1">
                <a:solidFill>
                  <a:srgbClr val="172033"/>
                </a:solidFill>
                <a:latin typeface="Arial"/>
                <a:ea typeface="Arial"/>
                <a:cs typeface="Arial"/>
              </a:rPr>
              <a:t>Recommended next steps</a:t>
            </a:r>
          </a:p>
        </p:txBody>
      </p:sp>
      <p:sp>
        <p:nvSpPr>
          <p:cNvPr id="3" name="">
            <a:extLst xmlns:a="http://schemas.openxmlformats.org/drawingml/2006/main">
              <a:ext uri="{FF2B5EF4-FFF2-40B4-BE49-F238E27FC236}">
                <a16:creationId xmlns:a16="http://schemas.microsoft.com/office/drawing/2014/main" id="{186278C2-16FA-47C5-BEAE-3597522892FF}"/>
              </a:ext>
            </a:extLst>
          </p:cNvPr>
          <p:cNvSpPr>
            <a:spLocks xmlns:a="http://schemas.openxmlformats.org/drawingml/2006/main" noGrp="1"/>
          </p:cNvSpPr>
          <p:nvPr/>
        </p:nvSpPr>
        <p:spPr>
          <a:xfrm xmlns:a="http://schemas.openxmlformats.org/drawingml/2006/main">
            <a:off x="609600" y="1200150"/>
            <a:ext cx="10763250" cy="0"/>
          </a:xfrm>
          <a:prstGeom xmlns:a="http://schemas.openxmlformats.org/drawingml/2006/main" prst="line">
            <a:avLst/>
          </a:prstGeom>
          <a:noFill xmlns:a="http://schemas.openxmlformats.org/drawingml/2006/main"/>
          <a:ln xmlns:a="http://schemas.openxmlformats.org/drawingml/2006/main" w="9525">
            <a:solidFill>
              <a:srgbClr val="D9DEE8"/>
            </a:solidFill>
            <a:prstDash val="solid"/>
          </a:ln>
        </p:spPr>
      </p:sp>
      <p:graphicFrame>
        <p:nvGraphicFramePr>
          <p:cNvPr id="9" name=""/>
          <p:cNvGraphicFramePr/>
          <p:nvPr/>
        </p:nvGraphicFramePr>
        <p:xfrm>
          <a:off xmlns:a="http://schemas.openxmlformats.org/drawingml/2006/main" x="876300" y="1543050"/>
          <a:ext xmlns:a="http://schemas.openxmlformats.org/drawingml/2006/main" cx="9810750" cy="3429000"/>
        </p:xfrm>
        <a:graphic xmlns:a="http://schemas.openxmlformats.org/drawingml/2006/main">
          <a:graphicData uri="http://schemas.openxmlformats.org/drawingml/2006/table">
            <a:tbl>
              <a:tblPr firstRow="1" bandRow="1"/>
              <a:tblGrid>
                <a:gridCol w="3270250"/>
                <a:gridCol w="3270250"/>
                <a:gridCol w="3270250"/>
              </a:tblGrid>
              <a:tr h="571500">
                <a:tc>
                  <a:txBody>
                    <a:bodyPr/>
                    <a:lstStyle/>
                    <a:p>
                      <a:r>
                        <a:t>Workstream</a:t>
                      </a:r>
                    </a:p>
                  </a:txBody>
                  <a:tcPr marL="91440" marR="91440" marT="45720" marB="45720"/>
                </a:tc>
                <a:tc>
                  <a:txBody>
                    <a:bodyPr/>
                    <a:lstStyle/>
                    <a:p>
                      <a:r>
                        <a:t>What to add</a:t>
                      </a:r>
                    </a:p>
                  </a:txBody>
                  <a:tcPr marL="91440" marR="91440" marT="45720" marB="45720"/>
                </a:tc>
                <a:tc>
                  <a:txBody>
                    <a:bodyPr/>
                    <a:lstStyle/>
                    <a:p>
                      <a:r>
                        <a:t>Why it matters</a:t>
                      </a:r>
                    </a:p>
                  </a:txBody>
                  <a:tcPr marL="91440" marR="91440" marT="45720" marB="45720"/>
                </a:tc>
              </a:tr>
              <a:tr h="571500">
                <a:tc>
                  <a:txBody>
                    <a:bodyPr/>
                    <a:lstStyle/>
                    <a:p>
                      <a:r>
                        <a:t>Benchmark size</a:t>
                      </a:r>
                    </a:p>
                  </a:txBody>
                  <a:tcPr marL="91440" marR="91440" marT="45720" marB="45720"/>
                </a:tc>
                <a:tc>
                  <a:txBody>
                    <a:bodyPr/>
                    <a:lstStyle/>
                    <a:p>
                      <a:r>
                        <a:t>50 to 100 labeled tickets</a:t>
                      </a:r>
                    </a:p>
                  </a:txBody>
                  <a:tcPr marL="91440" marR="91440" marT="45720" marB="45720"/>
                </a:tc>
                <a:tc>
                  <a:txBody>
                    <a:bodyPr/>
                    <a:lstStyle/>
                    <a:p>
                      <a:r>
                        <a:t>Reduces sample bias</a:t>
                      </a:r>
                    </a:p>
                  </a:txBody>
                  <a:tcPr marL="91440" marR="91440" marT="45720" marB="45720"/>
                </a:tc>
              </a:tr>
              <a:tr h="571500">
                <a:tc>
                  <a:txBody>
                    <a:bodyPr/>
                    <a:lstStyle/>
                    <a:p>
                      <a:r>
                        <a:t>Quality metrics</a:t>
                      </a:r>
                    </a:p>
                  </a:txBody>
                  <a:tcPr marL="91440" marR="91440" marT="45720" marB="45720"/>
                </a:tc>
                <a:tc>
                  <a:txBody>
                    <a:bodyPr/>
                    <a:lstStyle/>
                    <a:p>
                      <a:r>
                        <a:t>Confusion matrix by route</a:t>
                      </a:r>
                    </a:p>
                  </a:txBody>
                  <a:tcPr marL="91440" marR="91440" marT="45720" marB="45720"/>
                </a:tc>
                <a:tc>
                  <a:txBody>
                    <a:bodyPr/>
                    <a:lstStyle/>
                    <a:p>
                      <a:r>
                        <a:t>Shows where routing breaks</a:t>
                      </a:r>
                    </a:p>
                  </a:txBody>
                  <a:tcPr marL="91440" marR="91440" marT="45720" marB="45720"/>
                </a:tc>
              </a:tr>
              <a:tr h="571500">
                <a:tc>
                  <a:txBody>
                    <a:bodyPr/>
                    <a:lstStyle/>
                    <a:p>
                      <a:r>
                        <a:t>Calibration</a:t>
                      </a:r>
                    </a:p>
                  </a:txBody>
                  <a:tcPr marL="91440" marR="91440" marT="45720" marB="45720"/>
                </a:tc>
                <a:tc>
                  <a:txBody>
                    <a:bodyPr/>
                    <a:lstStyle/>
                    <a:p>
                      <a:r>
                        <a:t>Bucket predicted confidence vs accuracy</a:t>
                      </a:r>
                    </a:p>
                  </a:txBody>
                  <a:tcPr marL="91440" marR="91440" marT="45720" marB="45720"/>
                </a:tc>
                <a:tc>
                  <a:txBody>
                    <a:bodyPr/>
                    <a:lstStyle/>
                    <a:p>
                      <a:r>
                        <a:t>Tests whether scores can drive automation</a:t>
                      </a:r>
                    </a:p>
                  </a:txBody>
                  <a:tcPr marL="91440" marR="91440" marT="45720" marB="45720"/>
                </a:tc>
              </a:tr>
              <a:tr h="571500">
                <a:tc>
                  <a:txBody>
                    <a:bodyPr/>
                    <a:lstStyle/>
                    <a:p>
                      <a:r>
                        <a:t>Operations</a:t>
                      </a:r>
                    </a:p>
                  </a:txBody>
                  <a:tcPr marL="91440" marR="91440" marT="45720" marB="45720"/>
                </a:tc>
                <a:tc>
                  <a:txBody>
                    <a:bodyPr/>
                    <a:lstStyle/>
                    <a:p>
                      <a:r>
                        <a:t>Throughput and retry testing</a:t>
                      </a:r>
                    </a:p>
                  </a:txBody>
                  <a:tcPr marL="91440" marR="91440" marT="45720" marB="45720"/>
                </a:tc>
                <a:tc>
                  <a:txBody>
                    <a:bodyPr/>
                    <a:lstStyle/>
                    <a:p>
                      <a:r>
                        <a:t>Validates production behavior</a:t>
                      </a:r>
                    </a:p>
                  </a:txBody>
                  <a:tcPr marL="91440" marR="91440" marT="45720" marB="45720"/>
                </a:tc>
              </a:tr>
              <a:tr h="571500">
                <a:tc>
                  <a:txBody>
                    <a:bodyPr/>
                    <a:lstStyle/>
                    <a:p>
                      <a:r>
                        <a:t>Policy</a:t>
                      </a:r>
                    </a:p>
                  </a:txBody>
                  <a:tcPr marL="91440" marR="91440" marT="45720" marB="45720"/>
                </a:tc>
                <a:tc>
                  <a:txBody>
                    <a:bodyPr/>
                    <a:lstStyle/>
                    <a:p>
                      <a:r>
                        <a:t>Auto-route threshold and fallback rules</a:t>
                      </a:r>
                    </a:p>
                  </a:txBody>
                  <a:tcPr marL="91440" marR="91440" marT="45720" marB="45720"/>
                </a:tc>
                <a:tc>
                  <a:txBody>
                    <a:bodyPr/>
                    <a:lstStyle/>
                    <a:p>
                      <a:r>
                        <a:t>Turns scores into workflow decisions</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1DCE933-06F0-4660-97E4-901F5733EFCE}"/>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17</a:t>
            </a:r>
          </a:p>
        </p:txBody>
      </p:sp>
    </p:spTree>
    <p:extLst>
      <p:ext uri="{BB962C8B-B14F-4D97-AF65-F5344CB8AC3E}">
        <p14:creationId xmlns:p14="http://schemas.microsoft.com/office/powerpoint/2010/main" val="687849065"/>
      </p:ext>
    </p:extLst>
  </p:cSld>
</p:sld>
</file>

<file path=ppt/slides/slide18.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6C3728-96B3-47FF-AFBF-D33D80346ADB}"/>
              </a:ext>
            </a:extLst>
          </p:cNvPr>
          <p:cNvSpPr>
            <a:spLocks xmlns:a="http://schemas.openxmlformats.org/drawingml/2006/main" noGrp="1"/>
          </p:cNvSpPr>
          <p:nvPr/>
        </p:nvSpPr>
        <p:spPr>
          <a:xfrm xmlns:a="http://schemas.openxmlformats.org/drawingml/2006/main">
            <a:off x="685800" y="8001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A7F432"/>
                </a:solidFill>
                <a:latin typeface="Arial"/>
                <a:ea typeface="Arial"/>
                <a:cs typeface="Arial"/>
              </a:defRPr>
            </a:pPr>
            <a:r>
              <a:rPr sz="1650" b="1">
                <a:solidFill>
                  <a:srgbClr val="A7F432"/>
                </a:solidFill>
                <a:latin typeface="Arial"/>
                <a:ea typeface="Arial"/>
                <a:cs typeface="Arial"/>
              </a:rPr>
              <a:t>Technical POV</a:t>
            </a:r>
          </a:p>
        </p:txBody>
      </p:sp>
      <p:sp>
        <p:nvSpPr>
          <p:cNvPr id="2" name="">
            <a:extLst xmlns:a="http://schemas.openxmlformats.org/drawingml/2006/main">
              <a:ext uri="{FF2B5EF4-FFF2-40B4-BE49-F238E27FC236}">
                <a16:creationId xmlns:a16="http://schemas.microsoft.com/office/drawing/2014/main" id="{1E03A061-5920-4AE0-9482-AAA5C3D46CC1}"/>
              </a:ext>
            </a:extLst>
          </p:cNvPr>
          <p:cNvSpPr>
            <a:spLocks xmlns:a="http://schemas.openxmlformats.org/drawingml/2006/main" noGrp="1"/>
          </p:cNvSpPr>
          <p:nvPr/>
        </p:nvSpPr>
        <p:spPr>
          <a:xfrm xmlns:a="http://schemas.openxmlformats.org/drawingml/2006/main">
            <a:off x="685800" y="1524000"/>
            <a:ext cx="971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Jev turns model judgment into a software primitive</a:t>
            </a:r>
          </a:p>
        </p:txBody>
      </p:sp>
      <p:sp>
        <p:nvSpPr>
          <p:cNvPr id="3" name="">
            <a:extLst xmlns:a="http://schemas.openxmlformats.org/drawingml/2006/main">
              <a:ext uri="{FF2B5EF4-FFF2-40B4-BE49-F238E27FC236}">
                <a16:creationId xmlns:a16="http://schemas.microsoft.com/office/drawing/2014/main" id="{ECE8A972-6A43-4F65-AA88-3480E7DE70CB}"/>
              </a:ext>
            </a:extLst>
          </p:cNvPr>
          <p:cNvSpPr>
            <a:spLocks xmlns:a="http://schemas.openxmlformats.org/drawingml/2006/main" noGrp="1"/>
          </p:cNvSpPr>
          <p:nvPr/>
        </p:nvSpPr>
        <p:spPr>
          <a:xfrm xmlns:a="http://schemas.openxmlformats.org/drawingml/2006/main">
            <a:off x="723900" y="3238500"/>
            <a:ext cx="8953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DDE5EF"/>
                </a:solidFill>
                <a:latin typeface="Arial"/>
                <a:ea typeface="Arial"/>
                <a:cs typeface="Arial"/>
              </a:defRPr>
            </a:pPr>
            <a:r>
              <a:rPr sz="2025" b="0">
                <a:solidFill>
                  <a:srgbClr val="DDE5EF"/>
                </a:solidFill>
                <a:latin typeface="Arial"/>
                <a:ea typeface="Arial"/>
                <a:cs typeface="Arial"/>
              </a:rPr>
              <a:t>It complements LLMs by taking over repeated, typed, confidence-gated decisions that do not need System 2 reasoning.</a:t>
            </a:r>
          </a:p>
        </p:txBody>
      </p:sp>
      <p:sp>
        <p:nvSpPr>
          <p:cNvPr id="4" name="">
            <a:extLst xmlns:a="http://schemas.openxmlformats.org/drawingml/2006/main">
              <a:ext uri="{FF2B5EF4-FFF2-40B4-BE49-F238E27FC236}">
                <a16:creationId xmlns:a16="http://schemas.microsoft.com/office/drawing/2014/main" id="{F42D11D6-C1C4-454A-A426-33684ACF6A21}"/>
              </a:ext>
            </a:extLst>
          </p:cNvPr>
          <p:cNvSpPr>
            <a:spLocks xmlns:a="http://schemas.openxmlformats.org/drawingml/2006/main" noGrp="1"/>
          </p:cNvSpPr>
          <p:nvPr/>
        </p:nvSpPr>
        <p:spPr>
          <a:xfrm xmlns:a="http://schemas.openxmlformats.org/drawingml/2006/main">
            <a:off x="723900" y="4648200"/>
            <a:ext cx="4000500" cy="76200"/>
          </a:xfrm>
          <a:prstGeom xmlns:a="http://schemas.openxmlformats.org/drawingml/2006/main" prst="roundRect">
            <a:avLst>
              <a:gd name="adj" fmla="val 50000"/>
            </a:avLst>
          </a:prstGeom>
          <a:solidFill xmlns:a="http://schemas.openxmlformats.org/drawingml/2006/main">
            <a:srgbClr val="A7F4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020077-D577-4CD0-9B03-E3560EDEA70C}"/>
              </a:ext>
            </a:extLst>
          </p:cNvPr>
          <p:cNvSpPr>
            <a:spLocks xmlns:a="http://schemas.openxmlformats.org/drawingml/2006/main" noGrp="1"/>
          </p:cNvSpPr>
          <p:nvPr/>
        </p:nvSpPr>
        <p:spPr>
          <a:xfrm xmlns:a="http://schemas.openxmlformats.org/drawingml/2006/main">
            <a:off x="723900" y="5048250"/>
            <a:ext cx="895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Recommended pattern: Jev for first-pass decisioning, Claude for escalation, explanation and generation.</a:t>
            </a:r>
          </a:p>
        </p:txBody>
      </p:sp>
      <p:sp>
        <p:nvSpPr>
          <p:cNvPr id="6" name="">
            <a:extLst xmlns:a="http://schemas.openxmlformats.org/drawingml/2006/main">
              <a:ext uri="{FF2B5EF4-FFF2-40B4-BE49-F238E27FC236}">
                <a16:creationId xmlns:a16="http://schemas.microsoft.com/office/drawing/2014/main" id="{403C8B8B-6987-42A8-B21A-DC227EB8BF6B}"/>
              </a:ext>
            </a:extLst>
          </p:cNvPr>
          <p:cNvSpPr>
            <a:spLocks xmlns:a="http://schemas.openxmlformats.org/drawingml/2006/main" noGrp="1"/>
          </p:cNvSpPr>
          <p:nvPr/>
        </p:nvSpPr>
        <p:spPr>
          <a:xfrm xmlns:a="http://schemas.openxmlformats.org/drawingml/2006/main">
            <a:off x="10934700" y="6362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900" b="1">
                <a:solidFill>
                  <a:srgbClr val="657083"/>
                </a:solidFill>
                <a:latin typeface="Arial"/>
                <a:ea typeface="Arial"/>
                <a:cs typeface="Arial"/>
              </a:defRPr>
            </a:pPr>
            <a:r>
              <a:rPr sz="900" b="1">
                <a:solidFill>
                  <a:srgbClr val="657083"/>
                </a:solidFill>
                <a:latin typeface="Arial"/>
                <a:ea typeface="Arial"/>
                <a:cs typeface="Arial"/>
              </a:rPr>
              <a:t>18</a:t>
            </a:r>
          </a:p>
        </p:txBody>
      </p:sp>
    </p:spTree>
    <p:extLst>
      <p:ext uri="{BB962C8B-B14F-4D97-AF65-F5344CB8AC3E}">
        <p14:creationId xmlns:p14="http://schemas.microsoft.com/office/powerpoint/2010/main" val="763518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2026-09-25T17:07:04.8740000Z</dcterms:created>
  <dcterms:modified xsi:type="dcterms:W3CDTF">2026-09-25T17:07:04.8740000Z</dcterms:modified>
</coreProperties>
</file>