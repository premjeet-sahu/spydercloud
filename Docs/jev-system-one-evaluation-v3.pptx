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1093899a9894a62" /><Relationship Type="http://schemas.openxmlformats.org/officeDocument/2006/relationships/extended-properties" Target="/docProps/app.xml" Id="R1e64ab30eb7b44f9" /><Relationship Type="http://schemas.openxmlformats.org/officeDocument/2006/relationships/officeDocument" Target="/ppt/presentation.xml" Id="R7c1bdcb2fec442da" /></Relationships>
</file>

<file path=ppt/presentation.xml><?xml version="1.0" encoding="utf-8"?>
<p:presentation xmlns:p="http://schemas.openxmlformats.org/presentationml/2006/main">
  <p:sldMasterIdLst>
    <p:sldMasterId xmlns:r="http://schemas.openxmlformats.org/officeDocument/2006/relationships" id="2147483648" r:id="R841f81b3305d4a4e"/>
  </p:sldMasterIdLst>
  <p:notesMasterIdLst>
    <p:notesMasterId xmlns:r="http://schemas.openxmlformats.org/officeDocument/2006/relationships" r:id="Ra5f7df471eba42d3"/>
  </p:notesMasterIdLst>
  <p:sldIdLst>
    <p:sldId xmlns:r="http://schemas.openxmlformats.org/officeDocument/2006/relationships" id="256" r:id="Rf53da96492ff438a"/>
    <p:sldId xmlns:r="http://schemas.openxmlformats.org/officeDocument/2006/relationships" id="257" r:id="R53f173019c454354"/>
    <p:sldId xmlns:r="http://schemas.openxmlformats.org/officeDocument/2006/relationships" id="258" r:id="R33759c497d9c4a40"/>
    <p:sldId xmlns:r="http://schemas.openxmlformats.org/officeDocument/2006/relationships" id="259" r:id="Rc1f1adcc65a04448"/>
    <p:sldId xmlns:r="http://schemas.openxmlformats.org/officeDocument/2006/relationships" id="260" r:id="R7349a28939864a16"/>
    <p:sldId xmlns:r="http://schemas.openxmlformats.org/officeDocument/2006/relationships" id="261" r:id="R98251c08fd624eb8"/>
    <p:sldId xmlns:r="http://schemas.openxmlformats.org/officeDocument/2006/relationships" id="262" r:id="Ra09f1fdea1bf4819"/>
    <p:sldId xmlns:r="http://schemas.openxmlformats.org/officeDocument/2006/relationships" id="263" r:id="Re2b372c415dc4dc9"/>
    <p:sldId xmlns:r="http://schemas.openxmlformats.org/officeDocument/2006/relationships" id="264" r:id="R01206d5302184236"/>
    <p:sldId xmlns:r="http://schemas.openxmlformats.org/officeDocument/2006/relationships" id="265" r:id="R1d6586bd62a64150"/>
    <p:sldId xmlns:r="http://schemas.openxmlformats.org/officeDocument/2006/relationships" id="266" r:id="R8a7c3c08a65b48e9"/>
    <p:sldId xmlns:r="http://schemas.openxmlformats.org/officeDocument/2006/relationships" id="267" r:id="Rb1a4da5af30a46c0"/>
    <p:sldId xmlns:r="http://schemas.openxmlformats.org/officeDocument/2006/relationships" id="268" r:id="R62e57a0241844057"/>
    <p:sldId xmlns:r="http://schemas.openxmlformats.org/officeDocument/2006/relationships" id="269" r:id="Ra878d0673cfe4269"/>
    <p:sldId xmlns:r="http://schemas.openxmlformats.org/officeDocument/2006/relationships" id="270" r:id="R92aab7ce54b442a7"/>
    <p:sldId xmlns:r="http://schemas.openxmlformats.org/officeDocument/2006/relationships" id="271" r:id="R9a53f3a97e50479d"/>
    <p:sldId xmlns:r="http://schemas.openxmlformats.org/officeDocument/2006/relationships" id="272" r:id="R295a467dbe80485a"/>
    <p:sldId xmlns:r="http://schemas.openxmlformats.org/officeDocument/2006/relationships" id="273" r:id="R7b1be02a6d0648c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90a1f77dfc44943" /><Relationship Type="http://schemas.openxmlformats.org/officeDocument/2006/relationships/slideMaster" Target="/ppt/slideMasters/slideMaster1.xml" Id="R841f81b3305d4a4e" /><Relationship Type="http://schemas.openxmlformats.org/officeDocument/2006/relationships/notesMaster" Target="/ppt/notesMasters/notesMaster1.xml" Id="Ra5f7df471eba42d3" /><Relationship Type="http://schemas.openxmlformats.org/officeDocument/2006/relationships/presProps" Target="/ppt/presProps.xml" Id="Racb1ce92bba04bc5" /><Relationship Type="http://schemas.openxmlformats.org/officeDocument/2006/relationships/tableStyles" Target="/ppt/tableStyles.xml" Id="Rd1f581242c104ead" /><Relationship Type="http://schemas.openxmlformats.org/officeDocument/2006/relationships/slide" Target="/ppt/slides/slide1.xml" Id="Rf53da96492ff438a" /><Relationship Type="http://schemas.openxmlformats.org/officeDocument/2006/relationships/slide" Target="/ppt/slides/slide2.xml" Id="R53f173019c454354" /><Relationship Type="http://schemas.openxmlformats.org/officeDocument/2006/relationships/slide" Target="/ppt/slides/slide3.xml" Id="R33759c497d9c4a40" /><Relationship Type="http://schemas.openxmlformats.org/officeDocument/2006/relationships/slide" Target="/ppt/slides/slide4.xml" Id="Rc1f1adcc65a04448" /><Relationship Type="http://schemas.openxmlformats.org/officeDocument/2006/relationships/slide" Target="/ppt/slides/slide5.xml" Id="R7349a28939864a16" /><Relationship Type="http://schemas.openxmlformats.org/officeDocument/2006/relationships/slide" Target="/ppt/slides/slide6.xml" Id="R98251c08fd624eb8" /><Relationship Type="http://schemas.openxmlformats.org/officeDocument/2006/relationships/slide" Target="/ppt/slides/slide7.xml" Id="Ra09f1fdea1bf4819" /><Relationship Type="http://schemas.openxmlformats.org/officeDocument/2006/relationships/slide" Target="/ppt/slides/slide8.xml" Id="Re2b372c415dc4dc9" /><Relationship Type="http://schemas.openxmlformats.org/officeDocument/2006/relationships/slide" Target="/ppt/slides/slide9.xml" Id="R01206d5302184236" /><Relationship Type="http://schemas.openxmlformats.org/officeDocument/2006/relationships/slide" Target="/ppt/slides/slide10.xml" Id="R1d6586bd62a64150" /><Relationship Type="http://schemas.openxmlformats.org/officeDocument/2006/relationships/slide" Target="/ppt/slides/slide11.xml" Id="R8a7c3c08a65b48e9" /><Relationship Type="http://schemas.openxmlformats.org/officeDocument/2006/relationships/slide" Target="/ppt/slides/slide12.xml" Id="Rb1a4da5af30a46c0" /><Relationship Type="http://schemas.openxmlformats.org/officeDocument/2006/relationships/slide" Target="/ppt/slides/slide13.xml" Id="R62e57a0241844057" /><Relationship Type="http://schemas.openxmlformats.org/officeDocument/2006/relationships/slide" Target="/ppt/slides/slide14.xml" Id="Ra878d0673cfe4269" /><Relationship Type="http://schemas.openxmlformats.org/officeDocument/2006/relationships/slide" Target="/ppt/slides/slide15.xml" Id="R92aab7ce54b442a7" /><Relationship Type="http://schemas.openxmlformats.org/officeDocument/2006/relationships/slide" Target="/ppt/slides/slide16.xml" Id="R9a53f3a97e50479d" /><Relationship Type="http://schemas.openxmlformats.org/officeDocument/2006/relationships/slide" Target="/ppt/slides/slide17.xml" Id="R295a467dbe80485a" /><Relationship Type="http://schemas.openxmlformats.org/officeDocument/2006/relationships/slide" Target="/ppt/slides/slide18.xml" Id="R7b1be02a6d0648c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a42d6808d4844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6a808c151a473b" /><Relationship Type="http://schemas.openxmlformats.org/officeDocument/2006/relationships/notesMaster" Target="/ppt/notesMasters/notesMaster1.xml" Id="Rca467146487849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12d9172548f447d" /><Relationship Type="http://schemas.openxmlformats.org/officeDocument/2006/relationships/notesMaster" Target="/ppt/notesMasters/notesMaster1.xml" Id="R5d74371136044702" /></Relationships>
</file>

<file path=ppt/notesSlides/_rels/notesSlide3.xml.rels>&#65279;<?xml version="1.0" encoding="utf-8"?><Relationships xmlns="http://schemas.openxmlformats.org/package/2006/relationships"><Relationship Type="http://schemas.openxmlformats.org/officeDocument/2006/relationships/slide" Target="/ppt/slides/slide3.xml" Id="Rb313315283af4c3a" /><Relationship Type="http://schemas.openxmlformats.org/officeDocument/2006/relationships/notesMaster" Target="/ppt/notesMasters/notesMaster1.xml" Id="R97486cd0533c45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5f9d153cfe224f51" /><Relationship Type="http://schemas.openxmlformats.org/officeDocument/2006/relationships/notesMaster" Target="/ppt/notesMasters/notesMaster1.xml" Id="R87e8bc43df1443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0b58ea6d05d44e16" /><Relationship Type="http://schemas.openxmlformats.org/officeDocument/2006/relationships/notesMaster" Target="/ppt/notesMasters/notesMaster1.xml" Id="R10ea11a619b24959" /></Relationships>
</file>

<file path=ppt/notesSlides/_rels/notesSlide6.xml.rels>&#65279;<?xml version="1.0" encoding="utf-8"?><Relationships xmlns="http://schemas.openxmlformats.org/package/2006/relationships"><Relationship Type="http://schemas.openxmlformats.org/officeDocument/2006/relationships/slide" Target="/ppt/slides/slide6.xml" Id="R6b28dc0474ae4a3b" /><Relationship Type="http://schemas.openxmlformats.org/officeDocument/2006/relationships/notesMaster" Target="/ppt/notesMasters/notesMaster1.xml" Id="R61968f4c840b422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3f86632af144c74" /><Relationship Type="http://schemas.openxmlformats.org/officeDocument/2006/relationships/notesMaster" Target="/ppt/notesMasters/notesMaster1.xml" Id="R10e521103dd14403" /></Relationships>
</file>

<file path=ppt/notesSlides/_rels/notesSlide8.xml.rels>&#65279;<?xml version="1.0" encoding="utf-8"?><Relationships xmlns="http://schemas.openxmlformats.org/package/2006/relationships"><Relationship Type="http://schemas.openxmlformats.org/officeDocument/2006/relationships/slide" Target="/ppt/slides/slide8.xml" Id="Rfb8fe19540954234" /><Relationship Type="http://schemas.openxmlformats.org/officeDocument/2006/relationships/notesMaster" Target="/ppt/notesMasters/notesMaster1.xml" Id="R3fff4d3829e142dc" /></Relationships>
</file>

<file path=ppt/notesSlides/_rels/notesSlide9.xml.rels>&#65279;<?xml version="1.0" encoding="utf-8"?><Relationships xmlns="http://schemas.openxmlformats.org/package/2006/relationships"><Relationship Type="http://schemas.openxmlformats.org/officeDocument/2006/relationships/slide" Target="/ppt/slides/slide9.xml" Id="R8ee4573f4b7f47d8" /><Relationship Type="http://schemas.openxmlformats.org/officeDocument/2006/relationships/notesMaster" Target="/ppt/notesMasters/notesMaster1.xml" Id="Rff201328501b4f8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359d36ae8824dd7" /><Relationship Type="http://schemas.openxmlformats.org/officeDocument/2006/relationships/notesMaster" Target="/ppt/notesMasters/notesMaster1.xml" Id="Rc990f2a0bcc64b5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876029ac66444ee" /><Relationship Type="http://schemas.openxmlformats.org/officeDocument/2006/relationships/notesMaster" Target="/ppt/notesMasters/notesMaster1.xml" Id="R63fbd150da41491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c7999bbb172473b" /><Relationship Type="http://schemas.openxmlformats.org/officeDocument/2006/relationships/notesMaster" Target="/ppt/notesMasters/notesMaster1.xml" Id="R54c2e9c5714f4ed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6f158e805d341ba" /><Relationship Type="http://schemas.openxmlformats.org/officeDocument/2006/relationships/notesMaster" Target="/ppt/notesMasters/notesMaster1.xml" Id="Rea1e7f13289049d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8512a1b95db4208" /><Relationship Type="http://schemas.openxmlformats.org/officeDocument/2006/relationships/notesMaster" Target="/ppt/notesMasters/notesMaster1.xml" Id="Rbedfb6480f864f0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2827ec3ae0d4f13" /><Relationship Type="http://schemas.openxmlformats.org/officeDocument/2006/relationships/notesMaster" Target="/ppt/notesMasters/notesMaster1.xml" Id="R4b0ef23e8fcd462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46e6be89d9e46c7" /><Relationship Type="http://schemas.openxmlformats.org/officeDocument/2006/relationships/notesMaster" Target="/ppt/notesMasters/notesMaster1.xml" Id="Ra783886ee1194f0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302d36ab3ad4354" /><Relationship Type="http://schemas.openxmlformats.org/officeDocument/2006/relationships/notesMaster" Target="/ppt/notesMasters/notesMaster1.xml" Id="Rab8076b0906b49e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84e509e56c149e2" /><Relationship Type="http://schemas.openxmlformats.org/officeDocument/2006/relationships/notesMaster" Target="/ppt/notesMasters/notesMaster1.xml" Id="Re2ca0be3d6d94d2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material: local POC result PDFs, jev-talk.pdf, Jev public documentation and AWS Bedrock model information.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Summary based on the three POC result PDFs and the System One framing in jev-talk.pdf.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jev-talk.pdf pages 12-14; Jev public guides identify TypeSafe AI and System One positioning.</a:t>
            </a:r>
          </a:p>
          <a:p xmlns:a="http://schemas.openxmlformats.org/drawingml/2006/main">
            <a:r>
              <a:t>Avoid overclaiming founder details beyond the supplied source and public guide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jev-talk.pdf pages 13-14 and pages 24-31; public Jev guides describe typed question primitives and System One positioning.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System 1/System 2 terminology follows the framing used in jev-talk.pdf and Jev public guides.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Jev public documentation and jev-talk.pdf pages 24-31. The endpoint and API specifics were validated during the local POC.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jev-talk.pdf limitations and public documentation stating Jev does not generate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pattern based on the implemented local Streamlit POC.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Local POC code and the three PDF exports. Claude Sonnet pricing inputs reflect the configured values in the POC PDFs.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Jev vs Claude Sonnet 4.5 Results Usecase1/2/3 PDFs.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Metrics calculated from Usecase1, Usecase2 and Usecase3 PDF exports. Estimated cost uses configured POC prices.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averages computed from the three POC result PDFs. Cost uses configured Jev and Bedrock prices visible in the PDFs.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case metrics and rationale are taken from the three attached POC PDF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Caveat: Claude's probabilities are self-reported by the LLM under a tool schema. Jev's probabilities are part of its decision API response. The UI displays probability of the chosen binary result while retaining raw P(Yes) for debugging.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Strengths reflect the local POC observations and the Jev positioning from jev-talk.pdf.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Design implications synthesize the POC and public Jev limitations.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steps should be completed before deciding production use from a three-case POC.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synthesis based on local POC and Jev System One positioning.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7a959e5ff0541e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51679075dbd4175" /><Relationship Type="http://schemas.openxmlformats.org/officeDocument/2006/relationships/slideLayout" Target="/ppt/slideLayouts/slideLayout1.xml" Id="R9af430012e114d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af430012e114d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65260c67cdb42d0" /><Relationship Type="http://schemas.openxmlformats.org/officeDocument/2006/relationships/notesSlide" Target="/ppt/notesSlides/notesSlide1.xml" Id="R7744abdb98bd4cd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1543b7b8bb5403d" /><Relationship Type="http://schemas.openxmlformats.org/officeDocument/2006/relationships/notesSlide" Target="/ppt/notesSlides/notesSlide2.xml" Id="R4dc23008133e4e9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98c79ce280e4fe4" /><Relationship Type="http://schemas.openxmlformats.org/officeDocument/2006/relationships/notesSlide" Target="/ppt/notesSlides/notesSlide3.xml" Id="Rb950fe860aec44c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20b5a7fe6d74b89" /><Relationship Type="http://schemas.openxmlformats.org/officeDocument/2006/relationships/notesSlide" Target="/ppt/notesSlides/notesSlide4.xml" Id="R92ce1f235e5d474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23a458771d94823" /><Relationship Type="http://schemas.openxmlformats.org/officeDocument/2006/relationships/notesSlide" Target="/ppt/notesSlides/notesSlide5.xml" Id="Rd655b46ee2c34e7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d044f1c09da42b9" /><Relationship Type="http://schemas.openxmlformats.org/officeDocument/2006/relationships/notesSlide" Target="/ppt/notesSlides/notesSlide6.xml" Id="R890a83ecdcd84e5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5f4a33a7d20475a" /><Relationship Type="http://schemas.openxmlformats.org/officeDocument/2006/relationships/notesSlide" Target="/ppt/notesSlides/notesSlide7.xml" Id="Ref31eee195b74bb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2651e1fd2124ab9" /><Relationship Type="http://schemas.openxmlformats.org/officeDocument/2006/relationships/notesSlide" Target="/ppt/notesSlides/notesSlide8.xml" Id="R7a94f61ea9ae421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ab28aacf86149b7" /><Relationship Type="http://schemas.openxmlformats.org/officeDocument/2006/relationships/notesSlide" Target="/ppt/notesSlides/notesSlide9.xml" Id="R6eb7f883293f4d0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e19dd3542284e8d" /><Relationship Type="http://schemas.openxmlformats.org/officeDocument/2006/relationships/notesSlide" Target="/ppt/notesSlides/notesSlide10.xml" Id="R54f0e8b89891403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bad0d72853d483c" /><Relationship Type="http://schemas.openxmlformats.org/officeDocument/2006/relationships/notesSlide" Target="/ppt/notesSlides/notesSlide11.xml" Id="Rc2c4dcf2b89c4b3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e8cf13656f34aac" /><Relationship Type="http://schemas.openxmlformats.org/officeDocument/2006/relationships/chart" Target="/ppt/slides/charts/chart1.xml" Id="Re63feea754dc4b5f" /><Relationship Type="http://schemas.openxmlformats.org/officeDocument/2006/relationships/chart" Target="/ppt/slides/charts/chart2.xml" Id="R8ff47792f7d7437c" /><Relationship Type="http://schemas.openxmlformats.org/officeDocument/2006/relationships/notesSlide" Target="/ppt/notesSlides/notesSlide12.xml" Id="R477a9f4142cd4ab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4822ec07f2942bd" /><Relationship Type="http://schemas.openxmlformats.org/officeDocument/2006/relationships/notesSlide" Target="/ppt/notesSlides/notesSlide13.xml" Id="Rf7762d52b59845c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33950df5ef54be7" /><Relationship Type="http://schemas.openxmlformats.org/officeDocument/2006/relationships/notesSlide" Target="/ppt/notesSlides/notesSlide14.xml" Id="R83969a50e0c748e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c8799b3c87442e8" /><Relationship Type="http://schemas.openxmlformats.org/officeDocument/2006/relationships/notesSlide" Target="/ppt/notesSlides/notesSlide15.xml" Id="R5826acf15dbe42e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b46e7e8927b44bf" /><Relationship Type="http://schemas.openxmlformats.org/officeDocument/2006/relationships/notesSlide" Target="/ppt/notesSlides/notesSlide16.xml" Id="R0dc4a12057e84f9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1d719d039aa4c78" /><Relationship Type="http://schemas.openxmlformats.org/officeDocument/2006/relationships/notesSlide" Target="/ppt/notesSlides/notesSlide17.xml" Id="Rc9fb1029237445a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21f9f4ef19c4411" /><Relationship Type="http://schemas.openxmlformats.org/officeDocument/2006/relationships/notesSlide" Target="/ppt/notesSlides/notesSlide18.xml" Id="Rbcea58113b6a45b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Average API latency (ms)</c:v>
          </c:tx>
          <c:spPr>
            <a:solidFill xmlns:a="http://schemas.openxmlformats.org/drawingml/2006/main">
              <a:srgbClr val="0F766E"/>
            </a:solidFill>
          </c:spPr>
          <c:cat>
            <c:strRef>
              <c:f>'Chart Data'!$A$2:$A$3</c:f>
              <c:strCache>
                <c:ptCount val="2"/>
                <c:pt idx="0">
                  <c:v>Jev</c:v>
                </c:pt>
                <c:pt idx="1">
                  <c:v>Claude</c:v>
                </c:pt>
              </c:strCache>
            </c:strRef>
          </c:cat>
          <c:val>
            <c:numRef>
              <c:f>'Chart Data'!$B$2:$B$3</c:f>
              <c:numCache>
                <c:formatCode>0</c:formatCode>
                <c:ptCount val="2"/>
                <c:pt idx="0">
                  <c:v>970</c:v>
                </c:pt>
                <c:pt idx="1">
                  <c:v>4741</c:v>
                </c:pt>
              </c:numCache>
            </c:numRef>
          </c:val>
        </c:ser>
        <c:dLbls>
          <c:txPr>
            <a:bodyPr xmlns:a="http://schemas.openxmlformats.org/drawingml/2006/main" anchorCtr="1"/>
            <a:lstStyle xmlns:a="http://schemas.openxmlformats.org/drawingml/2006/main"/>
            <a:p xmlns:a="http://schemas.openxmlformats.org/drawingml/2006/main">
              <a:pPr>
                <a:defRPr sz="975" b="1">
                  <a:solidFill>
                    <a:srgbClr val="172033"/>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172033"/>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5E7EB"/>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57083"/>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Estimated cost per run (USD)</c:v>
          </c:tx>
          <c:spPr>
            <a:solidFill xmlns:a="http://schemas.openxmlformats.org/drawingml/2006/main">
              <a:srgbClr val="4768FF"/>
            </a:solidFill>
          </c:spPr>
          <c:cat>
            <c:strRef>
              <c:f>'Chart Data'!$A$2:$A$3</c:f>
              <c:strCache>
                <c:ptCount val="2"/>
                <c:pt idx="0">
                  <c:v>Jev</c:v>
                </c:pt>
                <c:pt idx="1">
                  <c:v>Claude</c:v>
                </c:pt>
              </c:strCache>
            </c:strRef>
          </c:cat>
          <c:val>
            <c:numRef>
              <c:f>'Chart Data'!$B$2:$B$3</c:f>
              <c:numCache>
                <c:formatCode>$0.0000</c:formatCode>
                <c:ptCount val="2"/>
                <c:pt idx="0">
                  <c:v>2.072E-05</c:v>
                </c:pt>
                <c:pt idx="1">
                  <c:v>0.0069311</c:v>
                </c:pt>
              </c:numCache>
            </c:numRef>
          </c:val>
        </c:ser>
        <c:dLbls>
          <c:txPr>
            <a:bodyPr xmlns:a="http://schemas.openxmlformats.org/drawingml/2006/main" anchorCtr="1"/>
            <a:lstStyle xmlns:a="http://schemas.openxmlformats.org/drawingml/2006/main"/>
            <a:p xmlns:a="http://schemas.openxmlformats.org/drawingml/2006/main">
              <a:pPr>
                <a:defRPr sz="975" b="1">
                  <a:solidFill>
                    <a:srgbClr val="172033"/>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172033"/>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5E7EB"/>
              </a:solidFill>
              <a:prstDash val="solid"/>
            </a:ln>
          </c:spPr>
        </c:majorGridlines>
        <c:numFmt formatCode="$0.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57083"/>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03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66EA3CC-3E8B-4073-ACF6-0DEF7446FA3A}"/>
              </a:ext>
            </a:extLst>
          </p:cNvPr>
          <p:cNvSpPr>
            <a:spLocks xmlns:a="http://schemas.openxmlformats.org/drawingml/2006/main" noGrp="1"/>
          </p:cNvSpPr>
          <p:nvPr/>
        </p:nvSpPr>
        <p:spPr>
          <a:xfrm xmlns:a="http://schemas.openxmlformats.org/drawingml/2006/main">
            <a:off x="666750" y="1619250"/>
            <a:ext cx="723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200" b="1">
                <a:solidFill>
                  <a:srgbClr val="FFFFFF"/>
                </a:solidFill>
                <a:latin typeface="Arial"/>
                <a:ea typeface="Arial"/>
                <a:cs typeface="Arial"/>
              </a:defRPr>
            </a:pPr>
            <a:r>
              <a:rPr sz="4200" b="1">
                <a:solidFill>
                  <a:srgbClr val="FFFFFF"/>
                </a:solidFill>
                <a:latin typeface="Arial"/>
                <a:ea typeface="Arial"/>
                <a:cs typeface="Arial"/>
              </a:rPr>
              <a:t>Jev Evaluation</a:t>
            </a:r>
          </a:p>
        </p:txBody>
      </p:sp>
      <p:sp>
        <p:nvSpPr>
          <p:cNvPr id="2" name="">
            <a:extLst xmlns:a="http://schemas.openxmlformats.org/drawingml/2006/main">
              <a:ext uri="{FF2B5EF4-FFF2-40B4-BE49-F238E27FC236}">
                <a16:creationId xmlns:a16="http://schemas.microsoft.com/office/drawing/2014/main" id="{6F401BA0-2849-48A6-A3C9-1BBC31898835}"/>
              </a:ext>
            </a:extLst>
          </p:cNvPr>
          <p:cNvSpPr>
            <a:spLocks xmlns:a="http://schemas.openxmlformats.org/drawingml/2006/main" noGrp="1"/>
          </p:cNvSpPr>
          <p:nvPr/>
        </p:nvSpPr>
        <p:spPr>
          <a:xfrm xmlns:a="http://schemas.openxmlformats.org/drawingml/2006/main">
            <a:off x="704850" y="2457450"/>
            <a:ext cx="857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DDE5EF"/>
                </a:solidFill>
                <a:latin typeface="Arial"/>
                <a:ea typeface="Arial"/>
                <a:cs typeface="Arial"/>
              </a:defRPr>
            </a:pPr>
            <a:r>
              <a:rPr sz="1875" b="0">
                <a:solidFill>
                  <a:srgbClr val="DDE5EF"/>
                </a:solidFill>
                <a:latin typeface="Arial"/>
                <a:ea typeface="Arial"/>
                <a:cs typeface="Arial"/>
              </a:rPr>
              <a:t>System One decisioning compared with Claude Sonnet 4.5</a:t>
            </a:r>
          </a:p>
        </p:txBody>
      </p:sp>
      <p:sp>
        <p:nvSpPr>
          <p:cNvPr id="3" name="">
            <a:extLst xmlns:a="http://schemas.openxmlformats.org/drawingml/2006/main">
              <a:ext uri="{FF2B5EF4-FFF2-40B4-BE49-F238E27FC236}">
                <a16:creationId xmlns:a16="http://schemas.microsoft.com/office/drawing/2014/main" id="{E8A7D288-4FD8-48AE-B82B-D712D09080F4}"/>
              </a:ext>
            </a:extLst>
          </p:cNvPr>
          <p:cNvSpPr>
            <a:spLocks xmlns:a="http://schemas.openxmlformats.org/drawingml/2006/main" noGrp="1"/>
          </p:cNvSpPr>
          <p:nvPr/>
        </p:nvSpPr>
        <p:spPr>
          <a:xfrm xmlns:a="http://schemas.openxmlformats.org/drawingml/2006/main">
            <a:off x="704850" y="5886450"/>
            <a:ext cx="590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AAB6C8"/>
                </a:solidFill>
                <a:latin typeface="Arial"/>
                <a:ea typeface="Arial"/>
                <a:cs typeface="Arial"/>
              </a:defRPr>
            </a:pPr>
            <a:r>
              <a:rPr sz="1275" b="0">
                <a:solidFill>
                  <a:srgbClr val="AAB6C8"/>
                </a:solidFill>
                <a:latin typeface="Arial"/>
                <a:ea typeface="Arial"/>
                <a:cs typeface="Arial"/>
              </a:rPr>
              <a:t>Knowledge sharing deck for technical audience</a:t>
            </a:r>
          </a:p>
        </p:txBody>
      </p:sp>
      <p:sp>
        <p:nvSpPr>
          <p:cNvPr id="4" name="">
            <a:extLst xmlns:a="http://schemas.openxmlformats.org/drawingml/2006/main">
              <a:ext uri="{FF2B5EF4-FFF2-40B4-BE49-F238E27FC236}">
                <a16:creationId xmlns:a16="http://schemas.microsoft.com/office/drawing/2014/main" id="{DA760C26-F661-445E-8EA9-AF8D80C346D1}"/>
              </a:ext>
            </a:extLst>
          </p:cNvPr>
          <p:cNvSpPr>
            <a:spLocks xmlns:a="http://schemas.openxmlformats.org/drawingml/2006/main" noGrp="1"/>
          </p:cNvSpPr>
          <p:nvPr/>
        </p:nvSpPr>
        <p:spPr>
          <a:xfrm xmlns:a="http://schemas.openxmlformats.org/drawingml/2006/main">
            <a:off x="685800" y="3181350"/>
            <a:ext cx="4476750" cy="76200"/>
          </a:xfrm>
          <a:prstGeom xmlns:a="http://schemas.openxmlformats.org/drawingml/2006/main" prst="roundRect">
            <a:avLst>
              <a:gd name="adj" fmla="val 50000"/>
            </a:avLst>
          </a:prstGeom>
          <a:solidFill xmlns:a="http://schemas.openxmlformats.org/drawingml/2006/main">
            <a:srgbClr val="A7F43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9F32C2C-118C-4F83-87FB-088CA03757C1}"/>
              </a:ext>
            </a:extLst>
          </p:cNvPr>
          <p:cNvSpPr>
            <a:spLocks xmlns:a="http://schemas.openxmlformats.org/drawingml/2006/main" noGrp="1"/>
          </p:cNvSpPr>
          <p:nvPr/>
        </p:nvSpPr>
        <p:spPr>
          <a:xfrm xmlns:a="http://schemas.openxmlformats.org/drawingml/2006/main">
            <a:off x="685800" y="3543300"/>
            <a:ext cx="781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Typed decisions. Calibrated probabilities. Low-latency branching.</a:t>
            </a:r>
          </a:p>
        </p:txBody>
      </p:sp>
      <p:sp>
        <p:nvSpPr>
          <p:cNvPr id="6" name="">
            <a:extLst xmlns:a="http://schemas.openxmlformats.org/drawingml/2006/main">
              <a:ext uri="{FF2B5EF4-FFF2-40B4-BE49-F238E27FC236}">
                <a16:creationId xmlns:a16="http://schemas.microsoft.com/office/drawing/2014/main" id="{85713468-309A-49ED-B4E0-E4010FE7D406}"/>
              </a:ext>
            </a:extLst>
          </p:cNvPr>
          <p:cNvSpPr>
            <a:spLocks xmlns:a="http://schemas.openxmlformats.org/drawingml/2006/main" noGrp="1"/>
          </p:cNvSpPr>
          <p:nvPr/>
        </p:nvSpPr>
        <p:spPr>
          <a:xfrm xmlns:a="http://schemas.openxmlformats.org/drawingml/2006/main">
            <a:off x="10934700" y="6362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657083"/>
                </a:solidFill>
                <a:latin typeface="Arial"/>
                <a:ea typeface="Arial"/>
                <a:cs typeface="Arial"/>
              </a:defRPr>
            </a:pPr>
            <a:r>
              <a:rPr sz="900" b="1">
                <a:solidFill>
                  <a:srgbClr val="657083"/>
                </a:solidFill>
                <a:latin typeface="Arial"/>
                <a:ea typeface="Arial"/>
                <a:cs typeface="Arial"/>
              </a:rPr>
              <a:t>01</a:t>
            </a:r>
          </a:p>
        </p:txBody>
      </p:sp>
    </p:spTree>
    <p:extLst>
      <p:ext uri="{BB962C8B-B14F-4D97-AF65-F5344CB8AC3E}">
        <p14:creationId xmlns:p14="http://schemas.microsoft.com/office/powerpoint/2010/main" val="1323587903"/>
      </p:ext>
    </p:extLst>
  </p:cSld>
</p:sld>
</file>

<file path=ppt/slides/slide2.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6BBBAA7-68C8-4267-8B9D-1424D9B45D9C}"/>
              </a:ext>
            </a:extLst>
          </p:cNvPr>
          <p:cNvSpPr>
            <a:spLocks xmlns:a="http://schemas.openxmlformats.org/drawingml/2006/main" noGrp="1"/>
          </p:cNvSpPr>
          <p:nvPr/>
        </p:nvSpPr>
        <p:spPr>
          <a:xfrm xmlns:a="http://schemas.openxmlformats.org/drawingml/2006/main">
            <a:off x="609600" y="3238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0F766E"/>
                </a:solidFill>
                <a:latin typeface="Arial"/>
                <a:ea typeface="Arial"/>
                <a:cs typeface="Arial"/>
              </a:defRPr>
            </a:pPr>
            <a:r>
              <a:rPr sz="975" b="1">
                <a:solidFill>
                  <a:srgbClr val="0F766E"/>
                </a:solidFill>
                <a:latin typeface="Arial"/>
                <a:ea typeface="Arial"/>
                <a:cs typeface="Arial"/>
              </a:rPr>
              <a:t>JEV EVALUATION</a:t>
            </a:r>
          </a:p>
        </p:txBody>
      </p:sp>
      <p:sp>
        <p:nvSpPr>
          <p:cNvPr id="2" name="">
            <a:extLst xmlns:a="http://schemas.openxmlformats.org/drawingml/2006/main">
              <a:ext uri="{FF2B5EF4-FFF2-40B4-BE49-F238E27FC236}">
                <a16:creationId xmlns:a16="http://schemas.microsoft.com/office/drawing/2014/main" id="{591BBDC8-D428-456A-9405-3E4E0C5C020B}"/>
              </a:ext>
            </a:extLst>
          </p:cNvPr>
          <p:cNvSpPr>
            <a:spLocks xmlns:a="http://schemas.openxmlformats.org/drawingml/2006/main" noGrp="1"/>
          </p:cNvSpPr>
          <p:nvPr/>
        </p:nvSpPr>
        <p:spPr>
          <a:xfrm xmlns:a="http://schemas.openxmlformats.org/drawingml/2006/main">
            <a:off x="609600" y="6286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33"/>
                </a:solidFill>
                <a:latin typeface="Arial"/>
                <a:ea typeface="Arial"/>
                <a:cs typeface="Arial"/>
              </a:defRPr>
            </a:pPr>
            <a:r>
              <a:rPr sz="2550" b="1">
                <a:solidFill>
                  <a:srgbClr val="172033"/>
                </a:solidFill>
                <a:latin typeface="Arial"/>
                <a:ea typeface="Arial"/>
                <a:cs typeface="Arial"/>
              </a:rPr>
              <a:t>Executive summary</a:t>
            </a:r>
          </a:p>
        </p:txBody>
      </p:sp>
      <p:sp>
        <p:nvSpPr>
          <p:cNvPr id="3" name="">
            <a:extLst xmlns:a="http://schemas.openxmlformats.org/drawingml/2006/main">
              <a:ext uri="{FF2B5EF4-FFF2-40B4-BE49-F238E27FC236}">
                <a16:creationId xmlns:a16="http://schemas.microsoft.com/office/drawing/2014/main" id="{70373B3D-B136-4007-8F7E-43561CE1D0C2}"/>
              </a:ext>
            </a:extLst>
          </p:cNvPr>
          <p:cNvSpPr>
            <a:spLocks xmlns:a="http://schemas.openxmlformats.org/drawingml/2006/main" noGrp="1"/>
          </p:cNvSpPr>
          <p:nvPr/>
        </p:nvSpPr>
        <p:spPr>
          <a:xfrm xmlns:a="http://schemas.openxmlformats.org/drawingml/2006/main">
            <a:off x="609600" y="1200150"/>
            <a:ext cx="10763250" cy="0"/>
          </a:xfrm>
          <a:prstGeom xmlns:a="http://schemas.openxmlformats.org/drawingml/2006/main" prst="line">
            <a:avLst/>
          </a:prstGeom>
          <a:noFill xmlns:a="http://schemas.openxmlformats.org/drawingml/2006/main"/>
          <a:ln xmlns:a="http://schemas.openxmlformats.org/drawingml/2006/main" w="9525">
            <a:solidFill>
              <a:srgbClr val="D9DEE8"/>
            </a:solidFill>
            <a:prstDash val="solid"/>
          </a:ln>
        </p:spPr>
      </p:sp>
      <p:sp>
        <p:nvSpPr>
          <p:cNvPr id="4" name="">
            <a:extLst xmlns:a="http://schemas.openxmlformats.org/drawingml/2006/main">
              <a:ext uri="{FF2B5EF4-FFF2-40B4-BE49-F238E27FC236}">
                <a16:creationId xmlns:a16="http://schemas.microsoft.com/office/drawing/2014/main" id="{332AA7D6-910C-4289-97E6-5BA9D824F49F}"/>
              </a:ext>
            </a:extLst>
          </p:cNvPr>
          <p:cNvSpPr>
            <a:spLocks xmlns:a="http://schemas.openxmlformats.org/drawingml/2006/main" noGrp="1"/>
          </p:cNvSpPr>
          <p:nvPr/>
        </p:nvSpPr>
        <p:spPr>
          <a:xfrm xmlns:a="http://schemas.openxmlformats.org/drawingml/2006/main">
            <a:off x="723900" y="150495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102033"/>
                </a:solidFill>
                <a:latin typeface="Arial"/>
                <a:ea typeface="Arial"/>
                <a:cs typeface="Arial"/>
              </a:defRPr>
            </a:pPr>
            <a:r>
              <a:rPr sz="2100" b="1">
                <a:solidFill>
                  <a:srgbClr val="102033"/>
                </a:solidFill>
                <a:latin typeface="Arial"/>
                <a:ea typeface="Arial"/>
                <a:cs typeface="Arial"/>
              </a:rPr>
              <a:t>Jev should be evaluated as a fast decisioning model, not as a general LLM replacement.</a:t>
            </a:r>
          </a:p>
        </p:txBody>
      </p:sp>
      <p:sp>
        <p:nvSpPr>
          <p:cNvPr id="5" name="">
            <a:extLst xmlns:a="http://schemas.openxmlformats.org/drawingml/2006/main">
              <a:ext uri="{FF2B5EF4-FFF2-40B4-BE49-F238E27FC236}">
                <a16:creationId xmlns:a16="http://schemas.microsoft.com/office/drawing/2014/main" id="{5C14D448-4423-40A9-B204-ACB96B998B15}"/>
              </a:ext>
            </a:extLst>
          </p:cNvPr>
          <p:cNvSpPr>
            <a:spLocks xmlns:a="http://schemas.openxmlformats.org/drawingml/2006/main" noGrp="1"/>
          </p:cNvSpPr>
          <p:nvPr/>
        </p:nvSpPr>
        <p:spPr>
          <a:xfrm xmlns:a="http://schemas.openxmlformats.org/drawingml/2006/main">
            <a:off x="800100" y="240030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B2C7AD9-5147-47D1-A002-250ECD5BE05C}"/>
              </a:ext>
            </a:extLst>
          </p:cNvPr>
          <p:cNvSpPr>
            <a:spLocks xmlns:a="http://schemas.openxmlformats.org/drawingml/2006/main" noGrp="1"/>
          </p:cNvSpPr>
          <p:nvPr/>
        </p:nvSpPr>
        <p:spPr>
          <a:xfrm xmlns:a="http://schemas.openxmlformats.org/drawingml/2006/main">
            <a:off x="1009650" y="2324100"/>
            <a:ext cx="100774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Jev is designed for narrow, typed judgments that software can consume directly.</a:t>
            </a:r>
          </a:p>
        </p:txBody>
      </p:sp>
      <p:sp>
        <p:nvSpPr>
          <p:cNvPr id="7" name="">
            <a:extLst xmlns:a="http://schemas.openxmlformats.org/drawingml/2006/main">
              <a:ext uri="{FF2B5EF4-FFF2-40B4-BE49-F238E27FC236}">
                <a16:creationId xmlns:a16="http://schemas.microsoft.com/office/drawing/2014/main" id="{2C04F2B7-CA64-490A-9CBE-7B74006C4D2E}"/>
              </a:ext>
            </a:extLst>
          </p:cNvPr>
          <p:cNvSpPr>
            <a:spLocks xmlns:a="http://schemas.openxmlformats.org/drawingml/2006/main" noGrp="1"/>
          </p:cNvSpPr>
          <p:nvPr/>
        </p:nvSpPr>
        <p:spPr>
          <a:xfrm xmlns:a="http://schemas.openxmlformats.org/drawingml/2006/main">
            <a:off x="800100" y="297180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04D446E-ECCA-4BC6-AE1F-81C312C97FAB}"/>
              </a:ext>
            </a:extLst>
          </p:cNvPr>
          <p:cNvSpPr>
            <a:spLocks xmlns:a="http://schemas.openxmlformats.org/drawingml/2006/main" noGrp="1"/>
          </p:cNvSpPr>
          <p:nvPr/>
        </p:nvSpPr>
        <p:spPr>
          <a:xfrm xmlns:a="http://schemas.openxmlformats.org/drawingml/2006/main">
            <a:off x="1009650" y="2895600"/>
            <a:ext cx="100774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Claude Sonnet remains stronger for open-ended reasoning, prose generation and explanation-heavy workflows.</a:t>
            </a:r>
          </a:p>
        </p:txBody>
      </p:sp>
      <p:sp>
        <p:nvSpPr>
          <p:cNvPr id="9" name="">
            <a:extLst xmlns:a="http://schemas.openxmlformats.org/drawingml/2006/main">
              <a:ext uri="{FF2B5EF4-FFF2-40B4-BE49-F238E27FC236}">
                <a16:creationId xmlns:a16="http://schemas.microsoft.com/office/drawing/2014/main" id="{70EE4E17-C981-403B-A773-AB5703ECB586}"/>
              </a:ext>
            </a:extLst>
          </p:cNvPr>
          <p:cNvSpPr>
            <a:spLocks xmlns:a="http://schemas.openxmlformats.org/drawingml/2006/main" noGrp="1"/>
          </p:cNvSpPr>
          <p:nvPr/>
        </p:nvSpPr>
        <p:spPr>
          <a:xfrm xmlns:a="http://schemas.openxmlformats.org/drawingml/2006/main">
            <a:off x="800100" y="354330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1A539D4-3C27-4CE0-9F09-C7362C92EB72}"/>
              </a:ext>
            </a:extLst>
          </p:cNvPr>
          <p:cNvSpPr>
            <a:spLocks xmlns:a="http://schemas.openxmlformats.org/drawingml/2006/main" noGrp="1"/>
          </p:cNvSpPr>
          <p:nvPr/>
        </p:nvSpPr>
        <p:spPr>
          <a:xfrm xmlns:a="http://schemas.openxmlformats.org/drawingml/2006/main">
            <a:off x="1009650" y="3467100"/>
            <a:ext cx="100774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In the POC, both platforms matched the expected outputs across three support-ticket cases.</a:t>
            </a:r>
          </a:p>
        </p:txBody>
      </p:sp>
      <p:sp>
        <p:nvSpPr>
          <p:cNvPr id="11" name="">
            <a:extLst xmlns:a="http://schemas.openxmlformats.org/drawingml/2006/main">
              <a:ext uri="{FF2B5EF4-FFF2-40B4-BE49-F238E27FC236}">
                <a16:creationId xmlns:a16="http://schemas.microsoft.com/office/drawing/2014/main" id="{99A93FAC-61E5-4B3D-B0AB-4DA2AF22F118}"/>
              </a:ext>
            </a:extLst>
          </p:cNvPr>
          <p:cNvSpPr>
            <a:spLocks xmlns:a="http://schemas.openxmlformats.org/drawingml/2006/main" noGrp="1"/>
          </p:cNvSpPr>
          <p:nvPr/>
        </p:nvSpPr>
        <p:spPr>
          <a:xfrm xmlns:a="http://schemas.openxmlformats.org/drawingml/2006/main">
            <a:off x="800100" y="411480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55A8FD0-FE58-4A2D-93F4-53B25C1DE5A2}"/>
              </a:ext>
            </a:extLst>
          </p:cNvPr>
          <p:cNvSpPr>
            <a:spLocks xmlns:a="http://schemas.openxmlformats.org/drawingml/2006/main" noGrp="1"/>
          </p:cNvSpPr>
          <p:nvPr/>
        </p:nvSpPr>
        <p:spPr>
          <a:xfrm xmlns:a="http://schemas.openxmlformats.org/drawingml/2006/main">
            <a:off x="1009650" y="4038600"/>
            <a:ext cx="100774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Jev showed materially lower latency and estimated cost on this structured decisioning workload.</a:t>
            </a:r>
          </a:p>
        </p:txBody>
      </p:sp>
      <p:sp>
        <p:nvSpPr>
          <p:cNvPr id="13" name="">
            <a:extLst xmlns:a="http://schemas.openxmlformats.org/drawingml/2006/main">
              <a:ext uri="{FF2B5EF4-FFF2-40B4-BE49-F238E27FC236}">
                <a16:creationId xmlns:a16="http://schemas.microsoft.com/office/drawing/2014/main" id="{AC7E8E79-F249-4BC6-9F38-85E4444CF4B3}"/>
              </a:ext>
            </a:extLst>
          </p:cNvPr>
          <p:cNvSpPr>
            <a:spLocks xmlns:a="http://schemas.openxmlformats.org/drawingml/2006/main" noGrp="1"/>
          </p:cNvSpPr>
          <p:nvPr/>
        </p:nvSpPr>
        <p:spPr>
          <a:xfrm xmlns:a="http://schemas.openxmlformats.org/drawingml/2006/main">
            <a:off x="800100" y="468630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D22E871-1535-410B-9A94-499ED86E385E}"/>
              </a:ext>
            </a:extLst>
          </p:cNvPr>
          <p:cNvSpPr>
            <a:spLocks xmlns:a="http://schemas.openxmlformats.org/drawingml/2006/main" noGrp="1"/>
          </p:cNvSpPr>
          <p:nvPr/>
        </p:nvSpPr>
        <p:spPr>
          <a:xfrm xmlns:a="http://schemas.openxmlformats.org/drawingml/2006/main">
            <a:off x="1009650" y="4610100"/>
            <a:ext cx="100774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The recommended pattern is hybrid: Jev for high-volume decisions, LLMs for escalation and language output.</a:t>
            </a:r>
          </a:p>
        </p:txBody>
      </p:sp>
      <p:sp>
        <p:nvSpPr>
          <p:cNvPr id="15" name="">
            <a:extLst xmlns:a="http://schemas.openxmlformats.org/drawingml/2006/main">
              <a:ext uri="{FF2B5EF4-FFF2-40B4-BE49-F238E27FC236}">
                <a16:creationId xmlns:a16="http://schemas.microsoft.com/office/drawing/2014/main" id="{23D0AB6F-85FA-4816-8B41-6313A8C4616F}"/>
              </a:ext>
            </a:extLst>
          </p:cNvPr>
          <p:cNvSpPr>
            <a:spLocks xmlns:a="http://schemas.openxmlformats.org/drawingml/2006/main" noGrp="1"/>
          </p:cNvSpPr>
          <p:nvPr/>
        </p:nvSpPr>
        <p:spPr>
          <a:xfrm xmlns:a="http://schemas.openxmlformats.org/drawingml/2006/main">
            <a:off x="10934700" y="6362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657083"/>
                </a:solidFill>
                <a:latin typeface="Arial"/>
                <a:ea typeface="Arial"/>
                <a:cs typeface="Arial"/>
              </a:defRPr>
            </a:pPr>
            <a:r>
              <a:rPr sz="900" b="1">
                <a:solidFill>
                  <a:srgbClr val="657083"/>
                </a:solidFill>
                <a:latin typeface="Arial"/>
                <a:ea typeface="Arial"/>
                <a:cs typeface="Arial"/>
              </a:rPr>
              <a:t>02</a:t>
            </a:r>
          </a:p>
        </p:txBody>
      </p:sp>
    </p:spTree>
    <p:extLst>
      <p:ext uri="{BB962C8B-B14F-4D97-AF65-F5344CB8AC3E}">
        <p14:creationId xmlns:p14="http://schemas.microsoft.com/office/powerpoint/2010/main" val="669755267"/>
      </p:ext>
    </p:extLst>
  </p:cSld>
</p:sld>
</file>

<file path=ppt/slides/slide3.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4A55949-27ED-4787-9C2C-C4EF28139F3B}"/>
              </a:ext>
            </a:extLst>
          </p:cNvPr>
          <p:cNvSpPr>
            <a:spLocks xmlns:a="http://schemas.openxmlformats.org/drawingml/2006/main" noGrp="1"/>
          </p:cNvSpPr>
          <p:nvPr/>
        </p:nvSpPr>
        <p:spPr>
          <a:xfrm xmlns:a="http://schemas.openxmlformats.org/drawingml/2006/main">
            <a:off x="609600" y="3238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0F766E"/>
                </a:solidFill>
                <a:latin typeface="Arial"/>
                <a:ea typeface="Arial"/>
                <a:cs typeface="Arial"/>
              </a:defRPr>
            </a:pPr>
            <a:r>
              <a:rPr sz="975" b="1">
                <a:solidFill>
                  <a:srgbClr val="0F766E"/>
                </a:solidFill>
                <a:latin typeface="Arial"/>
                <a:ea typeface="Arial"/>
                <a:cs typeface="Arial"/>
              </a:rPr>
              <a:t>JEV EVALUATION</a:t>
            </a:r>
          </a:p>
        </p:txBody>
      </p:sp>
      <p:sp>
        <p:nvSpPr>
          <p:cNvPr id="2" name="">
            <a:extLst xmlns:a="http://schemas.openxmlformats.org/drawingml/2006/main">
              <a:ext uri="{FF2B5EF4-FFF2-40B4-BE49-F238E27FC236}">
                <a16:creationId xmlns:a16="http://schemas.microsoft.com/office/drawing/2014/main" id="{16969218-E1E1-40A1-B1F5-4C51B74D1869}"/>
              </a:ext>
            </a:extLst>
          </p:cNvPr>
          <p:cNvSpPr>
            <a:spLocks xmlns:a="http://schemas.openxmlformats.org/drawingml/2006/main" noGrp="1"/>
          </p:cNvSpPr>
          <p:nvPr/>
        </p:nvSpPr>
        <p:spPr>
          <a:xfrm xmlns:a="http://schemas.openxmlformats.org/drawingml/2006/main">
            <a:off x="609600" y="6286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33"/>
                </a:solidFill>
                <a:latin typeface="Arial"/>
                <a:ea typeface="Arial"/>
                <a:cs typeface="Arial"/>
              </a:defRPr>
            </a:pPr>
            <a:r>
              <a:rPr sz="2550" b="1">
                <a:solidFill>
                  <a:srgbClr val="172033"/>
                </a:solidFill>
                <a:latin typeface="Arial"/>
                <a:ea typeface="Arial"/>
                <a:cs typeface="Arial"/>
              </a:rPr>
              <a:t>Who created Jev</a:t>
            </a:r>
          </a:p>
        </p:txBody>
      </p:sp>
      <p:sp>
        <p:nvSpPr>
          <p:cNvPr id="3" name="">
            <a:extLst xmlns:a="http://schemas.openxmlformats.org/drawingml/2006/main">
              <a:ext uri="{FF2B5EF4-FFF2-40B4-BE49-F238E27FC236}">
                <a16:creationId xmlns:a16="http://schemas.microsoft.com/office/drawing/2014/main" id="{F32FD5A6-8514-4FE0-AE2F-B724395E0583}"/>
              </a:ext>
            </a:extLst>
          </p:cNvPr>
          <p:cNvSpPr>
            <a:spLocks xmlns:a="http://schemas.openxmlformats.org/drawingml/2006/main" noGrp="1"/>
          </p:cNvSpPr>
          <p:nvPr/>
        </p:nvSpPr>
        <p:spPr>
          <a:xfrm xmlns:a="http://schemas.openxmlformats.org/drawingml/2006/main">
            <a:off x="609600" y="1200150"/>
            <a:ext cx="10763250" cy="0"/>
          </a:xfrm>
          <a:prstGeom xmlns:a="http://schemas.openxmlformats.org/drawingml/2006/main" prst="line">
            <a:avLst/>
          </a:prstGeom>
          <a:noFill xmlns:a="http://schemas.openxmlformats.org/drawingml/2006/main"/>
          <a:ln xmlns:a="http://schemas.openxmlformats.org/drawingml/2006/main" w="9525">
            <a:solidFill>
              <a:srgbClr val="D9DEE8"/>
            </a:solidFill>
            <a:prstDash val="solid"/>
          </a:ln>
        </p:spPr>
      </p:sp>
      <p:sp>
        <p:nvSpPr>
          <p:cNvPr id="4" name="">
            <a:extLst xmlns:a="http://schemas.openxmlformats.org/drawingml/2006/main">
              <a:ext uri="{FF2B5EF4-FFF2-40B4-BE49-F238E27FC236}">
                <a16:creationId xmlns:a16="http://schemas.microsoft.com/office/drawing/2014/main" id="{14081295-0AE0-451E-8B34-983B771A35F2}"/>
              </a:ext>
            </a:extLst>
          </p:cNvPr>
          <p:cNvSpPr>
            <a:spLocks xmlns:a="http://schemas.openxmlformats.org/drawingml/2006/main" noGrp="1"/>
          </p:cNvSpPr>
          <p:nvPr/>
        </p:nvSpPr>
        <p:spPr>
          <a:xfrm xmlns:a="http://schemas.openxmlformats.org/drawingml/2006/main">
            <a:off x="685800" y="1581150"/>
            <a:ext cx="10382250" cy="3905250"/>
          </a:xfrm>
          <a:prstGeom xmlns:a="http://schemas.openxmlformats.org/drawingml/2006/main" prst="roundRect">
            <a:avLst>
              <a:gd name="adj" fmla="val 2927"/>
            </a:avLst>
          </a:prstGeom>
          <a:solidFill xmlns:a="http://schemas.openxmlformats.org/drawingml/2006/main">
            <a:srgbClr val="FFFFFF"/>
          </a:solidFill>
          <a:ln xmlns:a="http://schemas.openxmlformats.org/drawingml/2006/main" w="9525">
            <a:solidFill>
              <a:srgbClr val="D9DEE8"/>
            </a:solidFill>
            <a:prstDash val="solid"/>
          </a:ln>
        </p:spPr>
      </p:sp>
      <p:sp>
        <p:nvSpPr>
          <p:cNvPr id="5" name="">
            <a:extLst xmlns:a="http://schemas.openxmlformats.org/drawingml/2006/main">
              <a:ext uri="{FF2B5EF4-FFF2-40B4-BE49-F238E27FC236}">
                <a16:creationId xmlns:a16="http://schemas.microsoft.com/office/drawing/2014/main" id="{501F3C6D-711F-4697-8627-B06E7544C826}"/>
              </a:ext>
            </a:extLst>
          </p:cNvPr>
          <p:cNvSpPr>
            <a:spLocks xmlns:a="http://schemas.openxmlformats.org/drawingml/2006/main" noGrp="1"/>
          </p:cNvSpPr>
          <p:nvPr/>
        </p:nvSpPr>
        <p:spPr>
          <a:xfrm xmlns:a="http://schemas.openxmlformats.org/drawingml/2006/main">
            <a:off x="1047750" y="194310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02033"/>
                </a:solidFill>
                <a:latin typeface="Arial"/>
                <a:ea typeface="Arial"/>
                <a:cs typeface="Arial"/>
              </a:defRPr>
            </a:pPr>
            <a:r>
              <a:rPr sz="2550" b="1">
                <a:solidFill>
                  <a:srgbClr val="102033"/>
                </a:solidFill>
                <a:latin typeface="Arial"/>
                <a:ea typeface="Arial"/>
                <a:cs typeface="Arial"/>
              </a:rPr>
              <a:t>TypeSafe AI</a:t>
            </a:r>
          </a:p>
        </p:txBody>
      </p:sp>
      <p:sp>
        <p:nvSpPr>
          <p:cNvPr id="6" name="">
            <a:extLst xmlns:a="http://schemas.openxmlformats.org/drawingml/2006/main">
              <a:ext uri="{FF2B5EF4-FFF2-40B4-BE49-F238E27FC236}">
                <a16:creationId xmlns:a16="http://schemas.microsoft.com/office/drawing/2014/main" id="{CA38EA7C-FD5D-4A17-ACFB-FC4797783A5D}"/>
              </a:ext>
            </a:extLst>
          </p:cNvPr>
          <p:cNvSpPr>
            <a:spLocks xmlns:a="http://schemas.openxmlformats.org/drawingml/2006/main" noGrp="1"/>
          </p:cNvSpPr>
          <p:nvPr/>
        </p:nvSpPr>
        <p:spPr>
          <a:xfrm xmlns:a="http://schemas.openxmlformats.org/drawingml/2006/main">
            <a:off x="1066800" y="2571750"/>
            <a:ext cx="5143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172033"/>
                </a:solidFill>
                <a:latin typeface="Arial"/>
                <a:ea typeface="Arial"/>
                <a:cs typeface="Arial"/>
              </a:defRPr>
            </a:pPr>
            <a:r>
              <a:rPr sz="1650" b="0">
                <a:solidFill>
                  <a:srgbClr val="172033"/>
                </a:solidFill>
                <a:latin typeface="Arial"/>
                <a:ea typeface="Arial"/>
                <a:cs typeface="Arial"/>
              </a:rPr>
              <a:t>Reference material positions Jev as the first System One model from TypeSafe AI. The talk deck names Diogo Almeida as the builder, with prior OpenAI work connected to InstructGPT and ChatGPT systems.</a:t>
            </a:r>
          </a:p>
        </p:txBody>
      </p:sp>
      <p:sp>
        <p:nvSpPr>
          <p:cNvPr id="7" name="">
            <a:extLst xmlns:a="http://schemas.openxmlformats.org/drawingml/2006/main">
              <a:ext uri="{FF2B5EF4-FFF2-40B4-BE49-F238E27FC236}">
                <a16:creationId xmlns:a16="http://schemas.microsoft.com/office/drawing/2014/main" id="{E24099C1-E3BF-422B-B1D0-371D31682518}"/>
              </a:ext>
            </a:extLst>
          </p:cNvPr>
          <p:cNvSpPr>
            <a:spLocks xmlns:a="http://schemas.openxmlformats.org/drawingml/2006/main" noGrp="1"/>
          </p:cNvSpPr>
          <p:nvPr/>
        </p:nvSpPr>
        <p:spPr>
          <a:xfrm xmlns:a="http://schemas.openxmlformats.org/drawingml/2006/main">
            <a:off x="7067550" y="2000250"/>
            <a:ext cx="2952750" cy="762000"/>
          </a:xfrm>
          <a:prstGeom xmlns:a="http://schemas.openxmlformats.org/drawingml/2006/main" prst="roundRect">
            <a:avLst>
              <a:gd name="adj" fmla="val 12500"/>
            </a:avLst>
          </a:prstGeom>
          <a:solidFill xmlns:a="http://schemas.openxmlformats.org/drawingml/2006/main">
            <a:srgbClr val="F1F5F9"/>
          </a:solidFill>
          <a:ln xmlns:a="http://schemas.openxmlformats.org/drawingml/2006/main" w="9525">
            <a:solidFill>
              <a:srgbClr val="D9DEE8"/>
            </a:solidFill>
            <a:prstDash val="solid"/>
          </a:ln>
        </p:spPr>
      </p:sp>
      <p:sp>
        <p:nvSpPr>
          <p:cNvPr id="8" name="">
            <a:extLst xmlns:a="http://schemas.openxmlformats.org/drawingml/2006/main">
              <a:ext uri="{FF2B5EF4-FFF2-40B4-BE49-F238E27FC236}">
                <a16:creationId xmlns:a16="http://schemas.microsoft.com/office/drawing/2014/main" id="{1217F8C6-DB27-4B0A-A771-8D1FEC45CB49}"/>
              </a:ext>
            </a:extLst>
          </p:cNvPr>
          <p:cNvSpPr>
            <a:spLocks xmlns:a="http://schemas.openxmlformats.org/drawingml/2006/main" noGrp="1"/>
          </p:cNvSpPr>
          <p:nvPr/>
        </p:nvSpPr>
        <p:spPr>
          <a:xfrm xmlns:a="http://schemas.openxmlformats.org/drawingml/2006/main">
            <a:off x="7334250" y="22098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0F766E"/>
                </a:solidFill>
                <a:latin typeface="Arial"/>
                <a:ea typeface="Arial"/>
                <a:cs typeface="Arial"/>
              </a:defRPr>
            </a:pPr>
            <a:r>
              <a:rPr sz="1875" b="1">
                <a:solidFill>
                  <a:srgbClr val="0F766E"/>
                </a:solidFill>
                <a:latin typeface="Arial"/>
                <a:ea typeface="Arial"/>
                <a:cs typeface="Arial"/>
              </a:rPr>
              <a:t>AI for software</a:t>
            </a:r>
          </a:p>
        </p:txBody>
      </p:sp>
      <p:sp>
        <p:nvSpPr>
          <p:cNvPr id="9" name="">
            <a:extLst xmlns:a="http://schemas.openxmlformats.org/drawingml/2006/main">
              <a:ext uri="{FF2B5EF4-FFF2-40B4-BE49-F238E27FC236}">
                <a16:creationId xmlns:a16="http://schemas.microsoft.com/office/drawing/2014/main" id="{6B6D3EBF-AD6E-496D-9F3A-5E902AB4D848}"/>
              </a:ext>
            </a:extLst>
          </p:cNvPr>
          <p:cNvSpPr>
            <a:spLocks xmlns:a="http://schemas.openxmlformats.org/drawingml/2006/main" noGrp="1"/>
          </p:cNvSpPr>
          <p:nvPr/>
        </p:nvSpPr>
        <p:spPr>
          <a:xfrm xmlns:a="http://schemas.openxmlformats.org/drawingml/2006/main">
            <a:off x="7067550" y="3105150"/>
            <a:ext cx="32575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The useful framing is AI as infrastructure: a programmable decision primitive rather than a chat surface.</a:t>
            </a:r>
          </a:p>
        </p:txBody>
      </p:sp>
      <p:sp>
        <p:nvSpPr>
          <p:cNvPr id="10" name="">
            <a:extLst xmlns:a="http://schemas.openxmlformats.org/drawingml/2006/main">
              <a:ext uri="{FF2B5EF4-FFF2-40B4-BE49-F238E27FC236}">
                <a16:creationId xmlns:a16="http://schemas.microsoft.com/office/drawing/2014/main" id="{00CF4F2B-CF72-463A-B0C7-659205DC5A37}"/>
              </a:ext>
            </a:extLst>
          </p:cNvPr>
          <p:cNvSpPr>
            <a:spLocks xmlns:a="http://schemas.openxmlformats.org/drawingml/2006/main" noGrp="1"/>
          </p:cNvSpPr>
          <p:nvPr/>
        </p:nvSpPr>
        <p:spPr>
          <a:xfrm xmlns:a="http://schemas.openxmlformats.org/drawingml/2006/main">
            <a:off x="10934700" y="6362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657083"/>
                </a:solidFill>
                <a:latin typeface="Arial"/>
                <a:ea typeface="Arial"/>
                <a:cs typeface="Arial"/>
              </a:defRPr>
            </a:pPr>
            <a:r>
              <a:rPr sz="900" b="1">
                <a:solidFill>
                  <a:srgbClr val="657083"/>
                </a:solidFill>
                <a:latin typeface="Arial"/>
                <a:ea typeface="Arial"/>
                <a:cs typeface="Arial"/>
              </a:rPr>
              <a:t>03</a:t>
            </a:r>
          </a:p>
        </p:txBody>
      </p:sp>
    </p:spTree>
    <p:extLst>
      <p:ext uri="{BB962C8B-B14F-4D97-AF65-F5344CB8AC3E}">
        <p14:creationId xmlns:p14="http://schemas.microsoft.com/office/powerpoint/2010/main" val="324020212"/>
      </p:ext>
    </p:extLst>
  </p:cSld>
</p:sld>
</file>

<file path=ppt/slides/slide4.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774A755-8ACB-4201-A034-4D0F4DAD78B1}"/>
              </a:ext>
            </a:extLst>
          </p:cNvPr>
          <p:cNvSpPr>
            <a:spLocks xmlns:a="http://schemas.openxmlformats.org/drawingml/2006/main" noGrp="1"/>
          </p:cNvSpPr>
          <p:nvPr/>
        </p:nvSpPr>
        <p:spPr>
          <a:xfrm xmlns:a="http://schemas.openxmlformats.org/drawingml/2006/main">
            <a:off x="609600" y="3238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0F766E"/>
                </a:solidFill>
                <a:latin typeface="Arial"/>
                <a:ea typeface="Arial"/>
                <a:cs typeface="Arial"/>
              </a:defRPr>
            </a:pPr>
            <a:r>
              <a:rPr sz="975" b="1">
                <a:solidFill>
                  <a:srgbClr val="0F766E"/>
                </a:solidFill>
                <a:latin typeface="Arial"/>
                <a:ea typeface="Arial"/>
                <a:cs typeface="Arial"/>
              </a:rPr>
              <a:t>JEV EVALUATION</a:t>
            </a:r>
          </a:p>
        </p:txBody>
      </p:sp>
      <p:sp>
        <p:nvSpPr>
          <p:cNvPr id="2" name="">
            <a:extLst xmlns:a="http://schemas.openxmlformats.org/drawingml/2006/main">
              <a:ext uri="{FF2B5EF4-FFF2-40B4-BE49-F238E27FC236}">
                <a16:creationId xmlns:a16="http://schemas.microsoft.com/office/drawing/2014/main" id="{9FBE72F3-B268-4B0C-B9AE-B0555B7D4F1C}"/>
              </a:ext>
            </a:extLst>
          </p:cNvPr>
          <p:cNvSpPr>
            <a:spLocks xmlns:a="http://schemas.openxmlformats.org/drawingml/2006/main" noGrp="1"/>
          </p:cNvSpPr>
          <p:nvPr/>
        </p:nvSpPr>
        <p:spPr>
          <a:xfrm xmlns:a="http://schemas.openxmlformats.org/drawingml/2006/main">
            <a:off x="609600" y="6286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33"/>
                </a:solidFill>
                <a:latin typeface="Arial"/>
                <a:ea typeface="Arial"/>
                <a:cs typeface="Arial"/>
              </a:defRPr>
            </a:pPr>
            <a:r>
              <a:rPr sz="2550" b="1">
                <a:solidFill>
                  <a:srgbClr val="172033"/>
                </a:solidFill>
                <a:latin typeface="Arial"/>
                <a:ea typeface="Arial"/>
                <a:cs typeface="Arial"/>
              </a:rPr>
              <a:t>Why Jev exists</a:t>
            </a:r>
          </a:p>
        </p:txBody>
      </p:sp>
      <p:sp>
        <p:nvSpPr>
          <p:cNvPr id="3" name="">
            <a:extLst xmlns:a="http://schemas.openxmlformats.org/drawingml/2006/main">
              <a:ext uri="{FF2B5EF4-FFF2-40B4-BE49-F238E27FC236}">
                <a16:creationId xmlns:a16="http://schemas.microsoft.com/office/drawing/2014/main" id="{6D474CF0-1646-4134-9610-44CE26D6E878}"/>
              </a:ext>
            </a:extLst>
          </p:cNvPr>
          <p:cNvSpPr>
            <a:spLocks xmlns:a="http://schemas.openxmlformats.org/drawingml/2006/main" noGrp="1"/>
          </p:cNvSpPr>
          <p:nvPr/>
        </p:nvSpPr>
        <p:spPr>
          <a:xfrm xmlns:a="http://schemas.openxmlformats.org/drawingml/2006/main">
            <a:off x="609600" y="1200150"/>
            <a:ext cx="10763250" cy="0"/>
          </a:xfrm>
          <a:prstGeom xmlns:a="http://schemas.openxmlformats.org/drawingml/2006/main" prst="line">
            <a:avLst/>
          </a:prstGeom>
          <a:noFill xmlns:a="http://schemas.openxmlformats.org/drawingml/2006/main"/>
          <a:ln xmlns:a="http://schemas.openxmlformats.org/drawingml/2006/main" w="9525">
            <a:solidFill>
              <a:srgbClr val="D9DEE8"/>
            </a:solidFill>
            <a:prstDash val="solid"/>
          </a:ln>
        </p:spPr>
      </p:sp>
      <p:sp>
        <p:nvSpPr>
          <p:cNvPr id="4" name="">
            <a:extLst xmlns:a="http://schemas.openxmlformats.org/drawingml/2006/main">
              <a:ext uri="{FF2B5EF4-FFF2-40B4-BE49-F238E27FC236}">
                <a16:creationId xmlns:a16="http://schemas.microsoft.com/office/drawing/2014/main" id="{1410B39D-90E1-410C-B8C5-255C0CF5CCFE}"/>
              </a:ext>
            </a:extLst>
          </p:cNvPr>
          <p:cNvSpPr>
            <a:spLocks xmlns:a="http://schemas.openxmlformats.org/drawingml/2006/main" noGrp="1"/>
          </p:cNvSpPr>
          <p:nvPr/>
        </p:nvSpPr>
        <p:spPr>
          <a:xfrm xmlns:a="http://schemas.openxmlformats.org/drawingml/2006/main">
            <a:off x="704850" y="1447800"/>
            <a:ext cx="933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102033"/>
                </a:solidFill>
                <a:latin typeface="Arial"/>
                <a:ea typeface="Arial"/>
                <a:cs typeface="Arial"/>
              </a:defRPr>
            </a:pPr>
            <a:r>
              <a:rPr sz="2250" b="1">
                <a:solidFill>
                  <a:srgbClr val="102033"/>
                </a:solidFill>
                <a:latin typeface="Arial"/>
                <a:ea typeface="Arial"/>
                <a:cs typeface="Arial"/>
              </a:rPr>
              <a:t>Most LLM systems still use System 2 machinery for System 1 work.</a:t>
            </a:r>
          </a:p>
        </p:txBody>
      </p:sp>
      <p:sp>
        <p:nvSpPr>
          <p:cNvPr id="5" name="">
            <a:extLst xmlns:a="http://schemas.openxmlformats.org/drawingml/2006/main">
              <a:ext uri="{FF2B5EF4-FFF2-40B4-BE49-F238E27FC236}">
                <a16:creationId xmlns:a16="http://schemas.microsoft.com/office/drawing/2014/main" id="{95576A00-2185-4F38-AC20-E6C2B0397A20}"/>
              </a:ext>
            </a:extLst>
          </p:cNvPr>
          <p:cNvSpPr>
            <a:spLocks xmlns:a="http://schemas.openxmlformats.org/drawingml/2006/main" noGrp="1"/>
          </p:cNvSpPr>
          <p:nvPr/>
        </p:nvSpPr>
        <p:spPr>
          <a:xfrm xmlns:a="http://schemas.openxmlformats.org/drawingml/2006/main">
            <a:off x="914400" y="2305050"/>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4768FF"/>
                </a:solidFill>
                <a:latin typeface="Arial"/>
                <a:ea typeface="Arial"/>
                <a:cs typeface="Arial"/>
              </a:defRPr>
            </a:pPr>
            <a:r>
              <a:rPr sz="1800" b="1">
                <a:solidFill>
                  <a:srgbClr val="4768FF"/>
                </a:solidFill>
                <a:latin typeface="Arial"/>
                <a:ea typeface="Arial"/>
                <a:cs typeface="Arial"/>
              </a:rPr>
              <a:t>LLM-shaped workload</a:t>
            </a:r>
          </a:p>
        </p:txBody>
      </p:sp>
      <p:sp>
        <p:nvSpPr>
          <p:cNvPr id="6" name="">
            <a:extLst xmlns:a="http://schemas.openxmlformats.org/drawingml/2006/main">
              <a:ext uri="{FF2B5EF4-FFF2-40B4-BE49-F238E27FC236}">
                <a16:creationId xmlns:a16="http://schemas.microsoft.com/office/drawing/2014/main" id="{55EFDBDD-486C-4D96-8D3E-A1859D2CD794}"/>
              </a:ext>
            </a:extLst>
          </p:cNvPr>
          <p:cNvSpPr>
            <a:spLocks xmlns:a="http://schemas.openxmlformats.org/drawingml/2006/main" noGrp="1"/>
          </p:cNvSpPr>
          <p:nvPr/>
        </p:nvSpPr>
        <p:spPr>
          <a:xfrm xmlns:a="http://schemas.openxmlformats.org/drawingml/2006/main">
            <a:off x="914400" y="297180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4CD16CF-7C08-410C-89D9-2AB1D5DA0CC6}"/>
              </a:ext>
            </a:extLst>
          </p:cNvPr>
          <p:cNvSpPr>
            <a:spLocks xmlns:a="http://schemas.openxmlformats.org/drawingml/2006/main" noGrp="1"/>
          </p:cNvSpPr>
          <p:nvPr/>
        </p:nvSpPr>
        <p:spPr>
          <a:xfrm xmlns:a="http://schemas.openxmlformats.org/drawingml/2006/main">
            <a:off x="1123950" y="2895600"/>
            <a:ext cx="4171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Generate text token by token</a:t>
            </a:r>
          </a:p>
        </p:txBody>
      </p:sp>
      <p:sp>
        <p:nvSpPr>
          <p:cNvPr id="8" name="">
            <a:extLst xmlns:a="http://schemas.openxmlformats.org/drawingml/2006/main">
              <a:ext uri="{FF2B5EF4-FFF2-40B4-BE49-F238E27FC236}">
                <a16:creationId xmlns:a16="http://schemas.microsoft.com/office/drawing/2014/main" id="{29C3D41C-4231-4E06-9A31-462B7601FD78}"/>
              </a:ext>
            </a:extLst>
          </p:cNvPr>
          <p:cNvSpPr>
            <a:spLocks xmlns:a="http://schemas.openxmlformats.org/drawingml/2006/main" noGrp="1"/>
          </p:cNvSpPr>
          <p:nvPr/>
        </p:nvSpPr>
        <p:spPr>
          <a:xfrm xmlns:a="http://schemas.openxmlformats.org/drawingml/2006/main">
            <a:off x="914400" y="34099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F190281-5CFB-41D5-9519-B0F115104F91}"/>
              </a:ext>
            </a:extLst>
          </p:cNvPr>
          <p:cNvSpPr>
            <a:spLocks xmlns:a="http://schemas.openxmlformats.org/drawingml/2006/main" noGrp="1"/>
          </p:cNvSpPr>
          <p:nvPr/>
        </p:nvSpPr>
        <p:spPr>
          <a:xfrm xmlns:a="http://schemas.openxmlformats.org/drawingml/2006/main">
            <a:off x="1123950" y="3333750"/>
            <a:ext cx="4171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Reason across broad task space</a:t>
            </a:r>
          </a:p>
        </p:txBody>
      </p:sp>
      <p:sp>
        <p:nvSpPr>
          <p:cNvPr id="10" name="">
            <a:extLst xmlns:a="http://schemas.openxmlformats.org/drawingml/2006/main">
              <a:ext uri="{FF2B5EF4-FFF2-40B4-BE49-F238E27FC236}">
                <a16:creationId xmlns:a16="http://schemas.microsoft.com/office/drawing/2014/main" id="{17D88C00-B480-45F4-9146-29EE26F4F0DA}"/>
              </a:ext>
            </a:extLst>
          </p:cNvPr>
          <p:cNvSpPr>
            <a:spLocks xmlns:a="http://schemas.openxmlformats.org/drawingml/2006/main" noGrp="1"/>
          </p:cNvSpPr>
          <p:nvPr/>
        </p:nvSpPr>
        <p:spPr>
          <a:xfrm xmlns:a="http://schemas.openxmlformats.org/drawingml/2006/main">
            <a:off x="914400" y="384810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84C292E-78F2-4658-9064-251A04E98189}"/>
              </a:ext>
            </a:extLst>
          </p:cNvPr>
          <p:cNvSpPr>
            <a:spLocks xmlns:a="http://schemas.openxmlformats.org/drawingml/2006/main" noGrp="1"/>
          </p:cNvSpPr>
          <p:nvPr/>
        </p:nvSpPr>
        <p:spPr>
          <a:xfrm xmlns:a="http://schemas.openxmlformats.org/drawingml/2006/main">
            <a:off x="1123950" y="3771900"/>
            <a:ext cx="4171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Return prose that an app must parse</a:t>
            </a:r>
          </a:p>
        </p:txBody>
      </p:sp>
      <p:sp>
        <p:nvSpPr>
          <p:cNvPr id="12" name="">
            <a:extLst xmlns:a="http://schemas.openxmlformats.org/drawingml/2006/main">
              <a:ext uri="{FF2B5EF4-FFF2-40B4-BE49-F238E27FC236}">
                <a16:creationId xmlns:a16="http://schemas.microsoft.com/office/drawing/2014/main" id="{2DCF3C6F-4A95-454B-8E10-655E3719C4E9}"/>
              </a:ext>
            </a:extLst>
          </p:cNvPr>
          <p:cNvSpPr>
            <a:spLocks xmlns:a="http://schemas.openxmlformats.org/drawingml/2006/main" noGrp="1"/>
          </p:cNvSpPr>
          <p:nvPr/>
        </p:nvSpPr>
        <p:spPr>
          <a:xfrm xmlns:a="http://schemas.openxmlformats.org/drawingml/2006/main">
            <a:off x="914400" y="42862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9A12D19-14CF-4D5F-9EFF-B6728C927877}"/>
              </a:ext>
            </a:extLst>
          </p:cNvPr>
          <p:cNvSpPr>
            <a:spLocks xmlns:a="http://schemas.openxmlformats.org/drawingml/2006/main" noGrp="1"/>
          </p:cNvSpPr>
          <p:nvPr/>
        </p:nvSpPr>
        <p:spPr>
          <a:xfrm xmlns:a="http://schemas.openxmlformats.org/drawingml/2006/main">
            <a:off x="1123950" y="4210050"/>
            <a:ext cx="4171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Best when the answer needs language</a:t>
            </a:r>
          </a:p>
        </p:txBody>
      </p:sp>
      <p:sp>
        <p:nvSpPr>
          <p:cNvPr id="14" name="">
            <a:extLst xmlns:a="http://schemas.openxmlformats.org/drawingml/2006/main">
              <a:ext uri="{FF2B5EF4-FFF2-40B4-BE49-F238E27FC236}">
                <a16:creationId xmlns:a16="http://schemas.microsoft.com/office/drawing/2014/main" id="{55CB3D4B-813A-4523-AB6D-D6EEC575C398}"/>
              </a:ext>
            </a:extLst>
          </p:cNvPr>
          <p:cNvSpPr>
            <a:spLocks xmlns:a="http://schemas.openxmlformats.org/drawingml/2006/main" noGrp="1"/>
          </p:cNvSpPr>
          <p:nvPr/>
        </p:nvSpPr>
        <p:spPr>
          <a:xfrm xmlns:a="http://schemas.openxmlformats.org/drawingml/2006/main">
            <a:off x="6572250" y="2305050"/>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0F766E"/>
                </a:solidFill>
                <a:latin typeface="Arial"/>
                <a:ea typeface="Arial"/>
                <a:cs typeface="Arial"/>
              </a:defRPr>
            </a:pPr>
            <a:r>
              <a:rPr sz="1800" b="1">
                <a:solidFill>
                  <a:srgbClr val="0F766E"/>
                </a:solidFill>
                <a:latin typeface="Arial"/>
                <a:ea typeface="Arial"/>
                <a:cs typeface="Arial"/>
              </a:rPr>
              <a:t>Decision-shaped workload</a:t>
            </a:r>
          </a:p>
        </p:txBody>
      </p:sp>
      <p:sp>
        <p:nvSpPr>
          <p:cNvPr id="15" name="">
            <a:extLst xmlns:a="http://schemas.openxmlformats.org/drawingml/2006/main">
              <a:ext uri="{FF2B5EF4-FFF2-40B4-BE49-F238E27FC236}">
                <a16:creationId xmlns:a16="http://schemas.microsoft.com/office/drawing/2014/main" id="{A8932CE9-817C-4D6F-9BF6-1DDE90A7FEDE}"/>
              </a:ext>
            </a:extLst>
          </p:cNvPr>
          <p:cNvSpPr>
            <a:spLocks xmlns:a="http://schemas.openxmlformats.org/drawingml/2006/main" noGrp="1"/>
          </p:cNvSpPr>
          <p:nvPr/>
        </p:nvSpPr>
        <p:spPr>
          <a:xfrm xmlns:a="http://schemas.openxmlformats.org/drawingml/2006/main">
            <a:off x="6572250" y="297180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1B9EB5A-8765-459F-B4F4-341217A186D2}"/>
              </a:ext>
            </a:extLst>
          </p:cNvPr>
          <p:cNvSpPr>
            <a:spLocks xmlns:a="http://schemas.openxmlformats.org/drawingml/2006/main" noGrp="1"/>
          </p:cNvSpPr>
          <p:nvPr/>
        </p:nvSpPr>
        <p:spPr>
          <a:xfrm xmlns:a="http://schemas.openxmlformats.org/drawingml/2006/main">
            <a:off x="6781800" y="2895600"/>
            <a:ext cx="4267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Evaluate a narrow question</a:t>
            </a:r>
          </a:p>
        </p:txBody>
      </p:sp>
      <p:sp>
        <p:nvSpPr>
          <p:cNvPr id="17" name="">
            <a:extLst xmlns:a="http://schemas.openxmlformats.org/drawingml/2006/main">
              <a:ext uri="{FF2B5EF4-FFF2-40B4-BE49-F238E27FC236}">
                <a16:creationId xmlns:a16="http://schemas.microsoft.com/office/drawing/2014/main" id="{9EA89160-2D03-492B-9D00-FD9E09093DF6}"/>
              </a:ext>
            </a:extLst>
          </p:cNvPr>
          <p:cNvSpPr>
            <a:spLocks xmlns:a="http://schemas.openxmlformats.org/drawingml/2006/main" noGrp="1"/>
          </p:cNvSpPr>
          <p:nvPr/>
        </p:nvSpPr>
        <p:spPr>
          <a:xfrm xmlns:a="http://schemas.openxmlformats.org/drawingml/2006/main">
            <a:off x="6572250" y="34099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CF7AB95-9D58-467A-908D-4D5678B70A20}"/>
              </a:ext>
            </a:extLst>
          </p:cNvPr>
          <p:cNvSpPr>
            <a:spLocks xmlns:a="http://schemas.openxmlformats.org/drawingml/2006/main" noGrp="1"/>
          </p:cNvSpPr>
          <p:nvPr/>
        </p:nvSpPr>
        <p:spPr>
          <a:xfrm xmlns:a="http://schemas.openxmlformats.org/drawingml/2006/main">
            <a:off x="6781800" y="3333750"/>
            <a:ext cx="4267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Return choice, score or probability</a:t>
            </a:r>
          </a:p>
        </p:txBody>
      </p:sp>
      <p:sp>
        <p:nvSpPr>
          <p:cNvPr id="19" name="">
            <a:extLst xmlns:a="http://schemas.openxmlformats.org/drawingml/2006/main">
              <a:ext uri="{FF2B5EF4-FFF2-40B4-BE49-F238E27FC236}">
                <a16:creationId xmlns:a16="http://schemas.microsoft.com/office/drawing/2014/main" id="{6E283BD9-34F0-4753-B0DC-FEB95ADF1F91}"/>
              </a:ext>
            </a:extLst>
          </p:cNvPr>
          <p:cNvSpPr>
            <a:spLocks xmlns:a="http://schemas.openxmlformats.org/drawingml/2006/main" noGrp="1"/>
          </p:cNvSpPr>
          <p:nvPr/>
        </p:nvSpPr>
        <p:spPr>
          <a:xfrm xmlns:a="http://schemas.openxmlformats.org/drawingml/2006/main">
            <a:off x="6572250" y="384810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C382B21-8C78-439F-836D-37D06B2C0627}"/>
              </a:ext>
            </a:extLst>
          </p:cNvPr>
          <p:cNvSpPr>
            <a:spLocks xmlns:a="http://schemas.openxmlformats.org/drawingml/2006/main" noGrp="1"/>
          </p:cNvSpPr>
          <p:nvPr/>
        </p:nvSpPr>
        <p:spPr>
          <a:xfrm xmlns:a="http://schemas.openxmlformats.org/drawingml/2006/main">
            <a:off x="6781800" y="3771900"/>
            <a:ext cx="4267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Allow software to branch directly</a:t>
            </a:r>
          </a:p>
        </p:txBody>
      </p:sp>
      <p:sp>
        <p:nvSpPr>
          <p:cNvPr id="21" name="">
            <a:extLst xmlns:a="http://schemas.openxmlformats.org/drawingml/2006/main">
              <a:ext uri="{FF2B5EF4-FFF2-40B4-BE49-F238E27FC236}">
                <a16:creationId xmlns:a16="http://schemas.microsoft.com/office/drawing/2014/main" id="{46AAC31B-3BA7-466E-83D7-80F46D29B01B}"/>
              </a:ext>
            </a:extLst>
          </p:cNvPr>
          <p:cNvSpPr>
            <a:spLocks xmlns:a="http://schemas.openxmlformats.org/drawingml/2006/main" noGrp="1"/>
          </p:cNvSpPr>
          <p:nvPr/>
        </p:nvSpPr>
        <p:spPr>
          <a:xfrm xmlns:a="http://schemas.openxmlformats.org/drawingml/2006/main">
            <a:off x="6572250" y="42862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D8384D6-DFF5-47ED-8099-078DAEEEB328}"/>
              </a:ext>
            </a:extLst>
          </p:cNvPr>
          <p:cNvSpPr>
            <a:spLocks xmlns:a="http://schemas.openxmlformats.org/drawingml/2006/main" noGrp="1"/>
          </p:cNvSpPr>
          <p:nvPr/>
        </p:nvSpPr>
        <p:spPr>
          <a:xfrm xmlns:a="http://schemas.openxmlformats.org/drawingml/2006/main">
            <a:off x="6781800" y="4210050"/>
            <a:ext cx="4267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Best when the answer controls action</a:t>
            </a:r>
          </a:p>
        </p:txBody>
      </p:sp>
      <p:sp>
        <p:nvSpPr>
          <p:cNvPr id="23" name="">
            <a:extLst xmlns:a="http://schemas.openxmlformats.org/drawingml/2006/main">
              <a:ext uri="{FF2B5EF4-FFF2-40B4-BE49-F238E27FC236}">
                <a16:creationId xmlns:a16="http://schemas.microsoft.com/office/drawing/2014/main" id="{358BF268-BFA3-434D-9D2C-A2B45F166A92}"/>
              </a:ext>
            </a:extLst>
          </p:cNvPr>
          <p:cNvSpPr>
            <a:spLocks xmlns:a="http://schemas.openxmlformats.org/drawingml/2006/main" noGrp="1"/>
          </p:cNvSpPr>
          <p:nvPr/>
        </p:nvSpPr>
        <p:spPr>
          <a:xfrm xmlns:a="http://schemas.openxmlformats.org/drawingml/2006/main">
            <a:off x="10934700" y="6362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657083"/>
                </a:solidFill>
                <a:latin typeface="Arial"/>
                <a:ea typeface="Arial"/>
                <a:cs typeface="Arial"/>
              </a:defRPr>
            </a:pPr>
            <a:r>
              <a:rPr sz="900" b="1">
                <a:solidFill>
                  <a:srgbClr val="657083"/>
                </a:solidFill>
                <a:latin typeface="Arial"/>
                <a:ea typeface="Arial"/>
                <a:cs typeface="Arial"/>
              </a:rPr>
              <a:t>04</a:t>
            </a:r>
          </a:p>
        </p:txBody>
      </p:sp>
    </p:spTree>
    <p:extLst>
      <p:ext uri="{BB962C8B-B14F-4D97-AF65-F5344CB8AC3E}">
        <p14:creationId xmlns:p14="http://schemas.microsoft.com/office/powerpoint/2010/main" val="419933531"/>
      </p:ext>
    </p:extLst>
  </p:cSld>
</p:sld>
</file>

<file path=ppt/slides/slide5.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A5E1329-D526-4E9E-85AB-EA653A672662}"/>
              </a:ext>
            </a:extLst>
          </p:cNvPr>
          <p:cNvSpPr>
            <a:spLocks xmlns:a="http://schemas.openxmlformats.org/drawingml/2006/main" noGrp="1"/>
          </p:cNvSpPr>
          <p:nvPr/>
        </p:nvSpPr>
        <p:spPr>
          <a:xfrm xmlns:a="http://schemas.openxmlformats.org/drawingml/2006/main">
            <a:off x="609600" y="3238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0F766E"/>
                </a:solidFill>
                <a:latin typeface="Arial"/>
                <a:ea typeface="Arial"/>
                <a:cs typeface="Arial"/>
              </a:defRPr>
            </a:pPr>
            <a:r>
              <a:rPr sz="975" b="1">
                <a:solidFill>
                  <a:srgbClr val="0F766E"/>
                </a:solidFill>
                <a:latin typeface="Arial"/>
                <a:ea typeface="Arial"/>
                <a:cs typeface="Arial"/>
              </a:rPr>
              <a:t>JEV EVALUATION</a:t>
            </a:r>
          </a:p>
        </p:txBody>
      </p:sp>
      <p:sp>
        <p:nvSpPr>
          <p:cNvPr id="2" name="">
            <a:extLst xmlns:a="http://schemas.openxmlformats.org/drawingml/2006/main">
              <a:ext uri="{FF2B5EF4-FFF2-40B4-BE49-F238E27FC236}">
                <a16:creationId xmlns:a16="http://schemas.microsoft.com/office/drawing/2014/main" id="{3D5D8A63-413A-451B-9071-FA68CA21DBBD}"/>
              </a:ext>
            </a:extLst>
          </p:cNvPr>
          <p:cNvSpPr>
            <a:spLocks xmlns:a="http://schemas.openxmlformats.org/drawingml/2006/main" noGrp="1"/>
          </p:cNvSpPr>
          <p:nvPr/>
        </p:nvSpPr>
        <p:spPr>
          <a:xfrm xmlns:a="http://schemas.openxmlformats.org/drawingml/2006/main">
            <a:off x="609600" y="6286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33"/>
                </a:solidFill>
                <a:latin typeface="Arial"/>
                <a:ea typeface="Arial"/>
                <a:cs typeface="Arial"/>
              </a:defRPr>
            </a:pPr>
            <a:r>
              <a:rPr sz="2550" b="1">
                <a:solidFill>
                  <a:srgbClr val="172033"/>
                </a:solidFill>
                <a:latin typeface="Arial"/>
                <a:ea typeface="Arial"/>
                <a:cs typeface="Arial"/>
              </a:rPr>
              <a:t>System 1 and System 2 design</a:t>
            </a:r>
          </a:p>
        </p:txBody>
      </p:sp>
      <p:sp>
        <p:nvSpPr>
          <p:cNvPr id="3" name="">
            <a:extLst xmlns:a="http://schemas.openxmlformats.org/drawingml/2006/main">
              <a:ext uri="{FF2B5EF4-FFF2-40B4-BE49-F238E27FC236}">
                <a16:creationId xmlns:a16="http://schemas.microsoft.com/office/drawing/2014/main" id="{23408CA9-F266-485F-9DCB-E1E1C3ACE9D9}"/>
              </a:ext>
            </a:extLst>
          </p:cNvPr>
          <p:cNvSpPr>
            <a:spLocks xmlns:a="http://schemas.openxmlformats.org/drawingml/2006/main" noGrp="1"/>
          </p:cNvSpPr>
          <p:nvPr/>
        </p:nvSpPr>
        <p:spPr>
          <a:xfrm xmlns:a="http://schemas.openxmlformats.org/drawingml/2006/main">
            <a:off x="609600" y="1200150"/>
            <a:ext cx="10763250" cy="0"/>
          </a:xfrm>
          <a:prstGeom xmlns:a="http://schemas.openxmlformats.org/drawingml/2006/main" prst="line">
            <a:avLst/>
          </a:prstGeom>
          <a:noFill xmlns:a="http://schemas.openxmlformats.org/drawingml/2006/main"/>
          <a:ln xmlns:a="http://schemas.openxmlformats.org/drawingml/2006/main" w="9525">
            <a:solidFill>
              <a:srgbClr val="D9DEE8"/>
            </a:solidFill>
            <a:prstDash val="solid"/>
          </a:ln>
        </p:spPr>
      </p:sp>
      <p:graphicFrame>
        <p:nvGraphicFramePr>
          <p:cNvPr id="10" name=""/>
          <p:cNvGraphicFramePr/>
          <p:nvPr/>
        </p:nvGraphicFramePr>
        <p:xfrm>
          <a:off xmlns:a="http://schemas.openxmlformats.org/drawingml/2006/main" x="742950" y="1638300"/>
          <a:ext xmlns:a="http://schemas.openxmlformats.org/drawingml/2006/main" cx="10287000" cy="3429000"/>
        </p:xfrm>
        <a:graphic xmlns:a="http://schemas.openxmlformats.org/drawingml/2006/main">
          <a:graphicData uri="http://schemas.openxmlformats.org/drawingml/2006/table">
            <a:tbl>
              <a:tblPr firstRow="1" bandRow="1"/>
              <a:tblGrid>
                <a:gridCol w="2523226"/>
                <a:gridCol w="3881887"/>
                <a:gridCol w="3881887"/>
              </a:tblGrid>
              <a:tr h="571500">
                <a:tc>
                  <a:txBody>
                    <a:bodyPr/>
                    <a:lstStyle/>
                    <a:p>
                      <a:r>
                        <a:t>Dimension</a:t>
                      </a:r>
                    </a:p>
                  </a:txBody>
                  <a:tcPr marL="91440" marR="91440" marT="45720" marB="45720"/>
                </a:tc>
                <a:tc>
                  <a:txBody>
                    <a:bodyPr/>
                    <a:lstStyle/>
                    <a:p>
                      <a:r>
                        <a:t>System 1 decisioning</a:t>
                      </a:r>
                    </a:p>
                  </a:txBody>
                  <a:tcPr marL="91440" marR="91440" marT="45720" marB="45720"/>
                </a:tc>
                <a:tc>
                  <a:txBody>
                    <a:bodyPr/>
                    <a:lstStyle/>
                    <a:p>
                      <a:r>
                        <a:t>System 2 reasoning</a:t>
                      </a:r>
                    </a:p>
                  </a:txBody>
                  <a:tcPr marL="91440" marR="91440" marT="45720" marB="45720"/>
                </a:tc>
              </a:tr>
              <a:tr h="571500">
                <a:tc>
                  <a:txBody>
                    <a:bodyPr/>
                    <a:lstStyle/>
                    <a:p>
                      <a:r>
                        <a:t>Primary job</a:t>
                      </a:r>
                    </a:p>
                  </a:txBody>
                  <a:tcPr marL="91440" marR="91440" marT="45720" marB="45720"/>
                </a:tc>
                <a:tc>
                  <a:txBody>
                    <a:bodyPr/>
                    <a:lstStyle/>
                    <a:p>
                      <a:r>
                        <a:t>Fast judgment</a:t>
                      </a:r>
                    </a:p>
                  </a:txBody>
                  <a:tcPr marL="91440" marR="91440" marT="45720" marB="45720"/>
                </a:tc>
                <a:tc>
                  <a:txBody>
                    <a:bodyPr/>
                    <a:lstStyle/>
                    <a:p>
                      <a:r>
                        <a:t>Deliberate reasoning</a:t>
                      </a:r>
                    </a:p>
                  </a:txBody>
                  <a:tcPr marL="91440" marR="91440" marT="45720" marB="45720"/>
                </a:tc>
              </a:tr>
              <a:tr h="571500">
                <a:tc>
                  <a:txBody>
                    <a:bodyPr/>
                    <a:lstStyle/>
                    <a:p>
                      <a:r>
                        <a:t>Output</a:t>
                      </a:r>
                    </a:p>
                  </a:txBody>
                  <a:tcPr marL="91440" marR="91440" marT="45720" marB="45720"/>
                </a:tc>
                <a:tc>
                  <a:txBody>
                    <a:bodyPr/>
                    <a:lstStyle/>
                    <a:p>
                      <a:r>
                        <a:t>Choice, score, probability</a:t>
                      </a:r>
                    </a:p>
                  </a:txBody>
                  <a:tcPr marL="91440" marR="91440" marT="45720" marB="45720"/>
                </a:tc>
                <a:tc>
                  <a:txBody>
                    <a:bodyPr/>
                    <a:lstStyle/>
                    <a:p>
                      <a:r>
                        <a:t>Generated language or plan</a:t>
                      </a:r>
                    </a:p>
                  </a:txBody>
                  <a:tcPr marL="91440" marR="91440" marT="45720" marB="45720"/>
                </a:tc>
              </a:tr>
              <a:tr h="571500">
                <a:tc>
                  <a:txBody>
                    <a:bodyPr/>
                    <a:lstStyle/>
                    <a:p>
                      <a:r>
                        <a:t>Latency profile</a:t>
                      </a:r>
                    </a:p>
                  </a:txBody>
                  <a:tcPr marL="91440" marR="91440" marT="45720" marB="45720"/>
                </a:tc>
                <a:tc>
                  <a:txBody>
                    <a:bodyPr/>
                    <a:lstStyle/>
                    <a:p>
                      <a:r>
                        <a:t>Low latency</a:t>
                      </a:r>
                    </a:p>
                  </a:txBody>
                  <a:tcPr marL="91440" marR="91440" marT="45720" marB="45720"/>
                </a:tc>
                <a:tc>
                  <a:txBody>
                    <a:bodyPr/>
                    <a:lstStyle/>
                    <a:p>
                      <a:r>
                        <a:t>Higher latency</a:t>
                      </a:r>
                    </a:p>
                  </a:txBody>
                  <a:tcPr marL="91440" marR="91440" marT="45720" marB="45720"/>
                </a:tc>
              </a:tr>
              <a:tr h="571500">
                <a:tc>
                  <a:txBody>
                    <a:bodyPr/>
                    <a:lstStyle/>
                    <a:p>
                      <a:r>
                        <a:t>Best fit</a:t>
                      </a:r>
                    </a:p>
                  </a:txBody>
                  <a:tcPr marL="91440" marR="91440" marT="45720" marB="45720"/>
                </a:tc>
                <a:tc>
                  <a:txBody>
                    <a:bodyPr/>
                    <a:lstStyle/>
                    <a:p>
                      <a:r>
                        <a:t>Routing, triage, policy checks</a:t>
                      </a:r>
                    </a:p>
                  </a:txBody>
                  <a:tcPr marL="91440" marR="91440" marT="45720" marB="45720"/>
                </a:tc>
                <a:tc>
                  <a:txBody>
                    <a:bodyPr/>
                    <a:lstStyle/>
                    <a:p>
                      <a:r>
                        <a:t>Synthesis, drafting, complex analysis</a:t>
                      </a:r>
                    </a:p>
                  </a:txBody>
                  <a:tcPr marL="91440" marR="91440" marT="45720" marB="45720"/>
                </a:tc>
              </a:tr>
              <a:tr h="571500">
                <a:tc>
                  <a:txBody>
                    <a:bodyPr/>
                    <a:lstStyle/>
                    <a:p>
                      <a:r>
                        <a:t>POC mapping</a:t>
                      </a:r>
                    </a:p>
                  </a:txBody>
                  <a:tcPr marL="91440" marR="91440" marT="45720" marB="45720"/>
                </a:tc>
                <a:tc>
                  <a:txBody>
                    <a:bodyPr/>
                    <a:lstStyle/>
                    <a:p>
                      <a:r>
                        <a:t>Jev</a:t>
                      </a:r>
                    </a:p>
                  </a:txBody>
                  <a:tcPr marL="91440" marR="91440" marT="45720" marB="45720"/>
                </a:tc>
                <a:tc>
                  <a:txBody>
                    <a:bodyPr/>
                    <a:lstStyle/>
                    <a:p>
                      <a:r>
                        <a:t>Claude Sonnet constrained by tool schema</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AACEBA2A-05DB-44AD-8AAE-5C76707E9816}"/>
              </a:ext>
            </a:extLst>
          </p:cNvPr>
          <p:cNvSpPr>
            <a:spLocks xmlns:a="http://schemas.openxmlformats.org/drawingml/2006/main" noGrp="1"/>
          </p:cNvSpPr>
          <p:nvPr/>
        </p:nvSpPr>
        <p:spPr>
          <a:xfrm xmlns:a="http://schemas.openxmlformats.org/drawingml/2006/main">
            <a:off x="876300" y="5429250"/>
            <a:ext cx="990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657083"/>
                </a:solidFill>
                <a:latin typeface="Arial"/>
                <a:ea typeface="Arial"/>
                <a:cs typeface="Arial"/>
              </a:defRPr>
            </a:pPr>
            <a:r>
              <a:rPr sz="1350" b="0">
                <a:solidFill>
                  <a:srgbClr val="657083"/>
                </a:solidFill>
                <a:latin typeface="Arial"/>
                <a:ea typeface="Arial"/>
                <a:cs typeface="Arial"/>
              </a:rPr>
              <a:t>The comparison works only when both sides receive the same contract. The POC constrains Claude into Jev's decision shape for a fairer classification test.</a:t>
            </a:r>
          </a:p>
        </p:txBody>
      </p:sp>
      <p:sp>
        <p:nvSpPr>
          <p:cNvPr id="6" name="">
            <a:extLst xmlns:a="http://schemas.openxmlformats.org/drawingml/2006/main">
              <a:ext uri="{FF2B5EF4-FFF2-40B4-BE49-F238E27FC236}">
                <a16:creationId xmlns:a16="http://schemas.microsoft.com/office/drawing/2014/main" id="{E086B873-BFB4-4244-87A5-AA2006CD30D5}"/>
              </a:ext>
            </a:extLst>
          </p:cNvPr>
          <p:cNvSpPr>
            <a:spLocks xmlns:a="http://schemas.openxmlformats.org/drawingml/2006/main" noGrp="1"/>
          </p:cNvSpPr>
          <p:nvPr/>
        </p:nvSpPr>
        <p:spPr>
          <a:xfrm xmlns:a="http://schemas.openxmlformats.org/drawingml/2006/main">
            <a:off x="10934700" y="6362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657083"/>
                </a:solidFill>
                <a:latin typeface="Arial"/>
                <a:ea typeface="Arial"/>
                <a:cs typeface="Arial"/>
              </a:defRPr>
            </a:pPr>
            <a:r>
              <a:rPr sz="900" b="1">
                <a:solidFill>
                  <a:srgbClr val="657083"/>
                </a:solidFill>
                <a:latin typeface="Arial"/>
                <a:ea typeface="Arial"/>
                <a:cs typeface="Arial"/>
              </a:rPr>
              <a:t>05</a:t>
            </a:r>
          </a:p>
        </p:txBody>
      </p:sp>
    </p:spTree>
    <p:extLst>
      <p:ext uri="{BB962C8B-B14F-4D97-AF65-F5344CB8AC3E}">
        <p14:creationId xmlns:p14="http://schemas.microsoft.com/office/powerpoint/2010/main" val="255459338"/>
      </p:ext>
    </p:extLst>
  </p:cSld>
</p:sld>
</file>

<file path=ppt/slides/slide6.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D9A127B-775F-48AA-8DA2-645CA212CB79}"/>
              </a:ext>
            </a:extLst>
          </p:cNvPr>
          <p:cNvSpPr>
            <a:spLocks xmlns:a="http://schemas.openxmlformats.org/drawingml/2006/main" noGrp="1"/>
          </p:cNvSpPr>
          <p:nvPr/>
        </p:nvSpPr>
        <p:spPr>
          <a:xfrm xmlns:a="http://schemas.openxmlformats.org/drawingml/2006/main">
            <a:off x="609600" y="3238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0F766E"/>
                </a:solidFill>
                <a:latin typeface="Arial"/>
                <a:ea typeface="Arial"/>
                <a:cs typeface="Arial"/>
              </a:defRPr>
            </a:pPr>
            <a:r>
              <a:rPr sz="975" b="1">
                <a:solidFill>
                  <a:srgbClr val="0F766E"/>
                </a:solidFill>
                <a:latin typeface="Arial"/>
                <a:ea typeface="Arial"/>
                <a:cs typeface="Arial"/>
              </a:rPr>
              <a:t>JEV EVALUATION</a:t>
            </a:r>
          </a:p>
        </p:txBody>
      </p:sp>
      <p:sp>
        <p:nvSpPr>
          <p:cNvPr id="2" name="">
            <a:extLst xmlns:a="http://schemas.openxmlformats.org/drawingml/2006/main">
              <a:ext uri="{FF2B5EF4-FFF2-40B4-BE49-F238E27FC236}">
                <a16:creationId xmlns:a16="http://schemas.microsoft.com/office/drawing/2014/main" id="{7021A8F0-B5C6-419A-8A45-08A2AB759919}"/>
              </a:ext>
            </a:extLst>
          </p:cNvPr>
          <p:cNvSpPr>
            <a:spLocks xmlns:a="http://schemas.openxmlformats.org/drawingml/2006/main" noGrp="1"/>
          </p:cNvSpPr>
          <p:nvPr/>
        </p:nvSpPr>
        <p:spPr>
          <a:xfrm xmlns:a="http://schemas.openxmlformats.org/drawingml/2006/main">
            <a:off x="609600" y="6286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33"/>
                </a:solidFill>
                <a:latin typeface="Arial"/>
                <a:ea typeface="Arial"/>
                <a:cs typeface="Arial"/>
              </a:defRPr>
            </a:pPr>
            <a:r>
              <a:rPr sz="2550" b="1">
                <a:solidFill>
                  <a:srgbClr val="172033"/>
                </a:solidFill>
                <a:latin typeface="Arial"/>
                <a:ea typeface="Arial"/>
                <a:cs typeface="Arial"/>
              </a:rPr>
              <a:t>How Jev works conceptually</a:t>
            </a:r>
          </a:p>
        </p:txBody>
      </p:sp>
      <p:sp>
        <p:nvSpPr>
          <p:cNvPr id="3" name="">
            <a:extLst xmlns:a="http://schemas.openxmlformats.org/drawingml/2006/main">
              <a:ext uri="{FF2B5EF4-FFF2-40B4-BE49-F238E27FC236}">
                <a16:creationId xmlns:a16="http://schemas.microsoft.com/office/drawing/2014/main" id="{2728B2C7-4D59-4BC8-B846-19D709F8905E}"/>
              </a:ext>
            </a:extLst>
          </p:cNvPr>
          <p:cNvSpPr>
            <a:spLocks xmlns:a="http://schemas.openxmlformats.org/drawingml/2006/main" noGrp="1"/>
          </p:cNvSpPr>
          <p:nvPr/>
        </p:nvSpPr>
        <p:spPr>
          <a:xfrm xmlns:a="http://schemas.openxmlformats.org/drawingml/2006/main">
            <a:off x="609600" y="1200150"/>
            <a:ext cx="10763250" cy="0"/>
          </a:xfrm>
          <a:prstGeom xmlns:a="http://schemas.openxmlformats.org/drawingml/2006/main" prst="line">
            <a:avLst/>
          </a:prstGeom>
          <a:noFill xmlns:a="http://schemas.openxmlformats.org/drawingml/2006/main"/>
          <a:ln xmlns:a="http://schemas.openxmlformats.org/drawingml/2006/main" w="9525">
            <a:solidFill>
              <a:srgbClr val="D9DEE8"/>
            </a:solidFill>
            <a:prstDash val="solid"/>
          </a:ln>
        </p:spPr>
      </p:sp>
      <p:sp>
        <p:nvSpPr>
          <p:cNvPr id="4" name="">
            <a:extLst xmlns:a="http://schemas.openxmlformats.org/drawingml/2006/main">
              <a:ext uri="{FF2B5EF4-FFF2-40B4-BE49-F238E27FC236}">
                <a16:creationId xmlns:a16="http://schemas.microsoft.com/office/drawing/2014/main" id="{89B1BBCE-048E-4C74-9012-73051E10BB1E}"/>
              </a:ext>
            </a:extLst>
          </p:cNvPr>
          <p:cNvSpPr>
            <a:spLocks xmlns:a="http://schemas.openxmlformats.org/drawingml/2006/main" noGrp="1"/>
          </p:cNvSpPr>
          <p:nvPr/>
        </p:nvSpPr>
        <p:spPr>
          <a:xfrm xmlns:a="http://schemas.openxmlformats.org/drawingml/2006/main">
            <a:off x="819150" y="2076450"/>
            <a:ext cx="2095500" cy="1285875"/>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EE8"/>
            </a:solidFill>
            <a:prstDash val="solid"/>
          </a:ln>
        </p:spPr>
      </p:sp>
      <p:sp>
        <p:nvSpPr>
          <p:cNvPr id="5" name="">
            <a:extLst xmlns:a="http://schemas.openxmlformats.org/drawingml/2006/main">
              <a:ext uri="{FF2B5EF4-FFF2-40B4-BE49-F238E27FC236}">
                <a16:creationId xmlns:a16="http://schemas.microsoft.com/office/drawing/2014/main" id="{1B17F803-52F9-46AD-B853-FFF90389373D}"/>
              </a:ext>
            </a:extLst>
          </p:cNvPr>
          <p:cNvSpPr>
            <a:spLocks xmlns:a="http://schemas.openxmlformats.org/drawingml/2006/main" noGrp="1"/>
          </p:cNvSpPr>
          <p:nvPr/>
        </p:nvSpPr>
        <p:spPr>
          <a:xfrm xmlns:a="http://schemas.openxmlformats.org/drawingml/2006/main">
            <a:off x="990600" y="23431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02033"/>
                </a:solidFill>
                <a:latin typeface="Arial"/>
                <a:ea typeface="Arial"/>
                <a:cs typeface="Arial"/>
              </a:defRPr>
            </a:pPr>
            <a:r>
              <a:rPr sz="1800" b="1">
                <a:solidFill>
                  <a:srgbClr val="102033"/>
                </a:solidFill>
                <a:latin typeface="Arial"/>
                <a:ea typeface="Arial"/>
                <a:cs typeface="Arial"/>
              </a:rPr>
              <a:t>State</a:t>
            </a:r>
          </a:p>
        </p:txBody>
      </p:sp>
      <p:sp>
        <p:nvSpPr>
          <p:cNvPr id="6" name="">
            <a:extLst xmlns:a="http://schemas.openxmlformats.org/drawingml/2006/main">
              <a:ext uri="{FF2B5EF4-FFF2-40B4-BE49-F238E27FC236}">
                <a16:creationId xmlns:a16="http://schemas.microsoft.com/office/drawing/2014/main" id="{6E93569E-90D6-44BE-9D0B-BAD8F321386D}"/>
              </a:ext>
            </a:extLst>
          </p:cNvPr>
          <p:cNvSpPr>
            <a:spLocks xmlns:a="http://schemas.openxmlformats.org/drawingml/2006/main" noGrp="1"/>
          </p:cNvSpPr>
          <p:nvPr/>
        </p:nvSpPr>
        <p:spPr>
          <a:xfrm xmlns:a="http://schemas.openxmlformats.org/drawingml/2006/main">
            <a:off x="990600" y="2800350"/>
            <a:ext cx="1695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657083"/>
                </a:solidFill>
                <a:latin typeface="Arial"/>
                <a:ea typeface="Arial"/>
                <a:cs typeface="Arial"/>
              </a:defRPr>
            </a:pPr>
            <a:r>
              <a:rPr sz="1275" b="0">
                <a:solidFill>
                  <a:srgbClr val="657083"/>
                </a:solidFill>
                <a:latin typeface="Arial"/>
                <a:ea typeface="Arial"/>
                <a:cs typeface="Arial"/>
              </a:rPr>
              <a:t>Text or JSON context</a:t>
            </a:r>
          </a:p>
        </p:txBody>
      </p:sp>
      <p:sp>
        <p:nvSpPr>
          <p:cNvPr id="7" name="">
            <a:extLst xmlns:a="http://schemas.openxmlformats.org/drawingml/2006/main">
              <a:ext uri="{FF2B5EF4-FFF2-40B4-BE49-F238E27FC236}">
                <a16:creationId xmlns:a16="http://schemas.microsoft.com/office/drawing/2014/main" id="{72792BDA-ECFD-4E61-B099-25BD00BE72D0}"/>
              </a:ext>
            </a:extLst>
          </p:cNvPr>
          <p:cNvSpPr>
            <a:spLocks xmlns:a="http://schemas.openxmlformats.org/drawingml/2006/main" noGrp="1"/>
          </p:cNvSpPr>
          <p:nvPr/>
        </p:nvSpPr>
        <p:spPr>
          <a:xfrm xmlns:a="http://schemas.openxmlformats.org/drawingml/2006/main">
            <a:off x="3009900" y="2724150"/>
            <a:ext cx="6191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8" name="">
            <a:extLst xmlns:a="http://schemas.openxmlformats.org/drawingml/2006/main">
              <a:ext uri="{FF2B5EF4-FFF2-40B4-BE49-F238E27FC236}">
                <a16:creationId xmlns:a16="http://schemas.microsoft.com/office/drawing/2014/main" id="{93B28DD0-9654-4B04-8AFE-736648839D13}"/>
              </a:ext>
            </a:extLst>
          </p:cNvPr>
          <p:cNvSpPr>
            <a:spLocks xmlns:a="http://schemas.openxmlformats.org/drawingml/2006/main" noGrp="1"/>
          </p:cNvSpPr>
          <p:nvPr/>
        </p:nvSpPr>
        <p:spPr>
          <a:xfrm xmlns:a="http://schemas.openxmlformats.org/drawingml/2006/main">
            <a:off x="3714750" y="2076450"/>
            <a:ext cx="2095500" cy="1285875"/>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EE8"/>
            </a:solidFill>
            <a:prstDash val="solid"/>
          </a:ln>
        </p:spPr>
      </p:sp>
      <p:sp>
        <p:nvSpPr>
          <p:cNvPr id="9" name="">
            <a:extLst xmlns:a="http://schemas.openxmlformats.org/drawingml/2006/main">
              <a:ext uri="{FF2B5EF4-FFF2-40B4-BE49-F238E27FC236}">
                <a16:creationId xmlns:a16="http://schemas.microsoft.com/office/drawing/2014/main" id="{6BADAEF8-CA00-4F53-B29D-62B3C484B9C8}"/>
              </a:ext>
            </a:extLst>
          </p:cNvPr>
          <p:cNvSpPr>
            <a:spLocks xmlns:a="http://schemas.openxmlformats.org/drawingml/2006/main" noGrp="1"/>
          </p:cNvSpPr>
          <p:nvPr/>
        </p:nvSpPr>
        <p:spPr>
          <a:xfrm xmlns:a="http://schemas.openxmlformats.org/drawingml/2006/main">
            <a:off x="3886200" y="23431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02033"/>
                </a:solidFill>
                <a:latin typeface="Arial"/>
                <a:ea typeface="Arial"/>
                <a:cs typeface="Arial"/>
              </a:defRPr>
            </a:pPr>
            <a:r>
              <a:rPr sz="1800" b="1">
                <a:solidFill>
                  <a:srgbClr val="102033"/>
                </a:solidFill>
                <a:latin typeface="Arial"/>
                <a:ea typeface="Arial"/>
                <a:cs typeface="Arial"/>
              </a:rPr>
              <a:t>Questions</a:t>
            </a:r>
          </a:p>
        </p:txBody>
      </p:sp>
      <p:sp>
        <p:nvSpPr>
          <p:cNvPr id="10" name="">
            <a:extLst xmlns:a="http://schemas.openxmlformats.org/drawingml/2006/main">
              <a:ext uri="{FF2B5EF4-FFF2-40B4-BE49-F238E27FC236}">
                <a16:creationId xmlns:a16="http://schemas.microsoft.com/office/drawing/2014/main" id="{5F9F07BA-35A0-4A0D-8EBB-6963661F2EB7}"/>
              </a:ext>
            </a:extLst>
          </p:cNvPr>
          <p:cNvSpPr>
            <a:spLocks xmlns:a="http://schemas.openxmlformats.org/drawingml/2006/main" noGrp="1"/>
          </p:cNvSpPr>
          <p:nvPr/>
        </p:nvSpPr>
        <p:spPr>
          <a:xfrm xmlns:a="http://schemas.openxmlformats.org/drawingml/2006/main">
            <a:off x="3886200" y="2800350"/>
            <a:ext cx="1695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657083"/>
                </a:solidFill>
                <a:latin typeface="Arial"/>
                <a:ea typeface="Arial"/>
                <a:cs typeface="Arial"/>
              </a:defRPr>
            </a:pPr>
            <a:r>
              <a:rPr sz="1275" b="0">
                <a:solidFill>
                  <a:srgbClr val="657083"/>
                </a:solidFill>
                <a:latin typeface="Arial"/>
                <a:ea typeface="Arial"/>
                <a:cs typeface="Arial"/>
              </a:rPr>
              <a:t>Typed decision primitives</a:t>
            </a:r>
          </a:p>
        </p:txBody>
      </p:sp>
      <p:sp>
        <p:nvSpPr>
          <p:cNvPr id="11" name="">
            <a:extLst xmlns:a="http://schemas.openxmlformats.org/drawingml/2006/main">
              <a:ext uri="{FF2B5EF4-FFF2-40B4-BE49-F238E27FC236}">
                <a16:creationId xmlns:a16="http://schemas.microsoft.com/office/drawing/2014/main" id="{91D81F6A-142C-499C-A174-D98F0404355D}"/>
              </a:ext>
            </a:extLst>
          </p:cNvPr>
          <p:cNvSpPr>
            <a:spLocks xmlns:a="http://schemas.openxmlformats.org/drawingml/2006/main" noGrp="1"/>
          </p:cNvSpPr>
          <p:nvPr/>
        </p:nvSpPr>
        <p:spPr>
          <a:xfrm xmlns:a="http://schemas.openxmlformats.org/drawingml/2006/main">
            <a:off x="5905500" y="2724150"/>
            <a:ext cx="6191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2" name="">
            <a:extLst xmlns:a="http://schemas.openxmlformats.org/drawingml/2006/main">
              <a:ext uri="{FF2B5EF4-FFF2-40B4-BE49-F238E27FC236}">
                <a16:creationId xmlns:a16="http://schemas.microsoft.com/office/drawing/2014/main" id="{2D276D94-DB52-4891-AD85-E46A2999DF13}"/>
              </a:ext>
            </a:extLst>
          </p:cNvPr>
          <p:cNvSpPr>
            <a:spLocks xmlns:a="http://schemas.openxmlformats.org/drawingml/2006/main" noGrp="1"/>
          </p:cNvSpPr>
          <p:nvPr/>
        </p:nvSpPr>
        <p:spPr>
          <a:xfrm xmlns:a="http://schemas.openxmlformats.org/drawingml/2006/main">
            <a:off x="6810375" y="2076450"/>
            <a:ext cx="2095500" cy="1285875"/>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EE8"/>
            </a:solidFill>
            <a:prstDash val="solid"/>
          </a:ln>
        </p:spPr>
      </p:sp>
      <p:sp>
        <p:nvSpPr>
          <p:cNvPr id="13" name="">
            <a:extLst xmlns:a="http://schemas.openxmlformats.org/drawingml/2006/main">
              <a:ext uri="{FF2B5EF4-FFF2-40B4-BE49-F238E27FC236}">
                <a16:creationId xmlns:a16="http://schemas.microsoft.com/office/drawing/2014/main" id="{92A40A12-4982-4EA6-ADFB-8D7CE35D568C}"/>
              </a:ext>
            </a:extLst>
          </p:cNvPr>
          <p:cNvSpPr>
            <a:spLocks xmlns:a="http://schemas.openxmlformats.org/drawingml/2006/main" noGrp="1"/>
          </p:cNvSpPr>
          <p:nvPr/>
        </p:nvSpPr>
        <p:spPr>
          <a:xfrm xmlns:a="http://schemas.openxmlformats.org/drawingml/2006/main">
            <a:off x="6981825" y="23431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02033"/>
                </a:solidFill>
                <a:latin typeface="Arial"/>
                <a:ea typeface="Arial"/>
                <a:cs typeface="Arial"/>
              </a:defRPr>
            </a:pPr>
            <a:r>
              <a:rPr sz="1800" b="1">
                <a:solidFill>
                  <a:srgbClr val="102033"/>
                </a:solidFill>
                <a:latin typeface="Arial"/>
                <a:ea typeface="Arial"/>
                <a:cs typeface="Arial"/>
              </a:rPr>
              <a:t>Model</a:t>
            </a:r>
          </a:p>
        </p:txBody>
      </p:sp>
      <p:sp>
        <p:nvSpPr>
          <p:cNvPr id="14" name="">
            <a:extLst xmlns:a="http://schemas.openxmlformats.org/drawingml/2006/main">
              <a:ext uri="{FF2B5EF4-FFF2-40B4-BE49-F238E27FC236}">
                <a16:creationId xmlns:a16="http://schemas.microsoft.com/office/drawing/2014/main" id="{DAF7F6EA-7822-4804-A936-1C8418233C24}"/>
              </a:ext>
            </a:extLst>
          </p:cNvPr>
          <p:cNvSpPr>
            <a:spLocks xmlns:a="http://schemas.openxmlformats.org/drawingml/2006/main" noGrp="1"/>
          </p:cNvSpPr>
          <p:nvPr/>
        </p:nvSpPr>
        <p:spPr>
          <a:xfrm xmlns:a="http://schemas.openxmlformats.org/drawingml/2006/main">
            <a:off x="6981825" y="2800350"/>
            <a:ext cx="1695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657083"/>
                </a:solidFill>
                <a:latin typeface="Arial"/>
                <a:ea typeface="Arial"/>
                <a:cs typeface="Arial"/>
              </a:defRPr>
            </a:pPr>
            <a:r>
              <a:rPr sz="1275" b="0">
                <a:solidFill>
                  <a:srgbClr val="657083"/>
                </a:solidFill>
                <a:latin typeface="Arial"/>
                <a:ea typeface="Arial"/>
                <a:cs typeface="Arial"/>
              </a:rPr>
              <a:t>jev-latest or pinned version</a:t>
            </a:r>
          </a:p>
        </p:txBody>
      </p:sp>
      <p:sp>
        <p:nvSpPr>
          <p:cNvPr id="15" name="">
            <a:extLst xmlns:a="http://schemas.openxmlformats.org/drawingml/2006/main">
              <a:ext uri="{FF2B5EF4-FFF2-40B4-BE49-F238E27FC236}">
                <a16:creationId xmlns:a16="http://schemas.microsoft.com/office/drawing/2014/main" id="{5AEA4323-70E2-4BAD-A68C-6BB78C5754FC}"/>
              </a:ext>
            </a:extLst>
          </p:cNvPr>
          <p:cNvSpPr>
            <a:spLocks xmlns:a="http://schemas.openxmlformats.org/drawingml/2006/main" noGrp="1"/>
          </p:cNvSpPr>
          <p:nvPr/>
        </p:nvSpPr>
        <p:spPr>
          <a:xfrm xmlns:a="http://schemas.openxmlformats.org/drawingml/2006/main">
            <a:off x="9001125" y="2724150"/>
            <a:ext cx="6191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6" name="">
            <a:extLst xmlns:a="http://schemas.openxmlformats.org/drawingml/2006/main">
              <a:ext uri="{FF2B5EF4-FFF2-40B4-BE49-F238E27FC236}">
                <a16:creationId xmlns:a16="http://schemas.microsoft.com/office/drawing/2014/main" id="{4D16DAF1-2D7B-4E0C-BB52-959760236BA4}"/>
              </a:ext>
            </a:extLst>
          </p:cNvPr>
          <p:cNvSpPr>
            <a:spLocks xmlns:a="http://schemas.openxmlformats.org/drawingml/2006/main" noGrp="1"/>
          </p:cNvSpPr>
          <p:nvPr/>
        </p:nvSpPr>
        <p:spPr>
          <a:xfrm xmlns:a="http://schemas.openxmlformats.org/drawingml/2006/main">
            <a:off x="9667875" y="2076450"/>
            <a:ext cx="2095500" cy="1285875"/>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EE8"/>
            </a:solidFill>
            <a:prstDash val="solid"/>
          </a:ln>
        </p:spPr>
      </p:sp>
      <p:sp>
        <p:nvSpPr>
          <p:cNvPr id="17" name="">
            <a:extLst xmlns:a="http://schemas.openxmlformats.org/drawingml/2006/main">
              <a:ext uri="{FF2B5EF4-FFF2-40B4-BE49-F238E27FC236}">
                <a16:creationId xmlns:a16="http://schemas.microsoft.com/office/drawing/2014/main" id="{CEFE2D1A-791F-42ED-917E-FBD3AF24C44F}"/>
              </a:ext>
            </a:extLst>
          </p:cNvPr>
          <p:cNvSpPr>
            <a:spLocks xmlns:a="http://schemas.openxmlformats.org/drawingml/2006/main" noGrp="1"/>
          </p:cNvSpPr>
          <p:nvPr/>
        </p:nvSpPr>
        <p:spPr>
          <a:xfrm xmlns:a="http://schemas.openxmlformats.org/drawingml/2006/main">
            <a:off x="9839325" y="23431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0F766E"/>
                </a:solidFill>
                <a:latin typeface="Arial"/>
                <a:ea typeface="Arial"/>
                <a:cs typeface="Arial"/>
              </a:defRPr>
            </a:pPr>
            <a:r>
              <a:rPr sz="1800" b="1">
                <a:solidFill>
                  <a:srgbClr val="0F766E"/>
                </a:solidFill>
                <a:latin typeface="Arial"/>
                <a:ea typeface="Arial"/>
                <a:cs typeface="Arial"/>
              </a:rPr>
              <a:t>Answers</a:t>
            </a:r>
          </a:p>
        </p:txBody>
      </p:sp>
      <p:sp>
        <p:nvSpPr>
          <p:cNvPr id="18" name="">
            <a:extLst xmlns:a="http://schemas.openxmlformats.org/drawingml/2006/main">
              <a:ext uri="{FF2B5EF4-FFF2-40B4-BE49-F238E27FC236}">
                <a16:creationId xmlns:a16="http://schemas.microsoft.com/office/drawing/2014/main" id="{67F31811-BAE4-468B-B6AC-CFB592BB34BB}"/>
              </a:ext>
            </a:extLst>
          </p:cNvPr>
          <p:cNvSpPr>
            <a:spLocks xmlns:a="http://schemas.openxmlformats.org/drawingml/2006/main" noGrp="1"/>
          </p:cNvSpPr>
          <p:nvPr/>
        </p:nvSpPr>
        <p:spPr>
          <a:xfrm xmlns:a="http://schemas.openxmlformats.org/drawingml/2006/main">
            <a:off x="9839325" y="2800350"/>
            <a:ext cx="1695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657083"/>
                </a:solidFill>
                <a:latin typeface="Arial"/>
                <a:ea typeface="Arial"/>
                <a:cs typeface="Arial"/>
              </a:defRPr>
            </a:pPr>
            <a:r>
              <a:rPr sz="1275" b="0">
                <a:solidFill>
                  <a:srgbClr val="657083"/>
                </a:solidFill>
                <a:latin typeface="Arial"/>
                <a:ea typeface="Arial"/>
                <a:cs typeface="Arial"/>
              </a:rPr>
              <a:t>Machine-readable decisions</a:t>
            </a:r>
          </a:p>
        </p:txBody>
      </p:sp>
      <p:graphicFrame>
        <p:nvGraphicFramePr>
          <p:cNvPr id="39" name=""/>
          <p:cNvGraphicFramePr/>
          <p:nvPr/>
        </p:nvGraphicFramePr>
        <p:xfrm>
          <a:off xmlns:a="http://schemas.openxmlformats.org/drawingml/2006/main" x="1352550" y="4095750"/>
          <a:ext xmlns:a="http://schemas.openxmlformats.org/drawingml/2006/main" cx="9048750" cy="1428750"/>
        </p:xfrm>
        <a:graphic xmlns:a="http://schemas.openxmlformats.org/drawingml/2006/main">
          <a:graphicData uri="http://schemas.openxmlformats.org/drawingml/2006/table">
            <a:tbl>
              <a:tblPr firstRow="1" bandRow="1"/>
              <a:tblGrid>
                <a:gridCol w="3016250"/>
                <a:gridCol w="3016250"/>
                <a:gridCol w="3016250"/>
              </a:tblGrid>
              <a:tr h="357188">
                <a:tc>
                  <a:txBody>
                    <a:bodyPr/>
                    <a:lstStyle/>
                    <a:p>
                      <a:r>
                        <a:t>Primitive</a:t>
                      </a:r>
                    </a:p>
                  </a:txBody>
                  <a:tcPr marL="91440" marR="91440" marT="45720" marB="45720"/>
                </a:tc>
                <a:tc>
                  <a:txBody>
                    <a:bodyPr/>
                    <a:lstStyle/>
                    <a:p>
                      <a:r>
                        <a:t>Meaning</a:t>
                      </a:r>
                    </a:p>
                  </a:txBody>
                  <a:tcPr marL="91440" marR="91440" marT="45720" marB="45720"/>
                </a:tc>
                <a:tc>
                  <a:txBody>
                    <a:bodyPr/>
                    <a:lstStyle/>
                    <a:p>
                      <a:r>
                        <a:t>Example output</a:t>
                      </a:r>
                    </a:p>
                  </a:txBody>
                  <a:tcPr marL="91440" marR="91440" marT="45720" marB="45720"/>
                </a:tc>
              </a:tr>
              <a:tr h="357188">
                <a:tc>
                  <a:txBody>
                    <a:bodyPr/>
                    <a:lstStyle/>
                    <a:p>
                      <a:r>
                        <a:t>noul</a:t>
                      </a:r>
                    </a:p>
                  </a:txBody>
                  <a:tcPr marL="91440" marR="91440" marT="45720" marB="45720"/>
                </a:tc>
                <a:tc>
                  <a:txBody>
                    <a:bodyPr/>
                    <a:lstStyle/>
                    <a:p>
                      <a:r>
                        <a:t>Yes/no probability</a:t>
                      </a:r>
                    </a:p>
                  </a:txBody>
                  <a:tcPr marL="91440" marR="91440" marT="45720" marB="45720"/>
                </a:tc>
                <a:tc>
                  <a:txBody>
                    <a:bodyPr/>
                    <a:lstStyle/>
                    <a:p>
                      <a:r>
                        <a:t>urgent = 0.96</a:t>
                      </a:r>
                    </a:p>
                  </a:txBody>
                  <a:tcPr marL="91440" marR="91440" marT="45720" marB="45720"/>
                </a:tc>
              </a:tr>
              <a:tr h="357188">
                <a:tc>
                  <a:txBody>
                    <a:bodyPr/>
                    <a:lstStyle/>
                    <a:p>
                      <a:r>
                        <a:t>choice</a:t>
                      </a:r>
                    </a:p>
                  </a:txBody>
                  <a:tcPr marL="91440" marR="91440" marT="45720" marB="45720"/>
                </a:tc>
                <a:tc>
                  <a:txBody>
                    <a:bodyPr/>
                    <a:lstStyle/>
                    <a:p>
                      <a:r>
                        <a:t>Pick from defined options</a:t>
                      </a:r>
                    </a:p>
                  </a:txBody>
                  <a:tcPr marL="91440" marR="91440" marT="45720" marB="45720"/>
                </a:tc>
                <a:tc>
                  <a:txBody>
                    <a:bodyPr/>
                    <a:lstStyle/>
                    <a:p>
                      <a:r>
                        <a:t>route = technical</a:t>
                      </a:r>
                    </a:p>
                  </a:txBody>
                  <a:tcPr marL="91440" marR="91440" marT="45720" marB="45720"/>
                </a:tc>
              </a:tr>
              <a:tr h="357188">
                <a:tc>
                  <a:txBody>
                    <a:bodyPr/>
                    <a:lstStyle/>
                    <a:p>
                      <a:r>
                        <a:t>score</a:t>
                      </a:r>
                    </a:p>
                  </a:txBody>
                  <a:tcPr marL="91440" marR="91440" marT="45720" marB="45720"/>
                </a:tc>
                <a:tc>
                  <a:txBody>
                    <a:bodyPr/>
                    <a:lstStyle/>
                    <a:p>
                      <a:r>
                        <a:t>Rate against ordered levels</a:t>
                      </a:r>
                    </a:p>
                  </a:txBody>
                  <a:tcPr marL="91440" marR="91440" marT="45720" marB="45720"/>
                </a:tc>
                <a:tc>
                  <a:txBody>
                    <a:bodyPr/>
                    <a:lstStyle/>
                    <a:p>
                      <a:r>
                        <a:t>risk = 0.72</a:t>
                      </a:r>
                    </a:p>
                  </a:txBody>
                  <a:tcPr marL="91440" marR="91440" marT="45720" marB="45720"/>
                </a:tc>
              </a:tr>
            </a:tbl>
          </a:graphicData>
        </a:graphic>
      </p:graphicFrame>
      <p:sp>
        <p:nvSpPr>
          <p:cNvPr id="20" name="">
            <a:extLst xmlns:a="http://schemas.openxmlformats.org/drawingml/2006/main">
              <a:ext uri="{FF2B5EF4-FFF2-40B4-BE49-F238E27FC236}">
                <a16:creationId xmlns:a16="http://schemas.microsoft.com/office/drawing/2014/main" id="{E999D0D4-160D-469D-9F9F-3429B52A1C86}"/>
              </a:ext>
            </a:extLst>
          </p:cNvPr>
          <p:cNvSpPr>
            <a:spLocks xmlns:a="http://schemas.openxmlformats.org/drawingml/2006/main" noGrp="1"/>
          </p:cNvSpPr>
          <p:nvPr/>
        </p:nvSpPr>
        <p:spPr>
          <a:xfrm xmlns:a="http://schemas.openxmlformats.org/drawingml/2006/main">
            <a:off x="10934700" y="6362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657083"/>
                </a:solidFill>
                <a:latin typeface="Arial"/>
                <a:ea typeface="Arial"/>
                <a:cs typeface="Arial"/>
              </a:defRPr>
            </a:pPr>
            <a:r>
              <a:rPr sz="900" b="1">
                <a:solidFill>
                  <a:srgbClr val="657083"/>
                </a:solidFill>
                <a:latin typeface="Arial"/>
                <a:ea typeface="Arial"/>
                <a:cs typeface="Arial"/>
              </a:rPr>
              <a:t>06</a:t>
            </a:r>
          </a:p>
        </p:txBody>
      </p:sp>
    </p:spTree>
    <p:extLst>
      <p:ext uri="{BB962C8B-B14F-4D97-AF65-F5344CB8AC3E}">
        <p14:creationId xmlns:p14="http://schemas.microsoft.com/office/powerpoint/2010/main" val="1511099799"/>
      </p:ext>
    </p:extLst>
  </p:cSld>
</p:sld>
</file>

<file path=ppt/slides/slide7.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E217048-0C95-4F51-8B33-0C070F76FA93}"/>
              </a:ext>
            </a:extLst>
          </p:cNvPr>
          <p:cNvSpPr>
            <a:spLocks xmlns:a="http://schemas.openxmlformats.org/drawingml/2006/main" noGrp="1"/>
          </p:cNvSpPr>
          <p:nvPr/>
        </p:nvSpPr>
        <p:spPr>
          <a:xfrm xmlns:a="http://schemas.openxmlformats.org/drawingml/2006/main">
            <a:off x="609600" y="3238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0F766E"/>
                </a:solidFill>
                <a:latin typeface="Arial"/>
                <a:ea typeface="Arial"/>
                <a:cs typeface="Arial"/>
              </a:defRPr>
            </a:pPr>
            <a:r>
              <a:rPr sz="975" b="1">
                <a:solidFill>
                  <a:srgbClr val="0F766E"/>
                </a:solidFill>
                <a:latin typeface="Arial"/>
                <a:ea typeface="Arial"/>
                <a:cs typeface="Arial"/>
              </a:rPr>
              <a:t>JEV EVALUATION</a:t>
            </a:r>
          </a:p>
        </p:txBody>
      </p:sp>
      <p:sp>
        <p:nvSpPr>
          <p:cNvPr id="2" name="">
            <a:extLst xmlns:a="http://schemas.openxmlformats.org/drawingml/2006/main">
              <a:ext uri="{FF2B5EF4-FFF2-40B4-BE49-F238E27FC236}">
                <a16:creationId xmlns:a16="http://schemas.microsoft.com/office/drawing/2014/main" id="{19205ECB-D83F-44A1-AC78-FBC07CD32ACD}"/>
              </a:ext>
            </a:extLst>
          </p:cNvPr>
          <p:cNvSpPr>
            <a:spLocks xmlns:a="http://schemas.openxmlformats.org/drawingml/2006/main" noGrp="1"/>
          </p:cNvSpPr>
          <p:nvPr/>
        </p:nvSpPr>
        <p:spPr>
          <a:xfrm xmlns:a="http://schemas.openxmlformats.org/drawingml/2006/main">
            <a:off x="609600" y="6286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33"/>
                </a:solidFill>
                <a:latin typeface="Arial"/>
                <a:ea typeface="Arial"/>
                <a:cs typeface="Arial"/>
              </a:defRPr>
            </a:pPr>
            <a:r>
              <a:rPr sz="2550" b="1">
                <a:solidFill>
                  <a:srgbClr val="172033"/>
                </a:solidFill>
                <a:latin typeface="Arial"/>
                <a:ea typeface="Arial"/>
                <a:cs typeface="Arial"/>
              </a:rPr>
              <a:t>Where Jev fits beside LLMs</a:t>
            </a:r>
          </a:p>
        </p:txBody>
      </p:sp>
      <p:sp>
        <p:nvSpPr>
          <p:cNvPr id="3" name="">
            <a:extLst xmlns:a="http://schemas.openxmlformats.org/drawingml/2006/main">
              <a:ext uri="{FF2B5EF4-FFF2-40B4-BE49-F238E27FC236}">
                <a16:creationId xmlns:a16="http://schemas.microsoft.com/office/drawing/2014/main" id="{81349F73-99BE-4FA0-9CE1-8B1EBD950794}"/>
              </a:ext>
            </a:extLst>
          </p:cNvPr>
          <p:cNvSpPr>
            <a:spLocks xmlns:a="http://schemas.openxmlformats.org/drawingml/2006/main" noGrp="1"/>
          </p:cNvSpPr>
          <p:nvPr/>
        </p:nvSpPr>
        <p:spPr>
          <a:xfrm xmlns:a="http://schemas.openxmlformats.org/drawingml/2006/main">
            <a:off x="609600" y="1200150"/>
            <a:ext cx="10763250" cy="0"/>
          </a:xfrm>
          <a:prstGeom xmlns:a="http://schemas.openxmlformats.org/drawingml/2006/main" prst="line">
            <a:avLst/>
          </a:prstGeom>
          <a:noFill xmlns:a="http://schemas.openxmlformats.org/drawingml/2006/main"/>
          <a:ln xmlns:a="http://schemas.openxmlformats.org/drawingml/2006/main" w="9525">
            <a:solidFill>
              <a:srgbClr val="D9DEE8"/>
            </a:solidFill>
            <a:prstDash val="solid"/>
          </a:ln>
        </p:spPr>
      </p:sp>
      <p:graphicFrame>
        <p:nvGraphicFramePr>
          <p:cNvPr id="10" name=""/>
          <p:cNvGraphicFramePr/>
          <p:nvPr/>
        </p:nvGraphicFramePr>
        <p:xfrm>
          <a:off xmlns:a="http://schemas.openxmlformats.org/drawingml/2006/main" x="762000" y="1638300"/>
          <a:ext xmlns:a="http://schemas.openxmlformats.org/drawingml/2006/main" cx="10287000" cy="3429000"/>
        </p:xfrm>
        <a:graphic xmlns:a="http://schemas.openxmlformats.org/drawingml/2006/main">
          <a:graphicData uri="http://schemas.openxmlformats.org/drawingml/2006/table">
            <a:tbl>
              <a:tblPr firstRow="1" bandRow="1"/>
              <a:tblGrid>
                <a:gridCol w="3429000"/>
                <a:gridCol w="3429000"/>
                <a:gridCol w="3429000"/>
              </a:tblGrid>
              <a:tr h="571500">
                <a:tc>
                  <a:txBody>
                    <a:bodyPr/>
                    <a:lstStyle/>
                    <a:p>
                      <a:r>
                        <a:t>Need</a:t>
                      </a:r>
                    </a:p>
                  </a:txBody>
                  <a:tcPr marL="91440" marR="91440" marT="45720" marB="45720"/>
                </a:tc>
                <a:tc>
                  <a:txBody>
                    <a:bodyPr/>
                    <a:lstStyle/>
                    <a:p>
                      <a:r>
                        <a:t>Use Jev</a:t>
                      </a:r>
                    </a:p>
                  </a:txBody>
                  <a:tcPr marL="91440" marR="91440" marT="45720" marB="45720"/>
                </a:tc>
                <a:tc>
                  <a:txBody>
                    <a:bodyPr/>
                    <a:lstStyle/>
                    <a:p>
                      <a:r>
                        <a:t>Use Claude or another LLM</a:t>
                      </a:r>
                    </a:p>
                  </a:txBody>
                  <a:tcPr marL="91440" marR="91440" marT="45720" marB="45720"/>
                </a:tc>
              </a:tr>
              <a:tr h="571500">
                <a:tc>
                  <a:txBody>
                    <a:bodyPr/>
                    <a:lstStyle/>
                    <a:p>
                      <a:r>
                        <a:t>Route a support ticket</a:t>
                      </a:r>
                    </a:p>
                  </a:txBody>
                  <a:tcPr marL="91440" marR="91440" marT="45720" marB="45720"/>
                </a:tc>
                <a:tc>
                  <a:txBody>
                    <a:bodyPr/>
                    <a:lstStyle/>
                    <a:p>
                      <a:r>
                        <a:t>Strong fit</a:t>
                      </a:r>
                    </a:p>
                  </a:txBody>
                  <a:tcPr marL="91440" marR="91440" marT="45720" marB="45720"/>
                </a:tc>
                <a:tc>
                  <a:txBody>
                    <a:bodyPr/>
                    <a:lstStyle/>
                    <a:p>
                      <a:r>
                        <a:t>Fit when rationale is central</a:t>
                      </a:r>
                    </a:p>
                  </a:txBody>
                  <a:tcPr marL="91440" marR="91440" marT="45720" marB="45720"/>
                </a:tc>
              </a:tr>
              <a:tr h="571500">
                <a:tc>
                  <a:txBody>
                    <a:bodyPr/>
                    <a:lstStyle/>
                    <a:p>
                      <a:r>
                        <a:t>Moderate or approve a tool call</a:t>
                      </a:r>
                    </a:p>
                  </a:txBody>
                  <a:tcPr marL="91440" marR="91440" marT="45720" marB="45720"/>
                </a:tc>
                <a:tc>
                  <a:txBody>
                    <a:bodyPr/>
                    <a:lstStyle/>
                    <a:p>
                      <a:r>
                        <a:t>Strong fit</a:t>
                      </a:r>
                    </a:p>
                  </a:txBody>
                  <a:tcPr marL="91440" marR="91440" marT="45720" marB="45720"/>
                </a:tc>
                <a:tc>
                  <a:txBody>
                    <a:bodyPr/>
                    <a:lstStyle/>
                    <a:p>
                      <a:r>
                        <a:t>Fit for policy interpretation</a:t>
                      </a:r>
                    </a:p>
                  </a:txBody>
                  <a:tcPr marL="91440" marR="91440" marT="45720" marB="45720"/>
                </a:tc>
              </a:tr>
              <a:tr h="571500">
                <a:tc>
                  <a:txBody>
                    <a:bodyPr/>
                    <a:lstStyle/>
                    <a:p>
                      <a:r>
                        <a:t>Draft a customer response</a:t>
                      </a:r>
                    </a:p>
                  </a:txBody>
                  <a:tcPr marL="91440" marR="91440" marT="45720" marB="45720"/>
                </a:tc>
                <a:tc>
                  <a:txBody>
                    <a:bodyPr/>
                    <a:lstStyle/>
                    <a:p>
                      <a:r>
                        <a:t>No</a:t>
                      </a:r>
                    </a:p>
                  </a:txBody>
                  <a:tcPr marL="91440" marR="91440" marT="45720" marB="45720"/>
                </a:tc>
                <a:tc>
                  <a:txBody>
                    <a:bodyPr/>
                    <a:lstStyle/>
                    <a:p>
                      <a:r>
                        <a:t>Strong fit</a:t>
                      </a:r>
                    </a:p>
                  </a:txBody>
                  <a:tcPr marL="91440" marR="91440" marT="45720" marB="45720"/>
                </a:tc>
              </a:tr>
              <a:tr h="571500">
                <a:tc>
                  <a:txBody>
                    <a:bodyPr/>
                    <a:lstStyle/>
                    <a:p>
                      <a:r>
                        <a:t>Summarize a case history</a:t>
                      </a:r>
                    </a:p>
                  </a:txBody>
                  <a:tcPr marL="91440" marR="91440" marT="45720" marB="45720"/>
                </a:tc>
                <a:tc>
                  <a:txBody>
                    <a:bodyPr/>
                    <a:lstStyle/>
                    <a:p>
                      <a:r>
                        <a:t>No</a:t>
                      </a:r>
                    </a:p>
                  </a:txBody>
                  <a:tcPr marL="91440" marR="91440" marT="45720" marB="45720"/>
                </a:tc>
                <a:tc>
                  <a:txBody>
                    <a:bodyPr/>
                    <a:lstStyle/>
                    <a:p>
                      <a:r>
                        <a:t>Strong fit</a:t>
                      </a:r>
                    </a:p>
                  </a:txBody>
                  <a:tcPr marL="91440" marR="91440" marT="45720" marB="45720"/>
                </a:tc>
              </a:tr>
              <a:tr h="571500">
                <a:tc>
                  <a:txBody>
                    <a:bodyPr/>
                    <a:lstStyle/>
                    <a:p>
                      <a:r>
                        <a:t>Handle ambiguous edge cases</a:t>
                      </a:r>
                    </a:p>
                  </a:txBody>
                  <a:tcPr marL="91440" marR="91440" marT="45720" marB="45720"/>
                </a:tc>
                <a:tc>
                  <a:txBody>
                    <a:bodyPr/>
                    <a:lstStyle/>
                    <a:p>
                      <a:r>
                        <a:t>Threshold and escalate</a:t>
                      </a:r>
                    </a:p>
                  </a:txBody>
                  <a:tcPr marL="91440" marR="91440" marT="45720" marB="45720"/>
                </a:tc>
                <a:tc>
                  <a:txBody>
                    <a:bodyPr/>
                    <a:lstStyle/>
                    <a:p>
                      <a:r>
                        <a:t>Strong fit</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ED69FF98-63DB-4D20-9278-421060F1C742}"/>
              </a:ext>
            </a:extLst>
          </p:cNvPr>
          <p:cNvSpPr>
            <a:spLocks xmlns:a="http://schemas.openxmlformats.org/drawingml/2006/main" noGrp="1"/>
          </p:cNvSpPr>
          <p:nvPr/>
        </p:nvSpPr>
        <p:spPr>
          <a:xfrm xmlns:a="http://schemas.openxmlformats.org/drawingml/2006/main">
            <a:off x="876300" y="5429250"/>
            <a:ext cx="971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102033"/>
                </a:solidFill>
                <a:latin typeface="Arial"/>
                <a:ea typeface="Arial"/>
                <a:cs typeface="Arial"/>
              </a:defRPr>
            </a:pPr>
            <a:r>
              <a:rPr sz="1725" b="1">
                <a:solidFill>
                  <a:srgbClr val="102033"/>
                </a:solidFill>
                <a:latin typeface="Arial"/>
                <a:ea typeface="Arial"/>
                <a:cs typeface="Arial"/>
              </a:rPr>
              <a:t>Plain view: use Jev when the app needs a decision. Use an LLM when the app needs language or reasoning.</a:t>
            </a:r>
          </a:p>
        </p:txBody>
      </p:sp>
      <p:sp>
        <p:nvSpPr>
          <p:cNvPr id="6" name="">
            <a:extLst xmlns:a="http://schemas.openxmlformats.org/drawingml/2006/main">
              <a:ext uri="{FF2B5EF4-FFF2-40B4-BE49-F238E27FC236}">
                <a16:creationId xmlns:a16="http://schemas.microsoft.com/office/drawing/2014/main" id="{F37618C1-E71C-4D35-A10D-F2E3AEE9AE7A}"/>
              </a:ext>
            </a:extLst>
          </p:cNvPr>
          <p:cNvSpPr>
            <a:spLocks xmlns:a="http://schemas.openxmlformats.org/drawingml/2006/main" noGrp="1"/>
          </p:cNvSpPr>
          <p:nvPr/>
        </p:nvSpPr>
        <p:spPr>
          <a:xfrm xmlns:a="http://schemas.openxmlformats.org/drawingml/2006/main">
            <a:off x="10934700" y="6362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657083"/>
                </a:solidFill>
                <a:latin typeface="Arial"/>
                <a:ea typeface="Arial"/>
                <a:cs typeface="Arial"/>
              </a:defRPr>
            </a:pPr>
            <a:r>
              <a:rPr sz="900" b="1">
                <a:solidFill>
                  <a:srgbClr val="657083"/>
                </a:solidFill>
                <a:latin typeface="Arial"/>
                <a:ea typeface="Arial"/>
                <a:cs typeface="Arial"/>
              </a:rPr>
              <a:t>07</a:t>
            </a:r>
          </a:p>
        </p:txBody>
      </p:sp>
    </p:spTree>
    <p:extLst>
      <p:ext uri="{BB962C8B-B14F-4D97-AF65-F5344CB8AC3E}">
        <p14:creationId xmlns:p14="http://schemas.microsoft.com/office/powerpoint/2010/main" val="284038795"/>
      </p:ext>
    </p:extLst>
  </p:cSld>
</p:sld>
</file>

<file path=ppt/slides/slide8.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773CD397-8189-4564-84DD-E0DD0BD79F45}"/>
              </a:ext>
            </a:extLst>
          </p:cNvPr>
          <p:cNvSpPr>
            <a:spLocks xmlns:a="http://schemas.openxmlformats.org/drawingml/2006/main" noGrp="1"/>
          </p:cNvSpPr>
          <p:nvPr/>
        </p:nvSpPr>
        <p:spPr>
          <a:xfrm xmlns:a="http://schemas.openxmlformats.org/drawingml/2006/main">
            <a:off x="609600" y="3238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0F766E"/>
                </a:solidFill>
                <a:latin typeface="Arial"/>
                <a:ea typeface="Arial"/>
                <a:cs typeface="Arial"/>
              </a:defRPr>
            </a:pPr>
            <a:r>
              <a:rPr sz="975" b="1">
                <a:solidFill>
                  <a:srgbClr val="0F766E"/>
                </a:solidFill>
                <a:latin typeface="Arial"/>
                <a:ea typeface="Arial"/>
                <a:cs typeface="Arial"/>
              </a:rPr>
              <a:t>JEV EVALUATION</a:t>
            </a:r>
          </a:p>
        </p:txBody>
      </p:sp>
      <p:sp>
        <p:nvSpPr>
          <p:cNvPr id="2" name="">
            <a:extLst xmlns:a="http://schemas.openxmlformats.org/drawingml/2006/main">
              <a:ext uri="{FF2B5EF4-FFF2-40B4-BE49-F238E27FC236}">
                <a16:creationId xmlns:a16="http://schemas.microsoft.com/office/drawing/2014/main" id="{6610D982-C34C-4F64-927C-9C9D8D034BAC}"/>
              </a:ext>
            </a:extLst>
          </p:cNvPr>
          <p:cNvSpPr>
            <a:spLocks xmlns:a="http://schemas.openxmlformats.org/drawingml/2006/main" noGrp="1"/>
          </p:cNvSpPr>
          <p:nvPr/>
        </p:nvSpPr>
        <p:spPr>
          <a:xfrm xmlns:a="http://schemas.openxmlformats.org/drawingml/2006/main">
            <a:off x="609600" y="6286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33"/>
                </a:solidFill>
                <a:latin typeface="Arial"/>
                <a:ea typeface="Arial"/>
                <a:cs typeface="Arial"/>
              </a:defRPr>
            </a:pPr>
            <a:r>
              <a:rPr sz="2550" b="1">
                <a:solidFill>
                  <a:srgbClr val="172033"/>
                </a:solidFill>
                <a:latin typeface="Arial"/>
                <a:ea typeface="Arial"/>
                <a:cs typeface="Arial"/>
              </a:rPr>
              <a:t>Technical design pattern</a:t>
            </a:r>
          </a:p>
        </p:txBody>
      </p:sp>
      <p:sp>
        <p:nvSpPr>
          <p:cNvPr id="3" name="">
            <a:extLst xmlns:a="http://schemas.openxmlformats.org/drawingml/2006/main">
              <a:ext uri="{FF2B5EF4-FFF2-40B4-BE49-F238E27FC236}">
                <a16:creationId xmlns:a16="http://schemas.microsoft.com/office/drawing/2014/main" id="{8E43B5EC-05A4-433E-9E6B-29E815B0D84F}"/>
              </a:ext>
            </a:extLst>
          </p:cNvPr>
          <p:cNvSpPr>
            <a:spLocks xmlns:a="http://schemas.openxmlformats.org/drawingml/2006/main" noGrp="1"/>
          </p:cNvSpPr>
          <p:nvPr/>
        </p:nvSpPr>
        <p:spPr>
          <a:xfrm xmlns:a="http://schemas.openxmlformats.org/drawingml/2006/main">
            <a:off x="609600" y="1200150"/>
            <a:ext cx="10763250" cy="0"/>
          </a:xfrm>
          <a:prstGeom xmlns:a="http://schemas.openxmlformats.org/drawingml/2006/main" prst="line">
            <a:avLst/>
          </a:prstGeom>
          <a:noFill xmlns:a="http://schemas.openxmlformats.org/drawingml/2006/main"/>
          <a:ln xmlns:a="http://schemas.openxmlformats.org/drawingml/2006/main" w="9525">
            <a:solidFill>
              <a:srgbClr val="D9DEE8"/>
            </a:solidFill>
            <a:prstDash val="solid"/>
          </a:ln>
        </p:spPr>
      </p:sp>
      <p:sp>
        <p:nvSpPr>
          <p:cNvPr id="4" name="">
            <a:extLst xmlns:a="http://schemas.openxmlformats.org/drawingml/2006/main">
              <a:ext uri="{FF2B5EF4-FFF2-40B4-BE49-F238E27FC236}">
                <a16:creationId xmlns:a16="http://schemas.microsoft.com/office/drawing/2014/main" id="{94BDAF59-59B3-451B-A524-92AAEC33BBC5}"/>
              </a:ext>
            </a:extLst>
          </p:cNvPr>
          <p:cNvSpPr>
            <a:spLocks xmlns:a="http://schemas.openxmlformats.org/drawingml/2006/main" noGrp="1"/>
          </p:cNvSpPr>
          <p:nvPr/>
        </p:nvSpPr>
        <p:spPr>
          <a:xfrm xmlns:a="http://schemas.openxmlformats.org/drawingml/2006/main">
            <a:off x="914400" y="1600200"/>
            <a:ext cx="609600" cy="609600"/>
          </a:xfrm>
          <a:prstGeom xmlns:a="http://schemas.openxmlformats.org/drawingml/2006/main" prst="roundRect">
            <a:avLst>
              <a:gd name="adj" fmla="val 50000"/>
            </a:avLst>
          </a:prstGeom>
          <a:solidFill xmlns:a="http://schemas.openxmlformats.org/drawingml/2006/main">
            <a:srgbClr val="E2E8F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D4C7DFB-4399-4BE3-A4EE-3263519DFB56}"/>
              </a:ext>
            </a:extLst>
          </p:cNvPr>
          <p:cNvSpPr>
            <a:spLocks xmlns:a="http://schemas.openxmlformats.org/drawingml/2006/main" noGrp="1"/>
          </p:cNvSpPr>
          <p:nvPr/>
        </p:nvSpPr>
        <p:spPr>
          <a:xfrm xmlns:a="http://schemas.openxmlformats.org/drawingml/2006/main">
            <a:off x="914400" y="1743075"/>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102033"/>
                </a:solidFill>
                <a:latin typeface="Arial"/>
                <a:ea typeface="Arial"/>
                <a:cs typeface="Arial"/>
              </a:defRPr>
            </a:pPr>
            <a:r>
              <a:rPr sz="1800" b="1">
                <a:solidFill>
                  <a:srgbClr val="102033"/>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F6616148-E414-4EE5-8B7E-EFCCAF487285}"/>
              </a:ext>
            </a:extLst>
          </p:cNvPr>
          <p:cNvSpPr>
            <a:spLocks xmlns:a="http://schemas.openxmlformats.org/drawingml/2006/main" noGrp="1"/>
          </p:cNvSpPr>
          <p:nvPr/>
        </p:nvSpPr>
        <p:spPr>
          <a:xfrm xmlns:a="http://schemas.openxmlformats.org/drawingml/2006/main">
            <a:off x="1809750" y="16573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02033"/>
                </a:solidFill>
                <a:latin typeface="Arial"/>
                <a:ea typeface="Arial"/>
                <a:cs typeface="Arial"/>
              </a:defRPr>
            </a:pPr>
            <a:r>
              <a:rPr sz="1800" b="1">
                <a:solidFill>
                  <a:srgbClr val="102033"/>
                </a:solidFill>
                <a:latin typeface="Arial"/>
                <a:ea typeface="Arial"/>
                <a:cs typeface="Arial"/>
              </a:rPr>
              <a:t>Input event</a:t>
            </a:r>
          </a:p>
        </p:txBody>
      </p:sp>
      <p:sp>
        <p:nvSpPr>
          <p:cNvPr id="7" name="">
            <a:extLst xmlns:a="http://schemas.openxmlformats.org/drawingml/2006/main">
              <a:ext uri="{FF2B5EF4-FFF2-40B4-BE49-F238E27FC236}">
                <a16:creationId xmlns:a16="http://schemas.microsoft.com/office/drawing/2014/main" id="{0620B7CB-289E-4005-BBBA-B31A82FAFD5A}"/>
              </a:ext>
            </a:extLst>
          </p:cNvPr>
          <p:cNvSpPr>
            <a:spLocks xmlns:a="http://schemas.openxmlformats.org/drawingml/2006/main" noGrp="1"/>
          </p:cNvSpPr>
          <p:nvPr/>
        </p:nvSpPr>
        <p:spPr>
          <a:xfrm xmlns:a="http://schemas.openxmlformats.org/drawingml/2006/main">
            <a:off x="1809750" y="200025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657083"/>
                </a:solidFill>
                <a:latin typeface="Arial"/>
                <a:ea typeface="Arial"/>
                <a:cs typeface="Arial"/>
              </a:defRPr>
            </a:pPr>
            <a:r>
              <a:rPr sz="1350" b="0">
                <a:solidFill>
                  <a:srgbClr val="657083"/>
                </a:solidFill>
                <a:latin typeface="Arial"/>
                <a:ea typeface="Arial"/>
                <a:cs typeface="Arial"/>
              </a:rPr>
              <a:t>Ticket, message, record or agent state</a:t>
            </a:r>
          </a:p>
        </p:txBody>
      </p:sp>
      <p:sp>
        <p:nvSpPr>
          <p:cNvPr id="8" name="">
            <a:extLst xmlns:a="http://schemas.openxmlformats.org/drawingml/2006/main">
              <a:ext uri="{FF2B5EF4-FFF2-40B4-BE49-F238E27FC236}">
                <a16:creationId xmlns:a16="http://schemas.microsoft.com/office/drawing/2014/main" id="{CBCDA3CB-D13F-4AF3-9315-C9157875C1A9}"/>
              </a:ext>
            </a:extLst>
          </p:cNvPr>
          <p:cNvSpPr>
            <a:spLocks xmlns:a="http://schemas.openxmlformats.org/drawingml/2006/main" noGrp="1"/>
          </p:cNvSpPr>
          <p:nvPr/>
        </p:nvSpPr>
        <p:spPr>
          <a:xfrm xmlns:a="http://schemas.openxmlformats.org/drawingml/2006/main">
            <a:off x="914400" y="2590800"/>
            <a:ext cx="609600" cy="609600"/>
          </a:xfrm>
          <a:prstGeom xmlns:a="http://schemas.openxmlformats.org/drawingml/2006/main" prst="roundRect">
            <a:avLst>
              <a:gd name="adj" fmla="val 50000"/>
            </a:avLst>
          </a:prstGeom>
          <a:solidFill xmlns:a="http://schemas.openxmlformats.org/drawingml/2006/main">
            <a:srgbClr val="A7F43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B428BED-DE0E-40C2-BDEF-22C17AAD38AA}"/>
              </a:ext>
            </a:extLst>
          </p:cNvPr>
          <p:cNvSpPr>
            <a:spLocks xmlns:a="http://schemas.openxmlformats.org/drawingml/2006/main" noGrp="1"/>
          </p:cNvSpPr>
          <p:nvPr/>
        </p:nvSpPr>
        <p:spPr>
          <a:xfrm xmlns:a="http://schemas.openxmlformats.org/drawingml/2006/main">
            <a:off x="914400" y="2733675"/>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102033"/>
                </a:solidFill>
                <a:latin typeface="Arial"/>
                <a:ea typeface="Arial"/>
                <a:cs typeface="Arial"/>
              </a:defRPr>
            </a:pPr>
            <a:r>
              <a:rPr sz="1800" b="1">
                <a:solidFill>
                  <a:srgbClr val="102033"/>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6FDA4F7D-D5D3-4B75-A2D9-BCA6BAB6FC87}"/>
              </a:ext>
            </a:extLst>
          </p:cNvPr>
          <p:cNvSpPr>
            <a:spLocks xmlns:a="http://schemas.openxmlformats.org/drawingml/2006/main" noGrp="1"/>
          </p:cNvSpPr>
          <p:nvPr/>
        </p:nvSpPr>
        <p:spPr>
          <a:xfrm xmlns:a="http://schemas.openxmlformats.org/drawingml/2006/main">
            <a:off x="1809750" y="26479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02033"/>
                </a:solidFill>
                <a:latin typeface="Arial"/>
                <a:ea typeface="Arial"/>
                <a:cs typeface="Arial"/>
              </a:defRPr>
            </a:pPr>
            <a:r>
              <a:rPr sz="1800" b="1">
                <a:solidFill>
                  <a:srgbClr val="102033"/>
                </a:solidFill>
                <a:latin typeface="Arial"/>
                <a:ea typeface="Arial"/>
                <a:cs typeface="Arial"/>
              </a:rPr>
              <a:t>Jev decision</a:t>
            </a:r>
          </a:p>
        </p:txBody>
      </p:sp>
      <p:sp>
        <p:nvSpPr>
          <p:cNvPr id="11" name="">
            <a:extLst xmlns:a="http://schemas.openxmlformats.org/drawingml/2006/main">
              <a:ext uri="{FF2B5EF4-FFF2-40B4-BE49-F238E27FC236}">
                <a16:creationId xmlns:a16="http://schemas.microsoft.com/office/drawing/2014/main" id="{C117F34D-A7AF-44BE-A420-FE864B077E3D}"/>
              </a:ext>
            </a:extLst>
          </p:cNvPr>
          <p:cNvSpPr>
            <a:spLocks xmlns:a="http://schemas.openxmlformats.org/drawingml/2006/main" noGrp="1"/>
          </p:cNvSpPr>
          <p:nvPr/>
        </p:nvSpPr>
        <p:spPr>
          <a:xfrm xmlns:a="http://schemas.openxmlformats.org/drawingml/2006/main">
            <a:off x="1809750" y="299085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657083"/>
                </a:solidFill>
                <a:latin typeface="Arial"/>
                <a:ea typeface="Arial"/>
                <a:cs typeface="Arial"/>
              </a:defRPr>
            </a:pPr>
            <a:r>
              <a:rPr sz="1350" b="0">
                <a:solidFill>
                  <a:srgbClr val="657083"/>
                </a:solidFill>
                <a:latin typeface="Arial"/>
                <a:ea typeface="Arial"/>
                <a:cs typeface="Arial"/>
              </a:rPr>
              <a:t>Typed questions return probabilities</a:t>
            </a:r>
          </a:p>
        </p:txBody>
      </p:sp>
      <p:sp>
        <p:nvSpPr>
          <p:cNvPr id="12" name="">
            <a:extLst xmlns:a="http://schemas.openxmlformats.org/drawingml/2006/main">
              <a:ext uri="{FF2B5EF4-FFF2-40B4-BE49-F238E27FC236}">
                <a16:creationId xmlns:a16="http://schemas.microsoft.com/office/drawing/2014/main" id="{071ECA6C-58D1-4A3A-A7F7-8DC18FCEA615}"/>
              </a:ext>
            </a:extLst>
          </p:cNvPr>
          <p:cNvSpPr>
            <a:spLocks xmlns:a="http://schemas.openxmlformats.org/drawingml/2006/main" noGrp="1"/>
          </p:cNvSpPr>
          <p:nvPr/>
        </p:nvSpPr>
        <p:spPr>
          <a:xfrm xmlns:a="http://schemas.openxmlformats.org/drawingml/2006/main">
            <a:off x="914400" y="3581400"/>
            <a:ext cx="609600" cy="609600"/>
          </a:xfrm>
          <a:prstGeom xmlns:a="http://schemas.openxmlformats.org/drawingml/2006/main" prst="roundRect">
            <a:avLst>
              <a:gd name="adj" fmla="val 50000"/>
            </a:avLst>
          </a:prstGeom>
          <a:solidFill xmlns:a="http://schemas.openxmlformats.org/drawingml/2006/main">
            <a:srgbClr val="E2E8F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B51E5D4-3E86-4677-95C3-050014D5A70E}"/>
              </a:ext>
            </a:extLst>
          </p:cNvPr>
          <p:cNvSpPr>
            <a:spLocks xmlns:a="http://schemas.openxmlformats.org/drawingml/2006/main" noGrp="1"/>
          </p:cNvSpPr>
          <p:nvPr/>
        </p:nvSpPr>
        <p:spPr>
          <a:xfrm xmlns:a="http://schemas.openxmlformats.org/drawingml/2006/main">
            <a:off x="914400" y="3724275"/>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102033"/>
                </a:solidFill>
                <a:latin typeface="Arial"/>
                <a:ea typeface="Arial"/>
                <a:cs typeface="Arial"/>
              </a:defRPr>
            </a:pPr>
            <a:r>
              <a:rPr sz="1800" b="1">
                <a:solidFill>
                  <a:srgbClr val="102033"/>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E8BB16D5-C17D-44A2-AF74-41ED197BC33A}"/>
              </a:ext>
            </a:extLst>
          </p:cNvPr>
          <p:cNvSpPr>
            <a:spLocks xmlns:a="http://schemas.openxmlformats.org/drawingml/2006/main" noGrp="1"/>
          </p:cNvSpPr>
          <p:nvPr/>
        </p:nvSpPr>
        <p:spPr>
          <a:xfrm xmlns:a="http://schemas.openxmlformats.org/drawingml/2006/main">
            <a:off x="1809750" y="36385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02033"/>
                </a:solidFill>
                <a:latin typeface="Arial"/>
                <a:ea typeface="Arial"/>
                <a:cs typeface="Arial"/>
              </a:defRPr>
            </a:pPr>
            <a:r>
              <a:rPr sz="1800" b="1">
                <a:solidFill>
                  <a:srgbClr val="102033"/>
                </a:solidFill>
                <a:latin typeface="Arial"/>
                <a:ea typeface="Arial"/>
                <a:cs typeface="Arial"/>
              </a:rPr>
              <a:t>Confidence gate</a:t>
            </a:r>
          </a:p>
        </p:txBody>
      </p:sp>
      <p:sp>
        <p:nvSpPr>
          <p:cNvPr id="15" name="">
            <a:extLst xmlns:a="http://schemas.openxmlformats.org/drawingml/2006/main">
              <a:ext uri="{FF2B5EF4-FFF2-40B4-BE49-F238E27FC236}">
                <a16:creationId xmlns:a16="http://schemas.microsoft.com/office/drawing/2014/main" id="{B28872C1-1A95-47F6-BA22-781DF238127F}"/>
              </a:ext>
            </a:extLst>
          </p:cNvPr>
          <p:cNvSpPr>
            <a:spLocks xmlns:a="http://schemas.openxmlformats.org/drawingml/2006/main" noGrp="1"/>
          </p:cNvSpPr>
          <p:nvPr/>
        </p:nvSpPr>
        <p:spPr>
          <a:xfrm xmlns:a="http://schemas.openxmlformats.org/drawingml/2006/main">
            <a:off x="1809750" y="398145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657083"/>
                </a:solidFill>
                <a:latin typeface="Arial"/>
                <a:ea typeface="Arial"/>
                <a:cs typeface="Arial"/>
              </a:defRPr>
            </a:pPr>
            <a:r>
              <a:rPr sz="1350" b="0">
                <a:solidFill>
                  <a:srgbClr val="657083"/>
                </a:solidFill>
                <a:latin typeface="Arial"/>
                <a:ea typeface="Arial"/>
                <a:cs typeface="Arial"/>
              </a:rPr>
              <a:t>Apply thresholds and route policy</a:t>
            </a:r>
          </a:p>
        </p:txBody>
      </p:sp>
      <p:sp>
        <p:nvSpPr>
          <p:cNvPr id="16" name="">
            <a:extLst xmlns:a="http://schemas.openxmlformats.org/drawingml/2006/main">
              <a:ext uri="{FF2B5EF4-FFF2-40B4-BE49-F238E27FC236}">
                <a16:creationId xmlns:a16="http://schemas.microsoft.com/office/drawing/2014/main" id="{129B25F0-6854-4234-A4C5-646C5D3ACF64}"/>
              </a:ext>
            </a:extLst>
          </p:cNvPr>
          <p:cNvSpPr>
            <a:spLocks xmlns:a="http://schemas.openxmlformats.org/drawingml/2006/main" noGrp="1"/>
          </p:cNvSpPr>
          <p:nvPr/>
        </p:nvSpPr>
        <p:spPr>
          <a:xfrm xmlns:a="http://schemas.openxmlformats.org/drawingml/2006/main">
            <a:off x="914400" y="4572000"/>
            <a:ext cx="609600" cy="609600"/>
          </a:xfrm>
          <a:prstGeom xmlns:a="http://schemas.openxmlformats.org/drawingml/2006/main" prst="roundRect">
            <a:avLst>
              <a:gd name="adj" fmla="val 50000"/>
            </a:avLst>
          </a:prstGeom>
          <a:solidFill xmlns:a="http://schemas.openxmlformats.org/drawingml/2006/main">
            <a:srgbClr val="E2E8F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64868BC-B0F1-44E6-95BB-A4E1A5161EF2}"/>
              </a:ext>
            </a:extLst>
          </p:cNvPr>
          <p:cNvSpPr>
            <a:spLocks xmlns:a="http://schemas.openxmlformats.org/drawingml/2006/main" noGrp="1"/>
          </p:cNvSpPr>
          <p:nvPr/>
        </p:nvSpPr>
        <p:spPr>
          <a:xfrm xmlns:a="http://schemas.openxmlformats.org/drawingml/2006/main">
            <a:off x="914400" y="4714875"/>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102033"/>
                </a:solidFill>
                <a:latin typeface="Arial"/>
                <a:ea typeface="Arial"/>
                <a:cs typeface="Arial"/>
              </a:defRPr>
            </a:pPr>
            <a:r>
              <a:rPr sz="1800" b="1">
                <a:solidFill>
                  <a:srgbClr val="102033"/>
                </a:solidFill>
                <a:latin typeface="Arial"/>
                <a:ea typeface="Arial"/>
                <a:cs typeface="Arial"/>
              </a:rPr>
              <a:t>4</a:t>
            </a:r>
          </a:p>
        </p:txBody>
      </p:sp>
      <p:sp>
        <p:nvSpPr>
          <p:cNvPr id="18" name="">
            <a:extLst xmlns:a="http://schemas.openxmlformats.org/drawingml/2006/main">
              <a:ext uri="{FF2B5EF4-FFF2-40B4-BE49-F238E27FC236}">
                <a16:creationId xmlns:a16="http://schemas.microsoft.com/office/drawing/2014/main" id="{2FE7B7AC-8606-4A0F-86E8-C9471132C952}"/>
              </a:ext>
            </a:extLst>
          </p:cNvPr>
          <p:cNvSpPr>
            <a:spLocks xmlns:a="http://schemas.openxmlformats.org/drawingml/2006/main" noGrp="1"/>
          </p:cNvSpPr>
          <p:nvPr/>
        </p:nvSpPr>
        <p:spPr>
          <a:xfrm xmlns:a="http://schemas.openxmlformats.org/drawingml/2006/main">
            <a:off x="1809750" y="46291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02033"/>
                </a:solidFill>
                <a:latin typeface="Arial"/>
                <a:ea typeface="Arial"/>
                <a:cs typeface="Arial"/>
              </a:defRPr>
            </a:pPr>
            <a:r>
              <a:rPr sz="1800" b="1">
                <a:solidFill>
                  <a:srgbClr val="102033"/>
                </a:solidFill>
                <a:latin typeface="Arial"/>
                <a:ea typeface="Arial"/>
                <a:cs typeface="Arial"/>
              </a:rPr>
              <a:t>Action path</a:t>
            </a:r>
          </a:p>
        </p:txBody>
      </p:sp>
      <p:sp>
        <p:nvSpPr>
          <p:cNvPr id="19" name="">
            <a:extLst xmlns:a="http://schemas.openxmlformats.org/drawingml/2006/main">
              <a:ext uri="{FF2B5EF4-FFF2-40B4-BE49-F238E27FC236}">
                <a16:creationId xmlns:a16="http://schemas.microsoft.com/office/drawing/2014/main" id="{AF780FDC-BFE0-4B5E-A407-ED72F14B26FF}"/>
              </a:ext>
            </a:extLst>
          </p:cNvPr>
          <p:cNvSpPr>
            <a:spLocks xmlns:a="http://schemas.openxmlformats.org/drawingml/2006/main" noGrp="1"/>
          </p:cNvSpPr>
          <p:nvPr/>
        </p:nvSpPr>
        <p:spPr>
          <a:xfrm xmlns:a="http://schemas.openxmlformats.org/drawingml/2006/main">
            <a:off x="1809750" y="497205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657083"/>
                </a:solidFill>
                <a:latin typeface="Arial"/>
                <a:ea typeface="Arial"/>
                <a:cs typeface="Arial"/>
              </a:defRPr>
            </a:pPr>
            <a:r>
              <a:rPr sz="1350" b="0">
                <a:solidFill>
                  <a:srgbClr val="657083"/>
                </a:solidFill>
                <a:latin typeface="Arial"/>
                <a:ea typeface="Arial"/>
                <a:cs typeface="Arial"/>
              </a:rPr>
              <a:t>Auto-route, Claude fallback or human review</a:t>
            </a:r>
          </a:p>
        </p:txBody>
      </p:sp>
      <p:sp>
        <p:nvSpPr>
          <p:cNvPr id="20" name="">
            <a:extLst xmlns:a="http://schemas.openxmlformats.org/drawingml/2006/main">
              <a:ext uri="{FF2B5EF4-FFF2-40B4-BE49-F238E27FC236}">
                <a16:creationId xmlns:a16="http://schemas.microsoft.com/office/drawing/2014/main" id="{908534E0-056D-45D0-A74F-2E60BC171A3B}"/>
              </a:ext>
            </a:extLst>
          </p:cNvPr>
          <p:cNvSpPr>
            <a:spLocks xmlns:a="http://schemas.openxmlformats.org/drawingml/2006/main" noGrp="1"/>
          </p:cNvSpPr>
          <p:nvPr/>
        </p:nvSpPr>
        <p:spPr>
          <a:xfrm xmlns:a="http://schemas.openxmlformats.org/drawingml/2006/main">
            <a:off x="8191500" y="2171700"/>
            <a:ext cx="2571750" cy="2000250"/>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9525">
            <a:solidFill>
              <a:srgbClr val="D9DEE8"/>
            </a:solidFill>
            <a:prstDash val="solid"/>
          </a:ln>
        </p:spPr>
      </p:sp>
      <p:sp>
        <p:nvSpPr>
          <p:cNvPr id="21" name="">
            <a:extLst xmlns:a="http://schemas.openxmlformats.org/drawingml/2006/main">
              <a:ext uri="{FF2B5EF4-FFF2-40B4-BE49-F238E27FC236}">
                <a16:creationId xmlns:a16="http://schemas.microsoft.com/office/drawing/2014/main" id="{BAFD81A5-B05E-4A4A-92E4-1C4428316FC4}"/>
              </a:ext>
            </a:extLst>
          </p:cNvPr>
          <p:cNvSpPr>
            <a:spLocks xmlns:a="http://schemas.openxmlformats.org/drawingml/2006/main" noGrp="1"/>
          </p:cNvSpPr>
          <p:nvPr/>
        </p:nvSpPr>
        <p:spPr>
          <a:xfrm xmlns:a="http://schemas.openxmlformats.org/drawingml/2006/main">
            <a:off x="8420100" y="24193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0F766E"/>
                </a:solidFill>
                <a:latin typeface="Arial"/>
                <a:ea typeface="Arial"/>
                <a:cs typeface="Arial"/>
              </a:defRPr>
            </a:pPr>
            <a:r>
              <a:rPr sz="1800" b="1">
                <a:solidFill>
                  <a:srgbClr val="0F766E"/>
                </a:solidFill>
                <a:latin typeface="Arial"/>
                <a:ea typeface="Arial"/>
                <a:cs typeface="Arial"/>
              </a:rPr>
              <a:t>Audit fields</a:t>
            </a:r>
          </a:p>
        </p:txBody>
      </p:sp>
      <p:sp>
        <p:nvSpPr>
          <p:cNvPr id="22" name="">
            <a:extLst xmlns:a="http://schemas.openxmlformats.org/drawingml/2006/main">
              <a:ext uri="{FF2B5EF4-FFF2-40B4-BE49-F238E27FC236}">
                <a16:creationId xmlns:a16="http://schemas.microsoft.com/office/drawing/2014/main" id="{66196EF2-AA19-4E12-8204-50BDB69F159C}"/>
              </a:ext>
            </a:extLst>
          </p:cNvPr>
          <p:cNvSpPr>
            <a:spLocks xmlns:a="http://schemas.openxmlformats.org/drawingml/2006/main" noGrp="1"/>
          </p:cNvSpPr>
          <p:nvPr/>
        </p:nvSpPr>
        <p:spPr>
          <a:xfrm xmlns:a="http://schemas.openxmlformats.org/drawingml/2006/main">
            <a:off x="8420100" y="29908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2B20860-3DEB-4527-B0F1-C32A11EF2E84}"/>
              </a:ext>
            </a:extLst>
          </p:cNvPr>
          <p:cNvSpPr>
            <a:spLocks xmlns:a="http://schemas.openxmlformats.org/drawingml/2006/main" noGrp="1"/>
          </p:cNvSpPr>
          <p:nvPr/>
        </p:nvSpPr>
        <p:spPr>
          <a:xfrm xmlns:a="http://schemas.openxmlformats.org/drawingml/2006/main">
            <a:off x="8629650" y="2914650"/>
            <a:ext cx="1885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172033"/>
                </a:solidFill>
                <a:latin typeface="Arial"/>
                <a:ea typeface="Arial"/>
                <a:cs typeface="Arial"/>
              </a:defRPr>
            </a:pPr>
            <a:r>
              <a:rPr sz="1200" b="0">
                <a:solidFill>
                  <a:srgbClr val="172033"/>
                </a:solidFill>
                <a:latin typeface="Arial"/>
                <a:ea typeface="Arial"/>
                <a:cs typeface="Arial"/>
              </a:rPr>
              <a:t>Raw provider response</a:t>
            </a:r>
          </a:p>
        </p:txBody>
      </p:sp>
      <p:sp>
        <p:nvSpPr>
          <p:cNvPr id="24" name="">
            <a:extLst xmlns:a="http://schemas.openxmlformats.org/drawingml/2006/main">
              <a:ext uri="{FF2B5EF4-FFF2-40B4-BE49-F238E27FC236}">
                <a16:creationId xmlns:a16="http://schemas.microsoft.com/office/drawing/2014/main" id="{7180B44B-104C-4197-8AB9-5BC980176641}"/>
              </a:ext>
            </a:extLst>
          </p:cNvPr>
          <p:cNvSpPr>
            <a:spLocks xmlns:a="http://schemas.openxmlformats.org/drawingml/2006/main" noGrp="1"/>
          </p:cNvSpPr>
          <p:nvPr/>
        </p:nvSpPr>
        <p:spPr>
          <a:xfrm xmlns:a="http://schemas.openxmlformats.org/drawingml/2006/main">
            <a:off x="8420100" y="33337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40C323A-FA05-4F6A-8F28-4EC31ECDC40D}"/>
              </a:ext>
            </a:extLst>
          </p:cNvPr>
          <p:cNvSpPr>
            <a:spLocks xmlns:a="http://schemas.openxmlformats.org/drawingml/2006/main" noGrp="1"/>
          </p:cNvSpPr>
          <p:nvPr/>
        </p:nvSpPr>
        <p:spPr>
          <a:xfrm xmlns:a="http://schemas.openxmlformats.org/drawingml/2006/main">
            <a:off x="8629650" y="3257550"/>
            <a:ext cx="1885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172033"/>
                </a:solidFill>
                <a:latin typeface="Arial"/>
                <a:ea typeface="Arial"/>
                <a:cs typeface="Arial"/>
              </a:defRPr>
            </a:pPr>
            <a:r>
              <a:rPr sz="1200" b="0">
                <a:solidFill>
                  <a:srgbClr val="172033"/>
                </a:solidFill>
                <a:latin typeface="Arial"/>
                <a:ea typeface="Arial"/>
                <a:cs typeface="Arial"/>
              </a:rPr>
              <a:t>Normalized decision</a:t>
            </a:r>
          </a:p>
        </p:txBody>
      </p:sp>
      <p:sp>
        <p:nvSpPr>
          <p:cNvPr id="26" name="">
            <a:extLst xmlns:a="http://schemas.openxmlformats.org/drawingml/2006/main">
              <a:ext uri="{FF2B5EF4-FFF2-40B4-BE49-F238E27FC236}">
                <a16:creationId xmlns:a16="http://schemas.microsoft.com/office/drawing/2014/main" id="{79AACE8C-D95D-4400-85DB-17721B4FA0D8}"/>
              </a:ext>
            </a:extLst>
          </p:cNvPr>
          <p:cNvSpPr>
            <a:spLocks xmlns:a="http://schemas.openxmlformats.org/drawingml/2006/main" noGrp="1"/>
          </p:cNvSpPr>
          <p:nvPr/>
        </p:nvSpPr>
        <p:spPr>
          <a:xfrm xmlns:a="http://schemas.openxmlformats.org/drawingml/2006/main">
            <a:off x="8420100" y="36766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C06D00D-C98B-4140-98A4-D2F65215FDF7}"/>
              </a:ext>
            </a:extLst>
          </p:cNvPr>
          <p:cNvSpPr>
            <a:spLocks xmlns:a="http://schemas.openxmlformats.org/drawingml/2006/main" noGrp="1"/>
          </p:cNvSpPr>
          <p:nvPr/>
        </p:nvSpPr>
        <p:spPr>
          <a:xfrm xmlns:a="http://schemas.openxmlformats.org/drawingml/2006/main">
            <a:off x="8629650" y="3600450"/>
            <a:ext cx="1885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172033"/>
                </a:solidFill>
                <a:latin typeface="Arial"/>
                <a:ea typeface="Arial"/>
                <a:cs typeface="Arial"/>
              </a:defRPr>
            </a:pPr>
            <a:r>
              <a:rPr sz="1200" b="0">
                <a:solidFill>
                  <a:srgbClr val="172033"/>
                </a:solidFill>
                <a:latin typeface="Arial"/>
                <a:ea typeface="Arial"/>
                <a:cs typeface="Arial"/>
              </a:rPr>
              <a:t>Confidence</a:t>
            </a:r>
          </a:p>
        </p:txBody>
      </p:sp>
      <p:sp>
        <p:nvSpPr>
          <p:cNvPr id="28" name="">
            <a:extLst xmlns:a="http://schemas.openxmlformats.org/drawingml/2006/main">
              <a:ext uri="{FF2B5EF4-FFF2-40B4-BE49-F238E27FC236}">
                <a16:creationId xmlns:a16="http://schemas.microsoft.com/office/drawing/2014/main" id="{6E870AD0-4033-4BB8-A2E4-61CDF01516E5}"/>
              </a:ext>
            </a:extLst>
          </p:cNvPr>
          <p:cNvSpPr>
            <a:spLocks xmlns:a="http://schemas.openxmlformats.org/drawingml/2006/main" noGrp="1"/>
          </p:cNvSpPr>
          <p:nvPr/>
        </p:nvSpPr>
        <p:spPr>
          <a:xfrm xmlns:a="http://schemas.openxmlformats.org/drawingml/2006/main">
            <a:off x="8420100" y="40195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A5CCF435-3A68-4DCA-AE1D-5E68AB3A7B45}"/>
              </a:ext>
            </a:extLst>
          </p:cNvPr>
          <p:cNvSpPr>
            <a:spLocks xmlns:a="http://schemas.openxmlformats.org/drawingml/2006/main" noGrp="1"/>
          </p:cNvSpPr>
          <p:nvPr/>
        </p:nvSpPr>
        <p:spPr>
          <a:xfrm xmlns:a="http://schemas.openxmlformats.org/drawingml/2006/main">
            <a:off x="8629650" y="3943350"/>
            <a:ext cx="1885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172033"/>
                </a:solidFill>
                <a:latin typeface="Arial"/>
                <a:ea typeface="Arial"/>
                <a:cs typeface="Arial"/>
              </a:defRPr>
            </a:pPr>
            <a:r>
              <a:rPr sz="1200" b="0">
                <a:solidFill>
                  <a:srgbClr val="172033"/>
                </a:solidFill>
                <a:latin typeface="Arial"/>
                <a:ea typeface="Arial"/>
                <a:cs typeface="Arial"/>
              </a:rPr>
              <a:t>Latency and cost</a:t>
            </a:r>
          </a:p>
        </p:txBody>
      </p:sp>
      <p:sp>
        <p:nvSpPr>
          <p:cNvPr id="30" name="">
            <a:extLst xmlns:a="http://schemas.openxmlformats.org/drawingml/2006/main">
              <a:ext uri="{FF2B5EF4-FFF2-40B4-BE49-F238E27FC236}">
                <a16:creationId xmlns:a16="http://schemas.microsoft.com/office/drawing/2014/main" id="{EB7AEEBC-C901-4DBF-BF27-9EBFF563EF24}"/>
              </a:ext>
            </a:extLst>
          </p:cNvPr>
          <p:cNvSpPr>
            <a:spLocks xmlns:a="http://schemas.openxmlformats.org/drawingml/2006/main" noGrp="1"/>
          </p:cNvSpPr>
          <p:nvPr/>
        </p:nvSpPr>
        <p:spPr>
          <a:xfrm xmlns:a="http://schemas.openxmlformats.org/drawingml/2006/main">
            <a:off x="10934700" y="6362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657083"/>
                </a:solidFill>
                <a:latin typeface="Arial"/>
                <a:ea typeface="Arial"/>
                <a:cs typeface="Arial"/>
              </a:defRPr>
            </a:pPr>
            <a:r>
              <a:rPr sz="900" b="1">
                <a:solidFill>
                  <a:srgbClr val="657083"/>
                </a:solidFill>
                <a:latin typeface="Arial"/>
                <a:ea typeface="Arial"/>
                <a:cs typeface="Arial"/>
              </a:rPr>
              <a:t>08</a:t>
            </a:r>
          </a:p>
        </p:txBody>
      </p:sp>
    </p:spTree>
    <p:extLst>
      <p:ext uri="{BB962C8B-B14F-4D97-AF65-F5344CB8AC3E}">
        <p14:creationId xmlns:p14="http://schemas.microsoft.com/office/powerpoint/2010/main" val="938532089"/>
      </p:ext>
    </p:extLst>
  </p:cSld>
</p:sld>
</file>

<file path=ppt/slides/slide9.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873F70E-CED7-42A8-BDA8-9B2296616151}"/>
              </a:ext>
            </a:extLst>
          </p:cNvPr>
          <p:cNvSpPr>
            <a:spLocks xmlns:a="http://schemas.openxmlformats.org/drawingml/2006/main" noGrp="1"/>
          </p:cNvSpPr>
          <p:nvPr/>
        </p:nvSpPr>
        <p:spPr>
          <a:xfrm xmlns:a="http://schemas.openxmlformats.org/drawingml/2006/main">
            <a:off x="609600" y="3238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0F766E"/>
                </a:solidFill>
                <a:latin typeface="Arial"/>
                <a:ea typeface="Arial"/>
                <a:cs typeface="Arial"/>
              </a:defRPr>
            </a:pPr>
            <a:r>
              <a:rPr sz="975" b="1">
                <a:solidFill>
                  <a:srgbClr val="0F766E"/>
                </a:solidFill>
                <a:latin typeface="Arial"/>
                <a:ea typeface="Arial"/>
                <a:cs typeface="Arial"/>
              </a:rPr>
              <a:t>JEV EVALUATION</a:t>
            </a:r>
          </a:p>
        </p:txBody>
      </p:sp>
      <p:sp>
        <p:nvSpPr>
          <p:cNvPr id="2" name="">
            <a:extLst xmlns:a="http://schemas.openxmlformats.org/drawingml/2006/main">
              <a:ext uri="{FF2B5EF4-FFF2-40B4-BE49-F238E27FC236}">
                <a16:creationId xmlns:a16="http://schemas.microsoft.com/office/drawing/2014/main" id="{8F20387A-95E6-46A3-8088-29F076730272}"/>
              </a:ext>
            </a:extLst>
          </p:cNvPr>
          <p:cNvSpPr>
            <a:spLocks xmlns:a="http://schemas.openxmlformats.org/drawingml/2006/main" noGrp="1"/>
          </p:cNvSpPr>
          <p:nvPr/>
        </p:nvSpPr>
        <p:spPr>
          <a:xfrm xmlns:a="http://schemas.openxmlformats.org/drawingml/2006/main">
            <a:off x="609600" y="6286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33"/>
                </a:solidFill>
                <a:latin typeface="Arial"/>
                <a:ea typeface="Arial"/>
                <a:cs typeface="Arial"/>
              </a:defRPr>
            </a:pPr>
            <a:r>
              <a:rPr sz="2550" b="1">
                <a:solidFill>
                  <a:srgbClr val="172033"/>
                </a:solidFill>
                <a:latin typeface="Arial"/>
                <a:ea typeface="Arial"/>
                <a:cs typeface="Arial"/>
              </a:rPr>
              <a:t>POC setup</a:t>
            </a:r>
          </a:p>
        </p:txBody>
      </p:sp>
      <p:sp>
        <p:nvSpPr>
          <p:cNvPr id="3" name="">
            <a:extLst xmlns:a="http://schemas.openxmlformats.org/drawingml/2006/main">
              <a:ext uri="{FF2B5EF4-FFF2-40B4-BE49-F238E27FC236}">
                <a16:creationId xmlns:a16="http://schemas.microsoft.com/office/drawing/2014/main" id="{A8692627-486E-49E2-9143-7FB27637BBB5}"/>
              </a:ext>
            </a:extLst>
          </p:cNvPr>
          <p:cNvSpPr>
            <a:spLocks xmlns:a="http://schemas.openxmlformats.org/drawingml/2006/main" noGrp="1"/>
          </p:cNvSpPr>
          <p:nvPr/>
        </p:nvSpPr>
        <p:spPr>
          <a:xfrm xmlns:a="http://schemas.openxmlformats.org/drawingml/2006/main">
            <a:off x="609600" y="1200150"/>
            <a:ext cx="10763250" cy="0"/>
          </a:xfrm>
          <a:prstGeom xmlns:a="http://schemas.openxmlformats.org/drawingml/2006/main" prst="line">
            <a:avLst/>
          </a:prstGeom>
          <a:noFill xmlns:a="http://schemas.openxmlformats.org/drawingml/2006/main"/>
          <a:ln xmlns:a="http://schemas.openxmlformats.org/drawingml/2006/main" w="9525">
            <a:solidFill>
              <a:srgbClr val="D9DEE8"/>
            </a:solidFill>
            <a:prstDash val="solid"/>
          </a:ln>
        </p:spPr>
      </p:sp>
      <p:graphicFrame>
        <p:nvGraphicFramePr>
          <p:cNvPr id="9" name=""/>
          <p:cNvGraphicFramePr/>
          <p:nvPr/>
        </p:nvGraphicFramePr>
        <p:xfrm>
          <a:off xmlns:a="http://schemas.openxmlformats.org/drawingml/2006/main" x="762000" y="1524000"/>
          <a:ext xmlns:a="http://schemas.openxmlformats.org/drawingml/2006/main" cx="10287000" cy="3600450"/>
        </p:xfrm>
        <a:graphic xmlns:a="http://schemas.openxmlformats.org/drawingml/2006/main">
          <a:graphicData uri="http://schemas.openxmlformats.org/drawingml/2006/table">
            <a:tbl>
              <a:tblPr firstRow="1" bandRow="1"/>
              <a:tblGrid>
                <a:gridCol w="2523226"/>
                <a:gridCol w="3881887"/>
                <a:gridCol w="3881887"/>
              </a:tblGrid>
              <a:tr h="514350">
                <a:tc>
                  <a:txBody>
                    <a:bodyPr/>
                    <a:lstStyle/>
                    <a:p>
                      <a:r>
                        <a:t>Area</a:t>
                      </a:r>
                    </a:p>
                  </a:txBody>
                  <a:tcPr marL="91440" marR="91440" marT="45720" marB="45720"/>
                </a:tc>
                <a:tc>
                  <a:txBody>
                    <a:bodyPr/>
                    <a:lstStyle/>
                    <a:p>
                      <a:r>
                        <a:t>Jev path</a:t>
                      </a:r>
                    </a:p>
                  </a:txBody>
                  <a:tcPr marL="91440" marR="91440" marT="45720" marB="45720"/>
                </a:tc>
                <a:tc>
                  <a:txBody>
                    <a:bodyPr/>
                    <a:lstStyle/>
                    <a:p>
                      <a:r>
                        <a:t>Claude path</a:t>
                      </a:r>
                    </a:p>
                  </a:txBody>
                  <a:tcPr marL="91440" marR="91440" marT="45720" marB="45720"/>
                </a:tc>
              </a:tr>
              <a:tr h="514350">
                <a:tc>
                  <a:txBody>
                    <a:bodyPr/>
                    <a:lstStyle/>
                    <a:p>
                      <a:r>
                        <a:t>Model</a:t>
                      </a:r>
                    </a:p>
                  </a:txBody>
                  <a:tcPr marL="91440" marR="91440" marT="45720" marB="45720"/>
                </a:tc>
                <a:tc>
                  <a:txBody>
                    <a:bodyPr/>
                    <a:lstStyle/>
                    <a:p>
                      <a:r>
                        <a:t>jev-1.13.0 / jev-latest</a:t>
                      </a:r>
                    </a:p>
                  </a:txBody>
                  <a:tcPr marL="91440" marR="91440" marT="45720" marB="45720"/>
                </a:tc>
                <a:tc>
                  <a:txBody>
                    <a:bodyPr/>
                    <a:lstStyle/>
                    <a:p>
                      <a:r>
                        <a:t>Claude Sonnet 4.5 on Bedrock</a:t>
                      </a:r>
                    </a:p>
                  </a:txBody>
                  <a:tcPr marL="91440" marR="91440" marT="45720" marB="45720"/>
                </a:tc>
              </a:tr>
              <a:tr h="514350">
                <a:tc>
                  <a:txBody>
                    <a:bodyPr/>
                    <a:lstStyle/>
                    <a:p>
                      <a:r>
                        <a:t>API shape</a:t>
                      </a:r>
                    </a:p>
                  </a:txBody>
                  <a:tcPr marL="91440" marR="91440" marT="45720" marB="45720"/>
                </a:tc>
                <a:tc>
                  <a:txBody>
                    <a:bodyPr/>
                    <a:lstStyle/>
                    <a:p>
                      <a:r>
                        <a:t>state + typed questions</a:t>
                      </a:r>
                    </a:p>
                  </a:txBody>
                  <a:tcPr marL="91440" marR="91440" marT="45720" marB="45720"/>
                </a:tc>
                <a:tc>
                  <a:txBody>
                    <a:bodyPr/>
                    <a:lstStyle/>
                    <a:p>
                      <a:r>
                        <a:t>Converse API + forced tool schema</a:t>
                      </a:r>
                    </a:p>
                  </a:txBody>
                  <a:tcPr marL="91440" marR="91440" marT="45720" marB="45720"/>
                </a:tc>
              </a:tr>
              <a:tr h="514350">
                <a:tc>
                  <a:txBody>
                    <a:bodyPr/>
                    <a:lstStyle/>
                    <a:p>
                      <a:r>
                        <a:t>Outputs</a:t>
                      </a:r>
                    </a:p>
                  </a:txBody>
                  <a:tcPr marL="91440" marR="91440" marT="45720" marB="45720"/>
                </a:tc>
                <a:tc>
                  <a:txBody>
                    <a:bodyPr/>
                    <a:lstStyle/>
                    <a:p>
                      <a:r>
                        <a:t>choice, noul probabilities, confidence</a:t>
                      </a:r>
                    </a:p>
                  </a:txBody>
                  <a:tcPr marL="91440" marR="91440" marT="45720" marB="45720"/>
                </a:tc>
                <a:tc>
                  <a:txBody>
                    <a:bodyPr/>
                    <a:lstStyle/>
                    <a:p>
                      <a:r>
                        <a:t>structured JSON requested from LLM</a:t>
                      </a:r>
                    </a:p>
                  </a:txBody>
                  <a:tcPr marL="91440" marR="91440" marT="45720" marB="45720"/>
                </a:tc>
              </a:tr>
              <a:tr h="514350">
                <a:tc>
                  <a:txBody>
                    <a:bodyPr/>
                    <a:lstStyle/>
                    <a:p>
                      <a:r>
                        <a:t>Telemetry</a:t>
                      </a:r>
                    </a:p>
                  </a:txBody>
                  <a:tcPr marL="91440" marR="91440" marT="45720" marB="45720"/>
                </a:tc>
                <a:tc>
                  <a:txBody>
                    <a:bodyPr/>
                    <a:lstStyle/>
                    <a:p>
                      <a:r>
                        <a:t>tokens, latency, cost, diagnostics</a:t>
                      </a:r>
                    </a:p>
                  </a:txBody>
                  <a:tcPr marL="91440" marR="91440" marT="45720" marB="45720"/>
                </a:tc>
                <a:tc>
                  <a:txBody>
                    <a:bodyPr/>
                    <a:lstStyle/>
                    <a:p>
                      <a:r>
                        <a:t>tokens, latency, cost, diagnostics</a:t>
                      </a:r>
                    </a:p>
                  </a:txBody>
                  <a:tcPr marL="91440" marR="91440" marT="45720" marB="45720"/>
                </a:tc>
              </a:tr>
              <a:tr h="514350">
                <a:tc>
                  <a:txBody>
                    <a:bodyPr/>
                    <a:lstStyle/>
                    <a:p>
                      <a:r>
                        <a:t>Pricing inputs</a:t>
                      </a:r>
                    </a:p>
                  </a:txBody>
                  <a:tcPr marL="91440" marR="91440" marT="45720" marB="45720"/>
                </a:tc>
                <a:tc>
                  <a:txBody>
                    <a:bodyPr/>
                    <a:lstStyle/>
                    <a:p>
                      <a:r>
                        <a:t>$0.042 / 1M input tokens</a:t>
                      </a:r>
                    </a:p>
                  </a:txBody>
                  <a:tcPr marL="91440" marR="91440" marT="45720" marB="45720"/>
                </a:tc>
                <a:tc>
                  <a:txBody>
                    <a:bodyPr/>
                    <a:lstStyle/>
                    <a:p>
                      <a:r>
                        <a:t>$3.30 / 1M input, $16.50 / 1M output</a:t>
                      </a:r>
                    </a:p>
                  </a:txBody>
                  <a:tcPr marL="91440" marR="91440" marT="45720" marB="45720"/>
                </a:tc>
              </a:tr>
              <a:tr h="514350">
                <a:tc>
                  <a:txBody>
                    <a:bodyPr/>
                    <a:lstStyle/>
                    <a:p>
                      <a:r>
                        <a:t>UI</a:t>
                      </a:r>
                    </a:p>
                  </a:txBody>
                  <a:tcPr marL="91440" marR="91440" marT="45720" marB="45720"/>
                </a:tc>
                <a:tc>
                  <a:txBody>
                    <a:bodyPr/>
                    <a:lstStyle/>
                    <a:p>
                      <a:r>
                        <a:t>Left pane</a:t>
                      </a:r>
                    </a:p>
                  </a:txBody>
                  <a:tcPr marL="91440" marR="91440" marT="45720" marB="45720"/>
                </a:tc>
                <a:tc>
                  <a:txBody>
                    <a:bodyPr/>
                    <a:lstStyle/>
                    <a:p>
                      <a:r>
                        <a:t>Right pane</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3175DFC5-F56C-45E8-9A11-5FCFA32C81CF}"/>
              </a:ext>
            </a:extLst>
          </p:cNvPr>
          <p:cNvSpPr>
            <a:spLocks xmlns:a="http://schemas.openxmlformats.org/drawingml/2006/main" noGrp="1"/>
          </p:cNvSpPr>
          <p:nvPr/>
        </p:nvSpPr>
        <p:spPr>
          <a:xfrm xmlns:a="http://schemas.openxmlformats.org/drawingml/2006/main">
            <a:off x="10934700" y="6362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657083"/>
                </a:solidFill>
                <a:latin typeface="Arial"/>
                <a:ea typeface="Arial"/>
                <a:cs typeface="Arial"/>
              </a:defRPr>
            </a:pPr>
            <a:r>
              <a:rPr sz="900" b="1">
                <a:solidFill>
                  <a:srgbClr val="657083"/>
                </a:solidFill>
                <a:latin typeface="Arial"/>
                <a:ea typeface="Arial"/>
                <a:cs typeface="Arial"/>
              </a:rPr>
              <a:t>09</a:t>
            </a:r>
          </a:p>
        </p:txBody>
      </p:sp>
    </p:spTree>
    <p:extLst>
      <p:ext uri="{BB962C8B-B14F-4D97-AF65-F5344CB8AC3E}">
        <p14:creationId xmlns:p14="http://schemas.microsoft.com/office/powerpoint/2010/main" val="1974193572"/>
      </p:ext>
    </p:extLst>
  </p:cSld>
</p:sld>
</file>

<file path=ppt/slides/slide10.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878332E-7048-4C9B-AF5A-4351567591C0}"/>
              </a:ext>
            </a:extLst>
          </p:cNvPr>
          <p:cNvSpPr>
            <a:spLocks xmlns:a="http://schemas.openxmlformats.org/drawingml/2006/main" noGrp="1"/>
          </p:cNvSpPr>
          <p:nvPr/>
        </p:nvSpPr>
        <p:spPr>
          <a:xfrm xmlns:a="http://schemas.openxmlformats.org/drawingml/2006/main">
            <a:off x="609600" y="3238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0F766E"/>
                </a:solidFill>
                <a:latin typeface="Arial"/>
                <a:ea typeface="Arial"/>
                <a:cs typeface="Arial"/>
              </a:defRPr>
            </a:pPr>
            <a:r>
              <a:rPr sz="975" b="1">
                <a:solidFill>
                  <a:srgbClr val="0F766E"/>
                </a:solidFill>
                <a:latin typeface="Arial"/>
                <a:ea typeface="Arial"/>
                <a:cs typeface="Arial"/>
              </a:rPr>
              <a:t>JEV EVALUATION</a:t>
            </a:r>
          </a:p>
        </p:txBody>
      </p:sp>
      <p:sp>
        <p:nvSpPr>
          <p:cNvPr id="2" name="">
            <a:extLst xmlns:a="http://schemas.openxmlformats.org/drawingml/2006/main">
              <a:ext uri="{FF2B5EF4-FFF2-40B4-BE49-F238E27FC236}">
                <a16:creationId xmlns:a16="http://schemas.microsoft.com/office/drawing/2014/main" id="{38FBF794-28C2-4825-B963-C34F58443A5D}"/>
              </a:ext>
            </a:extLst>
          </p:cNvPr>
          <p:cNvSpPr>
            <a:spLocks xmlns:a="http://schemas.openxmlformats.org/drawingml/2006/main" noGrp="1"/>
          </p:cNvSpPr>
          <p:nvPr/>
        </p:nvSpPr>
        <p:spPr>
          <a:xfrm xmlns:a="http://schemas.openxmlformats.org/drawingml/2006/main">
            <a:off x="609600" y="6286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33"/>
                </a:solidFill>
                <a:latin typeface="Arial"/>
                <a:ea typeface="Arial"/>
                <a:cs typeface="Arial"/>
              </a:defRPr>
            </a:pPr>
            <a:r>
              <a:rPr sz="2550" b="1">
                <a:solidFill>
                  <a:srgbClr val="172033"/>
                </a:solidFill>
                <a:latin typeface="Arial"/>
                <a:ea typeface="Arial"/>
                <a:cs typeface="Arial"/>
              </a:rPr>
              <a:t>Evaluation cases</a:t>
            </a:r>
          </a:p>
        </p:txBody>
      </p:sp>
      <p:sp>
        <p:nvSpPr>
          <p:cNvPr id="3" name="">
            <a:extLst xmlns:a="http://schemas.openxmlformats.org/drawingml/2006/main">
              <a:ext uri="{FF2B5EF4-FFF2-40B4-BE49-F238E27FC236}">
                <a16:creationId xmlns:a16="http://schemas.microsoft.com/office/drawing/2014/main" id="{5D0826BC-57F8-4DC8-8401-72C2F89FAC7F}"/>
              </a:ext>
            </a:extLst>
          </p:cNvPr>
          <p:cNvSpPr>
            <a:spLocks xmlns:a="http://schemas.openxmlformats.org/drawingml/2006/main" noGrp="1"/>
          </p:cNvSpPr>
          <p:nvPr/>
        </p:nvSpPr>
        <p:spPr>
          <a:xfrm xmlns:a="http://schemas.openxmlformats.org/drawingml/2006/main">
            <a:off x="609600" y="1200150"/>
            <a:ext cx="10763250" cy="0"/>
          </a:xfrm>
          <a:prstGeom xmlns:a="http://schemas.openxmlformats.org/drawingml/2006/main" prst="line">
            <a:avLst/>
          </a:prstGeom>
          <a:noFill xmlns:a="http://schemas.openxmlformats.org/drawingml/2006/main"/>
          <a:ln xmlns:a="http://schemas.openxmlformats.org/drawingml/2006/main" w="9525">
            <a:solidFill>
              <a:srgbClr val="D9DEE8"/>
            </a:solidFill>
            <a:prstDash val="solid"/>
          </a:ln>
        </p:spPr>
      </p:sp>
      <p:graphicFrame>
        <p:nvGraphicFramePr>
          <p:cNvPr id="10" name=""/>
          <p:cNvGraphicFramePr/>
          <p:nvPr/>
        </p:nvGraphicFramePr>
        <p:xfrm>
          <a:off xmlns:a="http://schemas.openxmlformats.org/drawingml/2006/main" x="666750" y="1676400"/>
          <a:ext xmlns:a="http://schemas.openxmlformats.org/drawingml/2006/main" cx="10763250" cy="2476500"/>
        </p:xfrm>
        <a:graphic xmlns:a="http://schemas.openxmlformats.org/drawingml/2006/main">
          <a:graphicData uri="http://schemas.openxmlformats.org/drawingml/2006/table">
            <a:tbl>
              <a:tblPr firstRow="1" bandRow="1"/>
              <a:tblGrid>
                <a:gridCol w="857250"/>
                <a:gridCol w="4365356"/>
                <a:gridCol w="1846881"/>
                <a:gridCol w="1846881"/>
                <a:gridCol w="1846881"/>
              </a:tblGrid>
              <a:tr h="619125">
                <a:tc>
                  <a:txBody>
                    <a:bodyPr/>
                    <a:lstStyle/>
                    <a:p>
                      <a:r>
                        <a:t>Case</a:t>
                      </a:r>
                    </a:p>
                  </a:txBody>
                  <a:tcPr marL="91440" marR="91440" marT="45720" marB="45720"/>
                </a:tc>
                <a:tc>
                  <a:txBody>
                    <a:bodyPr/>
                    <a:lstStyle/>
                    <a:p>
                      <a:r>
                        <a:t>Ticket</a:t>
                      </a:r>
                    </a:p>
                  </a:txBody>
                  <a:tcPr marL="91440" marR="91440" marT="45720" marB="45720"/>
                </a:tc>
                <a:tc>
                  <a:txBody>
                    <a:bodyPr/>
                    <a:lstStyle/>
                    <a:p>
                      <a:r>
                        <a:t>Route</a:t>
                      </a:r>
                    </a:p>
                  </a:txBody>
                  <a:tcPr marL="91440" marR="91440" marT="45720" marB="45720"/>
                </a:tc>
                <a:tc>
                  <a:txBody>
                    <a:bodyPr/>
                    <a:lstStyle/>
                    <a:p>
                      <a:r>
                        <a:t>Urgent</a:t>
                      </a:r>
                    </a:p>
                  </a:txBody>
                  <a:tcPr marL="91440" marR="91440" marT="45720" marB="45720"/>
                </a:tc>
                <a:tc>
                  <a:txBody>
                    <a:bodyPr/>
                    <a:lstStyle/>
                    <a:p>
                      <a:r>
                        <a:t>Refund</a:t>
                      </a:r>
                    </a:p>
                  </a:txBody>
                  <a:tcPr marL="91440" marR="91440" marT="45720" marB="45720"/>
                </a:tc>
              </a:tr>
              <a:tr h="619125">
                <a:tc>
                  <a:txBody>
                    <a:bodyPr/>
                    <a:lstStyle/>
                    <a:p>
                      <a:r>
                        <a:t>UC1</a:t>
                      </a:r>
                    </a:p>
                  </a:txBody>
                  <a:tcPr marL="91440" marR="91440" marT="45720" marB="45720"/>
                </a:tc>
                <a:tc>
                  <a:txBody>
                    <a:bodyPr/>
                    <a:lstStyle/>
                    <a:p>
                      <a:r>
                        <a:t>Password reset link opens a blank page</a:t>
                      </a:r>
                    </a:p>
                  </a:txBody>
                  <a:tcPr marL="91440" marR="91440" marT="45720" marB="45720"/>
                </a:tc>
                <a:tc>
                  <a:txBody>
                    <a:bodyPr/>
                    <a:lstStyle/>
                    <a:p>
                      <a:r>
                        <a:t>Technical</a:t>
                      </a:r>
                    </a:p>
                  </a:txBody>
                  <a:tcPr marL="91440" marR="91440" marT="45720" marB="45720"/>
                </a:tc>
                <a:tc>
                  <a:txBody>
                    <a:bodyPr/>
                    <a:lstStyle/>
                    <a:p>
                      <a:r>
                        <a:t>No</a:t>
                      </a:r>
                    </a:p>
                  </a:txBody>
                  <a:tcPr marL="91440" marR="91440" marT="45720" marB="45720"/>
                </a:tc>
                <a:tc>
                  <a:txBody>
                    <a:bodyPr/>
                    <a:lstStyle/>
                    <a:p>
                      <a:r>
                        <a:t>No</a:t>
                      </a:r>
                    </a:p>
                  </a:txBody>
                  <a:tcPr marL="91440" marR="91440" marT="45720" marB="45720"/>
                </a:tc>
              </a:tr>
              <a:tr h="619125">
                <a:tc>
                  <a:txBody>
                    <a:bodyPr/>
                    <a:lstStyle/>
                    <a:p>
                      <a:r>
                        <a:t>UC2</a:t>
                      </a:r>
                    </a:p>
                  </a:txBody>
                  <a:tcPr marL="91440" marR="91440" marT="45720" marB="45720"/>
                </a:tc>
                <a:tc>
                  <a:txBody>
                    <a:bodyPr/>
                    <a:lstStyle/>
                    <a:p>
                      <a:r>
                        <a:t>Do you have an office in Singapore?</a:t>
                      </a:r>
                    </a:p>
                  </a:txBody>
                  <a:tcPr marL="91440" marR="91440" marT="45720" marB="45720"/>
                </a:tc>
                <a:tc>
                  <a:txBody>
                    <a:bodyPr/>
                    <a:lstStyle/>
                    <a:p>
                      <a:r>
                        <a:t>Other</a:t>
                      </a:r>
                    </a:p>
                  </a:txBody>
                  <a:tcPr marL="91440" marR="91440" marT="45720" marB="45720"/>
                </a:tc>
                <a:tc>
                  <a:txBody>
                    <a:bodyPr/>
                    <a:lstStyle/>
                    <a:p>
                      <a:r>
                        <a:t>No</a:t>
                      </a:r>
                    </a:p>
                  </a:txBody>
                  <a:tcPr marL="91440" marR="91440" marT="45720" marB="45720"/>
                </a:tc>
                <a:tc>
                  <a:txBody>
                    <a:bodyPr/>
                    <a:lstStyle/>
                    <a:p>
                      <a:r>
                        <a:t>No</a:t>
                      </a:r>
                    </a:p>
                  </a:txBody>
                  <a:tcPr marL="91440" marR="91440" marT="45720" marB="45720"/>
                </a:tc>
              </a:tr>
              <a:tr h="619125">
                <a:tc>
                  <a:txBody>
                    <a:bodyPr/>
                    <a:lstStyle/>
                    <a:p>
                      <a:r>
                        <a:t>UC3</a:t>
                      </a:r>
                    </a:p>
                  </a:txBody>
                  <a:tcPr marL="91440" marR="91440" marT="45720" marB="45720"/>
                </a:tc>
                <a:tc>
                  <a:txBody>
                    <a:bodyPr/>
                    <a:lstStyle/>
                    <a:p>
                      <a:r>
                        <a:t>Production payment processing outage</a:t>
                      </a:r>
                    </a:p>
                  </a:txBody>
                  <a:tcPr marL="91440" marR="91440" marT="45720" marB="45720"/>
                </a:tc>
                <a:tc>
                  <a:txBody>
                    <a:bodyPr/>
                    <a:lstStyle/>
                    <a:p>
                      <a:r>
                        <a:t>Technical</a:t>
                      </a:r>
                    </a:p>
                  </a:txBody>
                  <a:tcPr marL="91440" marR="91440" marT="45720" marB="45720"/>
                </a:tc>
                <a:tc>
                  <a:txBody>
                    <a:bodyPr/>
                    <a:lstStyle/>
                    <a:p>
                      <a:r>
                        <a:t>Yes</a:t>
                      </a:r>
                    </a:p>
                  </a:txBody>
                  <a:tcPr marL="91440" marR="91440" marT="45720" marB="45720"/>
                </a:tc>
                <a:tc>
                  <a:txBody>
                    <a:bodyPr/>
                    <a:lstStyle/>
                    <a:p>
                      <a:r>
                        <a:t>No</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8BAE1CA1-CCB3-43B5-AE2C-7859BB8453EA}"/>
              </a:ext>
            </a:extLst>
          </p:cNvPr>
          <p:cNvSpPr>
            <a:spLocks xmlns:a="http://schemas.openxmlformats.org/drawingml/2006/main" noGrp="1"/>
          </p:cNvSpPr>
          <p:nvPr/>
        </p:nvSpPr>
        <p:spPr>
          <a:xfrm xmlns:a="http://schemas.openxmlformats.org/drawingml/2006/main">
            <a:off x="838200" y="4648200"/>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102033"/>
                </a:solidFill>
                <a:latin typeface="Arial"/>
                <a:ea typeface="Arial"/>
                <a:cs typeface="Arial"/>
              </a:defRPr>
            </a:pPr>
            <a:r>
              <a:rPr sz="1650" b="1">
                <a:solidFill>
                  <a:srgbClr val="102033"/>
                </a:solidFill>
                <a:latin typeface="Arial"/>
                <a:ea typeface="Arial"/>
                <a:cs typeface="Arial"/>
              </a:rPr>
              <a:t>The cases test routing discipline across account-like wording, general information, and payment-related outage language.</a:t>
            </a:r>
          </a:p>
        </p:txBody>
      </p:sp>
      <p:sp>
        <p:nvSpPr>
          <p:cNvPr id="6" name="">
            <a:extLst xmlns:a="http://schemas.openxmlformats.org/drawingml/2006/main">
              <a:ext uri="{FF2B5EF4-FFF2-40B4-BE49-F238E27FC236}">
                <a16:creationId xmlns:a16="http://schemas.microsoft.com/office/drawing/2014/main" id="{EE066D90-C825-4860-9271-BC6426EAEC7C}"/>
              </a:ext>
            </a:extLst>
          </p:cNvPr>
          <p:cNvSpPr>
            <a:spLocks xmlns:a="http://schemas.openxmlformats.org/drawingml/2006/main" noGrp="1"/>
          </p:cNvSpPr>
          <p:nvPr/>
        </p:nvSpPr>
        <p:spPr>
          <a:xfrm xmlns:a="http://schemas.openxmlformats.org/drawingml/2006/main">
            <a:off x="10934700" y="6362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657083"/>
                </a:solidFill>
                <a:latin typeface="Arial"/>
                <a:ea typeface="Arial"/>
                <a:cs typeface="Arial"/>
              </a:defRPr>
            </a:pPr>
            <a:r>
              <a:rPr sz="900" b="1">
                <a:solidFill>
                  <a:srgbClr val="657083"/>
                </a:solidFill>
                <a:latin typeface="Arial"/>
                <a:ea typeface="Arial"/>
                <a:cs typeface="Arial"/>
              </a:rPr>
              <a:t>10</a:t>
            </a:r>
          </a:p>
        </p:txBody>
      </p:sp>
    </p:spTree>
    <p:extLst>
      <p:ext uri="{BB962C8B-B14F-4D97-AF65-F5344CB8AC3E}">
        <p14:creationId xmlns:p14="http://schemas.microsoft.com/office/powerpoint/2010/main" val="1026073854"/>
      </p:ext>
    </p:extLst>
  </p:cSld>
</p:sld>
</file>

<file path=ppt/slides/slide11.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A307762-6C65-4316-B09A-F8AC834579A9}"/>
              </a:ext>
            </a:extLst>
          </p:cNvPr>
          <p:cNvSpPr>
            <a:spLocks xmlns:a="http://schemas.openxmlformats.org/drawingml/2006/main" noGrp="1"/>
          </p:cNvSpPr>
          <p:nvPr/>
        </p:nvSpPr>
        <p:spPr>
          <a:xfrm xmlns:a="http://schemas.openxmlformats.org/drawingml/2006/main">
            <a:off x="609600" y="3238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0F766E"/>
                </a:solidFill>
                <a:latin typeface="Arial"/>
                <a:ea typeface="Arial"/>
                <a:cs typeface="Arial"/>
              </a:defRPr>
            </a:pPr>
            <a:r>
              <a:rPr sz="975" b="1">
                <a:solidFill>
                  <a:srgbClr val="0F766E"/>
                </a:solidFill>
                <a:latin typeface="Arial"/>
                <a:ea typeface="Arial"/>
                <a:cs typeface="Arial"/>
              </a:rPr>
              <a:t>JEV EVALUATION</a:t>
            </a:r>
          </a:p>
        </p:txBody>
      </p:sp>
      <p:sp>
        <p:nvSpPr>
          <p:cNvPr id="2" name="">
            <a:extLst xmlns:a="http://schemas.openxmlformats.org/drawingml/2006/main">
              <a:ext uri="{FF2B5EF4-FFF2-40B4-BE49-F238E27FC236}">
                <a16:creationId xmlns:a16="http://schemas.microsoft.com/office/drawing/2014/main" id="{29F45406-5739-4E45-9116-94FABD229926}"/>
              </a:ext>
            </a:extLst>
          </p:cNvPr>
          <p:cNvSpPr>
            <a:spLocks xmlns:a="http://schemas.openxmlformats.org/drawingml/2006/main" noGrp="1"/>
          </p:cNvSpPr>
          <p:nvPr/>
        </p:nvSpPr>
        <p:spPr>
          <a:xfrm xmlns:a="http://schemas.openxmlformats.org/drawingml/2006/main">
            <a:off x="609600" y="6286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33"/>
                </a:solidFill>
                <a:latin typeface="Arial"/>
                <a:ea typeface="Arial"/>
                <a:cs typeface="Arial"/>
              </a:defRPr>
            </a:pPr>
            <a:r>
              <a:rPr sz="2550" b="1">
                <a:solidFill>
                  <a:srgbClr val="172033"/>
                </a:solidFill>
                <a:latin typeface="Arial"/>
                <a:ea typeface="Arial"/>
                <a:cs typeface="Arial"/>
              </a:rPr>
              <a:t>POC results summary</a:t>
            </a:r>
          </a:p>
        </p:txBody>
      </p:sp>
      <p:sp>
        <p:nvSpPr>
          <p:cNvPr id="3" name="">
            <a:extLst xmlns:a="http://schemas.openxmlformats.org/drawingml/2006/main">
              <a:ext uri="{FF2B5EF4-FFF2-40B4-BE49-F238E27FC236}">
                <a16:creationId xmlns:a16="http://schemas.microsoft.com/office/drawing/2014/main" id="{F1EFF4C0-5C33-4EFD-965A-92276E25F1CE}"/>
              </a:ext>
            </a:extLst>
          </p:cNvPr>
          <p:cNvSpPr>
            <a:spLocks xmlns:a="http://schemas.openxmlformats.org/drawingml/2006/main" noGrp="1"/>
          </p:cNvSpPr>
          <p:nvPr/>
        </p:nvSpPr>
        <p:spPr>
          <a:xfrm xmlns:a="http://schemas.openxmlformats.org/drawingml/2006/main">
            <a:off x="609600" y="1200150"/>
            <a:ext cx="10763250" cy="0"/>
          </a:xfrm>
          <a:prstGeom xmlns:a="http://schemas.openxmlformats.org/drawingml/2006/main" prst="line">
            <a:avLst/>
          </a:prstGeom>
          <a:noFill xmlns:a="http://schemas.openxmlformats.org/drawingml/2006/main"/>
          <a:ln xmlns:a="http://schemas.openxmlformats.org/drawingml/2006/main" w="9525">
            <a:solidFill>
              <a:srgbClr val="D9DEE8"/>
            </a:solidFill>
            <a:prstDash val="solid"/>
          </a:ln>
        </p:spPr>
      </p:sp>
      <p:sp>
        <p:nvSpPr>
          <p:cNvPr id="4" name="">
            <a:extLst xmlns:a="http://schemas.openxmlformats.org/drawingml/2006/main">
              <a:ext uri="{FF2B5EF4-FFF2-40B4-BE49-F238E27FC236}">
                <a16:creationId xmlns:a16="http://schemas.microsoft.com/office/drawing/2014/main" id="{6A81C761-C32D-44FF-BA86-3C3931B9DB3B}"/>
              </a:ext>
            </a:extLst>
          </p:cNvPr>
          <p:cNvSpPr>
            <a:spLocks xmlns:a="http://schemas.openxmlformats.org/drawingml/2006/main" noGrp="1"/>
          </p:cNvSpPr>
          <p:nvPr/>
        </p:nvSpPr>
        <p:spPr>
          <a:xfrm xmlns:a="http://schemas.openxmlformats.org/drawingml/2006/main">
            <a:off x="781050" y="1600200"/>
            <a:ext cx="23812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D9DEE8"/>
            </a:solidFill>
            <a:prstDash val="solid"/>
          </a:ln>
        </p:spPr>
      </p:sp>
      <p:sp>
        <p:nvSpPr>
          <p:cNvPr id="5" name="">
            <a:extLst xmlns:a="http://schemas.openxmlformats.org/drawingml/2006/main">
              <a:ext uri="{FF2B5EF4-FFF2-40B4-BE49-F238E27FC236}">
                <a16:creationId xmlns:a16="http://schemas.microsoft.com/office/drawing/2014/main" id="{7963FC90-6465-4FF6-B01F-1586825C8C64}"/>
              </a:ext>
            </a:extLst>
          </p:cNvPr>
          <p:cNvSpPr>
            <a:spLocks xmlns:a="http://schemas.openxmlformats.org/drawingml/2006/main" noGrp="1"/>
          </p:cNvSpPr>
          <p:nvPr/>
        </p:nvSpPr>
        <p:spPr>
          <a:xfrm xmlns:a="http://schemas.openxmlformats.org/drawingml/2006/main">
            <a:off x="952500" y="1771650"/>
            <a:ext cx="2038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102033"/>
                </a:solidFill>
                <a:latin typeface="Arial"/>
                <a:ea typeface="Arial"/>
                <a:cs typeface="Arial"/>
              </a:defRPr>
            </a:pPr>
            <a:r>
              <a:rPr sz="2100" b="1">
                <a:solidFill>
                  <a:srgbClr val="102033"/>
                </a:solidFill>
                <a:latin typeface="Arial"/>
                <a:ea typeface="Arial"/>
                <a:cs typeface="Arial"/>
              </a:rPr>
              <a:t>9/9</a:t>
            </a:r>
          </a:p>
        </p:txBody>
      </p:sp>
      <p:sp>
        <p:nvSpPr>
          <p:cNvPr id="6" name="">
            <a:extLst xmlns:a="http://schemas.openxmlformats.org/drawingml/2006/main">
              <a:ext uri="{FF2B5EF4-FFF2-40B4-BE49-F238E27FC236}">
                <a16:creationId xmlns:a16="http://schemas.microsoft.com/office/drawing/2014/main" id="{9E79DE28-48D6-4866-8C6F-1DCAFBF897E7}"/>
              </a:ext>
            </a:extLst>
          </p:cNvPr>
          <p:cNvSpPr>
            <a:spLocks xmlns:a="http://schemas.openxmlformats.org/drawingml/2006/main" noGrp="1"/>
          </p:cNvSpPr>
          <p:nvPr/>
        </p:nvSpPr>
        <p:spPr>
          <a:xfrm xmlns:a="http://schemas.openxmlformats.org/drawingml/2006/main">
            <a:off x="952500" y="2190750"/>
            <a:ext cx="2038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0">
                <a:solidFill>
                  <a:srgbClr val="657083"/>
                </a:solidFill>
                <a:latin typeface="Arial"/>
                <a:ea typeface="Arial"/>
                <a:cs typeface="Arial"/>
              </a:defRPr>
            </a:pPr>
            <a:r>
              <a:rPr sz="1125" b="0">
                <a:solidFill>
                  <a:srgbClr val="657083"/>
                </a:solidFill>
                <a:latin typeface="Arial"/>
                <a:ea typeface="Arial"/>
                <a:cs typeface="Arial"/>
              </a:rPr>
              <a:t>Field accuracy for both platforms</a:t>
            </a:r>
          </a:p>
        </p:txBody>
      </p:sp>
      <p:sp>
        <p:nvSpPr>
          <p:cNvPr id="7" name="">
            <a:extLst xmlns:a="http://schemas.openxmlformats.org/drawingml/2006/main">
              <a:ext uri="{FF2B5EF4-FFF2-40B4-BE49-F238E27FC236}">
                <a16:creationId xmlns:a16="http://schemas.microsoft.com/office/drawing/2014/main" id="{831470B8-2A19-4C5F-A774-741CF1BE7520}"/>
              </a:ext>
            </a:extLst>
          </p:cNvPr>
          <p:cNvSpPr>
            <a:spLocks xmlns:a="http://schemas.openxmlformats.org/drawingml/2006/main" noGrp="1"/>
          </p:cNvSpPr>
          <p:nvPr/>
        </p:nvSpPr>
        <p:spPr>
          <a:xfrm xmlns:a="http://schemas.openxmlformats.org/drawingml/2006/main">
            <a:off x="3486150" y="1600200"/>
            <a:ext cx="23812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D9DEE8"/>
            </a:solidFill>
            <a:prstDash val="solid"/>
          </a:ln>
        </p:spPr>
      </p:sp>
      <p:sp>
        <p:nvSpPr>
          <p:cNvPr id="8" name="">
            <a:extLst xmlns:a="http://schemas.openxmlformats.org/drawingml/2006/main">
              <a:ext uri="{FF2B5EF4-FFF2-40B4-BE49-F238E27FC236}">
                <a16:creationId xmlns:a16="http://schemas.microsoft.com/office/drawing/2014/main" id="{C9BE0013-EC41-48B8-BDA4-B5D86455C33A}"/>
              </a:ext>
            </a:extLst>
          </p:cNvPr>
          <p:cNvSpPr>
            <a:spLocks xmlns:a="http://schemas.openxmlformats.org/drawingml/2006/main" noGrp="1"/>
          </p:cNvSpPr>
          <p:nvPr/>
        </p:nvSpPr>
        <p:spPr>
          <a:xfrm xmlns:a="http://schemas.openxmlformats.org/drawingml/2006/main">
            <a:off x="3657600" y="1771650"/>
            <a:ext cx="2038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102033"/>
                </a:solidFill>
                <a:latin typeface="Arial"/>
                <a:ea typeface="Arial"/>
                <a:cs typeface="Arial"/>
              </a:defRPr>
            </a:pPr>
            <a:r>
              <a:rPr sz="2100" b="1">
                <a:solidFill>
                  <a:srgbClr val="102033"/>
                </a:solidFill>
                <a:latin typeface="Arial"/>
                <a:ea typeface="Arial"/>
                <a:cs typeface="Arial"/>
              </a:rPr>
              <a:t>970 ms</a:t>
            </a:r>
          </a:p>
        </p:txBody>
      </p:sp>
      <p:sp>
        <p:nvSpPr>
          <p:cNvPr id="9" name="">
            <a:extLst xmlns:a="http://schemas.openxmlformats.org/drawingml/2006/main">
              <a:ext uri="{FF2B5EF4-FFF2-40B4-BE49-F238E27FC236}">
                <a16:creationId xmlns:a16="http://schemas.microsoft.com/office/drawing/2014/main" id="{F85B8FC9-2E38-427C-BB82-52034CD60BC8}"/>
              </a:ext>
            </a:extLst>
          </p:cNvPr>
          <p:cNvSpPr>
            <a:spLocks xmlns:a="http://schemas.openxmlformats.org/drawingml/2006/main" noGrp="1"/>
          </p:cNvSpPr>
          <p:nvPr/>
        </p:nvSpPr>
        <p:spPr>
          <a:xfrm xmlns:a="http://schemas.openxmlformats.org/drawingml/2006/main">
            <a:off x="3657600" y="2190750"/>
            <a:ext cx="2038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0">
                <a:solidFill>
                  <a:srgbClr val="657083"/>
                </a:solidFill>
                <a:latin typeface="Arial"/>
                <a:ea typeface="Arial"/>
                <a:cs typeface="Arial"/>
              </a:defRPr>
            </a:pPr>
            <a:r>
              <a:rPr sz="1125" b="0">
                <a:solidFill>
                  <a:srgbClr val="657083"/>
                </a:solidFill>
                <a:latin typeface="Arial"/>
                <a:ea typeface="Arial"/>
                <a:cs typeface="Arial"/>
              </a:rPr>
              <a:t>Jev average API latency</a:t>
            </a:r>
          </a:p>
        </p:txBody>
      </p:sp>
      <p:sp>
        <p:nvSpPr>
          <p:cNvPr id="10" name="">
            <a:extLst xmlns:a="http://schemas.openxmlformats.org/drawingml/2006/main">
              <a:ext uri="{FF2B5EF4-FFF2-40B4-BE49-F238E27FC236}">
                <a16:creationId xmlns:a16="http://schemas.microsoft.com/office/drawing/2014/main" id="{6A30679F-ED1C-4601-B84C-E4C15EF50E07}"/>
              </a:ext>
            </a:extLst>
          </p:cNvPr>
          <p:cNvSpPr>
            <a:spLocks xmlns:a="http://schemas.openxmlformats.org/drawingml/2006/main" noGrp="1"/>
          </p:cNvSpPr>
          <p:nvPr/>
        </p:nvSpPr>
        <p:spPr>
          <a:xfrm xmlns:a="http://schemas.openxmlformats.org/drawingml/2006/main">
            <a:off x="6191250" y="1600200"/>
            <a:ext cx="23812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D9DEE8"/>
            </a:solidFill>
            <a:prstDash val="solid"/>
          </a:ln>
        </p:spPr>
      </p:sp>
      <p:sp>
        <p:nvSpPr>
          <p:cNvPr id="11" name="">
            <a:extLst xmlns:a="http://schemas.openxmlformats.org/drawingml/2006/main">
              <a:ext uri="{FF2B5EF4-FFF2-40B4-BE49-F238E27FC236}">
                <a16:creationId xmlns:a16="http://schemas.microsoft.com/office/drawing/2014/main" id="{C8B1C44A-8119-45DA-9F81-6C6625DF389F}"/>
              </a:ext>
            </a:extLst>
          </p:cNvPr>
          <p:cNvSpPr>
            <a:spLocks xmlns:a="http://schemas.openxmlformats.org/drawingml/2006/main" noGrp="1"/>
          </p:cNvSpPr>
          <p:nvPr/>
        </p:nvSpPr>
        <p:spPr>
          <a:xfrm xmlns:a="http://schemas.openxmlformats.org/drawingml/2006/main">
            <a:off x="6362700" y="1771650"/>
            <a:ext cx="2038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102033"/>
                </a:solidFill>
                <a:latin typeface="Arial"/>
                <a:ea typeface="Arial"/>
                <a:cs typeface="Arial"/>
              </a:defRPr>
            </a:pPr>
            <a:r>
              <a:rPr sz="2100" b="1">
                <a:solidFill>
                  <a:srgbClr val="102033"/>
                </a:solidFill>
                <a:latin typeface="Arial"/>
                <a:ea typeface="Arial"/>
                <a:cs typeface="Arial"/>
              </a:rPr>
              <a:t>4,741 ms</a:t>
            </a:r>
          </a:p>
        </p:txBody>
      </p:sp>
      <p:sp>
        <p:nvSpPr>
          <p:cNvPr id="12" name="">
            <a:extLst xmlns:a="http://schemas.openxmlformats.org/drawingml/2006/main">
              <a:ext uri="{FF2B5EF4-FFF2-40B4-BE49-F238E27FC236}">
                <a16:creationId xmlns:a16="http://schemas.microsoft.com/office/drawing/2014/main" id="{EEF5ED12-0CA8-468C-8F22-E8D5EC193103}"/>
              </a:ext>
            </a:extLst>
          </p:cNvPr>
          <p:cNvSpPr>
            <a:spLocks xmlns:a="http://schemas.openxmlformats.org/drawingml/2006/main" noGrp="1"/>
          </p:cNvSpPr>
          <p:nvPr/>
        </p:nvSpPr>
        <p:spPr>
          <a:xfrm xmlns:a="http://schemas.openxmlformats.org/drawingml/2006/main">
            <a:off x="6362700" y="2190750"/>
            <a:ext cx="2038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0">
                <a:solidFill>
                  <a:srgbClr val="657083"/>
                </a:solidFill>
                <a:latin typeface="Arial"/>
                <a:ea typeface="Arial"/>
                <a:cs typeface="Arial"/>
              </a:defRPr>
            </a:pPr>
            <a:r>
              <a:rPr sz="1125" b="0">
                <a:solidFill>
                  <a:srgbClr val="657083"/>
                </a:solidFill>
                <a:latin typeface="Arial"/>
                <a:ea typeface="Arial"/>
                <a:cs typeface="Arial"/>
              </a:rPr>
              <a:t>Claude average API latency</a:t>
            </a:r>
          </a:p>
        </p:txBody>
      </p:sp>
      <p:sp>
        <p:nvSpPr>
          <p:cNvPr id="13" name="">
            <a:extLst xmlns:a="http://schemas.openxmlformats.org/drawingml/2006/main">
              <a:ext uri="{FF2B5EF4-FFF2-40B4-BE49-F238E27FC236}">
                <a16:creationId xmlns:a16="http://schemas.microsoft.com/office/drawing/2014/main" id="{078262AF-1D50-4C75-8367-920F2717CA0D}"/>
              </a:ext>
            </a:extLst>
          </p:cNvPr>
          <p:cNvSpPr>
            <a:spLocks xmlns:a="http://schemas.openxmlformats.org/drawingml/2006/main" noGrp="1"/>
          </p:cNvSpPr>
          <p:nvPr/>
        </p:nvSpPr>
        <p:spPr>
          <a:xfrm xmlns:a="http://schemas.openxmlformats.org/drawingml/2006/main">
            <a:off x="8896350" y="1600200"/>
            <a:ext cx="23812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D9DEE8"/>
            </a:solidFill>
            <a:prstDash val="solid"/>
          </a:ln>
        </p:spPr>
      </p:sp>
      <p:sp>
        <p:nvSpPr>
          <p:cNvPr id="14" name="">
            <a:extLst xmlns:a="http://schemas.openxmlformats.org/drawingml/2006/main">
              <a:ext uri="{FF2B5EF4-FFF2-40B4-BE49-F238E27FC236}">
                <a16:creationId xmlns:a16="http://schemas.microsoft.com/office/drawing/2014/main" id="{0AE76AE0-0301-4B0F-9966-AA1823D051CB}"/>
              </a:ext>
            </a:extLst>
          </p:cNvPr>
          <p:cNvSpPr>
            <a:spLocks xmlns:a="http://schemas.openxmlformats.org/drawingml/2006/main" noGrp="1"/>
          </p:cNvSpPr>
          <p:nvPr/>
        </p:nvSpPr>
        <p:spPr>
          <a:xfrm xmlns:a="http://schemas.openxmlformats.org/drawingml/2006/main">
            <a:off x="9067800" y="1771650"/>
            <a:ext cx="2038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102033"/>
                </a:solidFill>
                <a:latin typeface="Arial"/>
                <a:ea typeface="Arial"/>
                <a:cs typeface="Arial"/>
              </a:defRPr>
            </a:pPr>
            <a:r>
              <a:rPr sz="2100" b="1">
                <a:solidFill>
                  <a:srgbClr val="102033"/>
                </a:solidFill>
                <a:latin typeface="Arial"/>
                <a:ea typeface="Arial"/>
                <a:cs typeface="Arial"/>
              </a:rPr>
              <a:t>$0.00002072</a:t>
            </a:r>
          </a:p>
        </p:txBody>
      </p:sp>
      <p:sp>
        <p:nvSpPr>
          <p:cNvPr id="15" name="">
            <a:extLst xmlns:a="http://schemas.openxmlformats.org/drawingml/2006/main">
              <a:ext uri="{FF2B5EF4-FFF2-40B4-BE49-F238E27FC236}">
                <a16:creationId xmlns:a16="http://schemas.microsoft.com/office/drawing/2014/main" id="{486EC6DD-CF55-4FF7-A61E-E04787F4416E}"/>
              </a:ext>
            </a:extLst>
          </p:cNvPr>
          <p:cNvSpPr>
            <a:spLocks xmlns:a="http://schemas.openxmlformats.org/drawingml/2006/main" noGrp="1"/>
          </p:cNvSpPr>
          <p:nvPr/>
        </p:nvSpPr>
        <p:spPr>
          <a:xfrm xmlns:a="http://schemas.openxmlformats.org/drawingml/2006/main">
            <a:off x="9067800" y="2190750"/>
            <a:ext cx="2038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0">
                <a:solidFill>
                  <a:srgbClr val="657083"/>
                </a:solidFill>
                <a:latin typeface="Arial"/>
                <a:ea typeface="Arial"/>
                <a:cs typeface="Arial"/>
              </a:defRPr>
            </a:pPr>
            <a:r>
              <a:rPr sz="1125" b="0">
                <a:solidFill>
                  <a:srgbClr val="657083"/>
                </a:solidFill>
                <a:latin typeface="Arial"/>
                <a:ea typeface="Arial"/>
                <a:cs typeface="Arial"/>
              </a:rPr>
              <a:t>Jev estimated cost per run</a:t>
            </a:r>
          </a:p>
        </p:txBody>
      </p:sp>
      <p:graphicFrame>
        <p:nvGraphicFramePr>
          <p:cNvPr id="33" name=""/>
          <p:cNvGraphicFramePr/>
          <p:nvPr/>
        </p:nvGraphicFramePr>
        <p:xfrm>
          <a:off xmlns:a="http://schemas.openxmlformats.org/drawingml/2006/main" x="1047750" y="3143250"/>
          <a:ext xmlns:a="http://schemas.openxmlformats.org/drawingml/2006/main" cx="9334500" cy="2190750"/>
        </p:xfrm>
        <a:graphic xmlns:a="http://schemas.openxmlformats.org/drawingml/2006/main">
          <a:graphicData uri="http://schemas.openxmlformats.org/drawingml/2006/table">
            <a:tbl>
              <a:tblPr firstRow="1" bandRow="1"/>
              <a:tblGrid>
                <a:gridCol w="3111500"/>
                <a:gridCol w="3111500"/>
                <a:gridCol w="3111500"/>
              </a:tblGrid>
              <a:tr h="365125">
                <a:tc>
                  <a:txBody>
                    <a:bodyPr/>
                    <a:lstStyle/>
                    <a:p>
                      <a:r>
                        <a:t>Metric</a:t>
                      </a:r>
                    </a:p>
                  </a:txBody>
                  <a:tcPr marL="91440" marR="91440" marT="45720" marB="45720"/>
                </a:tc>
                <a:tc>
                  <a:txBody>
                    <a:bodyPr/>
                    <a:lstStyle/>
                    <a:p>
                      <a:r>
                        <a:t>Jev</a:t>
                      </a:r>
                    </a:p>
                  </a:txBody>
                  <a:tcPr marL="91440" marR="91440" marT="45720" marB="45720"/>
                </a:tc>
                <a:tc>
                  <a:txBody>
                    <a:bodyPr/>
                    <a:lstStyle/>
                    <a:p>
                      <a:r>
                        <a:t>Claude Sonnet 4.5</a:t>
                      </a:r>
                    </a:p>
                  </a:txBody>
                  <a:tcPr marL="91440" marR="91440" marT="45720" marB="45720"/>
                </a:tc>
              </a:tr>
              <a:tr h="365125">
                <a:tc>
                  <a:txBody>
                    <a:bodyPr/>
                    <a:lstStyle/>
                    <a:p>
                      <a:r>
                        <a:t>Field accuracy</a:t>
                      </a:r>
                    </a:p>
                  </a:txBody>
                  <a:tcPr marL="91440" marR="91440" marT="45720" marB="45720"/>
                </a:tc>
                <a:tc>
                  <a:txBody>
                    <a:bodyPr/>
                    <a:lstStyle/>
                    <a:p>
                      <a:r>
                        <a:t>9/9</a:t>
                      </a:r>
                    </a:p>
                  </a:txBody>
                  <a:tcPr marL="91440" marR="91440" marT="45720" marB="45720"/>
                </a:tc>
                <a:tc>
                  <a:txBody>
                    <a:bodyPr/>
                    <a:lstStyle/>
                    <a:p>
                      <a:r>
                        <a:t>9/9</a:t>
                      </a:r>
                    </a:p>
                  </a:txBody>
                  <a:tcPr marL="91440" marR="91440" marT="45720" marB="45720"/>
                </a:tc>
              </a:tr>
              <a:tr h="365125">
                <a:tc>
                  <a:txBody>
                    <a:bodyPr/>
                    <a:lstStyle/>
                    <a:p>
                      <a:r>
                        <a:t>Average API latency</a:t>
                      </a:r>
                    </a:p>
                  </a:txBody>
                  <a:tcPr marL="91440" marR="91440" marT="45720" marB="45720"/>
                </a:tc>
                <a:tc>
                  <a:txBody>
                    <a:bodyPr/>
                    <a:lstStyle/>
                    <a:p>
                      <a:r>
                        <a:t>970 ms</a:t>
                      </a:r>
                    </a:p>
                  </a:txBody>
                  <a:tcPr marL="91440" marR="91440" marT="45720" marB="45720"/>
                </a:tc>
                <a:tc>
                  <a:txBody>
                    <a:bodyPr/>
                    <a:lstStyle/>
                    <a:p>
                      <a:r>
                        <a:t>4,741 ms</a:t>
                      </a:r>
                    </a:p>
                  </a:txBody>
                  <a:tcPr marL="91440" marR="91440" marT="45720" marB="45720"/>
                </a:tc>
              </a:tr>
              <a:tr h="365125">
                <a:tc>
                  <a:txBody>
                    <a:bodyPr/>
                    <a:lstStyle/>
                    <a:p>
                      <a:r>
                        <a:t>Average total time</a:t>
                      </a:r>
                    </a:p>
                  </a:txBody>
                  <a:tcPr marL="91440" marR="91440" marT="45720" marB="45720"/>
                </a:tc>
                <a:tc>
                  <a:txBody>
                    <a:bodyPr/>
                    <a:lstStyle/>
                    <a:p>
                      <a:r>
                        <a:t>1,030 ms</a:t>
                      </a:r>
                    </a:p>
                  </a:txBody>
                  <a:tcPr marL="91440" marR="91440" marT="45720" marB="45720"/>
                </a:tc>
                <a:tc>
                  <a:txBody>
                    <a:bodyPr/>
                    <a:lstStyle/>
                    <a:p>
                      <a:r>
                        <a:t>5,001 ms</a:t>
                      </a:r>
                    </a:p>
                  </a:txBody>
                  <a:tcPr marL="91440" marR="91440" marT="45720" marB="45720"/>
                </a:tc>
              </a:tr>
              <a:tr h="365125">
                <a:tc>
                  <a:txBody>
                    <a:bodyPr/>
                    <a:lstStyle/>
                    <a:p>
                      <a:r>
                        <a:t>Average total tokens</a:t>
                      </a:r>
                    </a:p>
                  </a:txBody>
                  <a:tcPr marL="91440" marR="91440" marT="45720" marB="45720"/>
                </a:tc>
                <a:tc>
                  <a:txBody>
                    <a:bodyPr/>
                    <a:lstStyle/>
                    <a:p>
                      <a:r>
                        <a:t>579</a:t>
                      </a:r>
                    </a:p>
                  </a:txBody>
                  <a:tcPr marL="91440" marR="91440" marT="45720" marB="45720"/>
                </a:tc>
                <a:tc>
                  <a:txBody>
                    <a:bodyPr/>
                    <a:lstStyle/>
                    <a:p>
                      <a:r>
                        <a:t>1,260</a:t>
                      </a:r>
                    </a:p>
                  </a:txBody>
                  <a:tcPr marL="91440" marR="91440" marT="45720" marB="45720"/>
                </a:tc>
              </a:tr>
              <a:tr h="365125">
                <a:tc>
                  <a:txBody>
                    <a:bodyPr/>
                    <a:lstStyle/>
                    <a:p>
                      <a:r>
                        <a:t>Average estimated cost/run</a:t>
                      </a:r>
                    </a:p>
                  </a:txBody>
                  <a:tcPr marL="91440" marR="91440" marT="45720" marB="45720"/>
                </a:tc>
                <a:tc>
                  <a:txBody>
                    <a:bodyPr/>
                    <a:lstStyle/>
                    <a:p>
                      <a:r>
                        <a:t>$0.00002072</a:t>
                      </a:r>
                    </a:p>
                  </a:txBody>
                  <a:tcPr marL="91440" marR="91440" marT="45720" marB="45720"/>
                </a:tc>
                <a:tc>
                  <a:txBody>
                    <a:bodyPr/>
                    <a:lstStyle/>
                    <a:p>
                      <a:r>
                        <a:t>$0.00693110</a:t>
                      </a:r>
                    </a:p>
                  </a:txBody>
                  <a:tcPr marL="91440" marR="91440" marT="45720" marB="45720"/>
                </a:tc>
              </a:tr>
            </a:tbl>
          </a:graphicData>
        </a:graphic>
      </p:graphicFrame>
      <p:sp>
        <p:nvSpPr>
          <p:cNvPr id="17" name="">
            <a:extLst xmlns:a="http://schemas.openxmlformats.org/drawingml/2006/main">
              <a:ext uri="{FF2B5EF4-FFF2-40B4-BE49-F238E27FC236}">
                <a16:creationId xmlns:a16="http://schemas.microsoft.com/office/drawing/2014/main" id="{A8FB6FD1-5845-486D-A70B-4FD71C766EF7}"/>
              </a:ext>
            </a:extLst>
          </p:cNvPr>
          <p:cNvSpPr>
            <a:spLocks xmlns:a="http://schemas.openxmlformats.org/drawingml/2006/main" noGrp="1"/>
          </p:cNvSpPr>
          <p:nvPr/>
        </p:nvSpPr>
        <p:spPr>
          <a:xfrm xmlns:a="http://schemas.openxmlformats.org/drawingml/2006/main">
            <a:off x="10934700" y="6362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657083"/>
                </a:solidFill>
                <a:latin typeface="Arial"/>
                <a:ea typeface="Arial"/>
                <a:cs typeface="Arial"/>
              </a:defRPr>
            </a:pPr>
            <a:r>
              <a:rPr sz="900" b="1">
                <a:solidFill>
                  <a:srgbClr val="657083"/>
                </a:solidFill>
                <a:latin typeface="Arial"/>
                <a:ea typeface="Arial"/>
                <a:cs typeface="Arial"/>
              </a:rPr>
              <a:t>11</a:t>
            </a:r>
          </a:p>
        </p:txBody>
      </p:sp>
    </p:spTree>
    <p:extLst>
      <p:ext uri="{BB962C8B-B14F-4D97-AF65-F5344CB8AC3E}">
        <p14:creationId xmlns:p14="http://schemas.microsoft.com/office/powerpoint/2010/main" val="1114545173"/>
      </p:ext>
    </p:extLst>
  </p:cSld>
</p:sld>
</file>

<file path=ppt/slides/slide12.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F517EAC-C6D9-4C72-ADD0-E22FC5535241}"/>
              </a:ext>
            </a:extLst>
          </p:cNvPr>
          <p:cNvSpPr>
            <a:spLocks xmlns:a="http://schemas.openxmlformats.org/drawingml/2006/main" noGrp="1"/>
          </p:cNvSpPr>
          <p:nvPr/>
        </p:nvSpPr>
        <p:spPr>
          <a:xfrm xmlns:a="http://schemas.openxmlformats.org/drawingml/2006/main">
            <a:off x="609600" y="3238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0F766E"/>
                </a:solidFill>
                <a:latin typeface="Arial"/>
                <a:ea typeface="Arial"/>
                <a:cs typeface="Arial"/>
              </a:defRPr>
            </a:pPr>
            <a:r>
              <a:rPr sz="975" b="1">
                <a:solidFill>
                  <a:srgbClr val="0F766E"/>
                </a:solidFill>
                <a:latin typeface="Arial"/>
                <a:ea typeface="Arial"/>
                <a:cs typeface="Arial"/>
              </a:rPr>
              <a:t>JEV EVALUATION</a:t>
            </a:r>
          </a:p>
        </p:txBody>
      </p:sp>
      <p:sp>
        <p:nvSpPr>
          <p:cNvPr id="2" name="">
            <a:extLst xmlns:a="http://schemas.openxmlformats.org/drawingml/2006/main">
              <a:ext uri="{FF2B5EF4-FFF2-40B4-BE49-F238E27FC236}">
                <a16:creationId xmlns:a16="http://schemas.microsoft.com/office/drawing/2014/main" id="{436368F2-C323-4F36-8F46-B278862841CE}"/>
              </a:ext>
            </a:extLst>
          </p:cNvPr>
          <p:cNvSpPr>
            <a:spLocks xmlns:a="http://schemas.openxmlformats.org/drawingml/2006/main" noGrp="1"/>
          </p:cNvSpPr>
          <p:nvPr/>
        </p:nvSpPr>
        <p:spPr>
          <a:xfrm xmlns:a="http://schemas.openxmlformats.org/drawingml/2006/main">
            <a:off x="609600" y="6286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33"/>
                </a:solidFill>
                <a:latin typeface="Arial"/>
                <a:ea typeface="Arial"/>
                <a:cs typeface="Arial"/>
              </a:defRPr>
            </a:pPr>
            <a:r>
              <a:rPr sz="2550" b="1">
                <a:solidFill>
                  <a:srgbClr val="172033"/>
                </a:solidFill>
                <a:latin typeface="Arial"/>
                <a:ea typeface="Arial"/>
                <a:cs typeface="Arial"/>
              </a:rPr>
              <a:t>Latency and cost profile</a:t>
            </a:r>
          </a:p>
        </p:txBody>
      </p:sp>
      <p:sp>
        <p:nvSpPr>
          <p:cNvPr id="3" name="">
            <a:extLst xmlns:a="http://schemas.openxmlformats.org/drawingml/2006/main">
              <a:ext uri="{FF2B5EF4-FFF2-40B4-BE49-F238E27FC236}">
                <a16:creationId xmlns:a16="http://schemas.microsoft.com/office/drawing/2014/main" id="{DD42B903-DBE2-485C-ABE0-E1B13AF9029E}"/>
              </a:ext>
            </a:extLst>
          </p:cNvPr>
          <p:cNvSpPr>
            <a:spLocks xmlns:a="http://schemas.openxmlformats.org/drawingml/2006/main" noGrp="1"/>
          </p:cNvSpPr>
          <p:nvPr/>
        </p:nvSpPr>
        <p:spPr>
          <a:xfrm xmlns:a="http://schemas.openxmlformats.org/drawingml/2006/main">
            <a:off x="609600" y="1200150"/>
            <a:ext cx="10763250" cy="0"/>
          </a:xfrm>
          <a:prstGeom xmlns:a="http://schemas.openxmlformats.org/drawingml/2006/main" prst="line">
            <a:avLst/>
          </a:prstGeom>
          <a:noFill xmlns:a="http://schemas.openxmlformats.org/drawingml/2006/main"/>
          <a:ln xmlns:a="http://schemas.openxmlformats.org/drawingml/2006/main" w="9525">
            <a:solidFill>
              <a:srgbClr val="D9DEE8"/>
            </a:solidFill>
            <a:prstDash val="solid"/>
          </a:ln>
        </p:spPr>
      </p:sp>
      <p:graphicFrame>
        <p:nvGraphicFramePr>
          <p:cNvPr id="11" name="Chart"/>
          <p:cNvGraphicFramePr/>
          <p:nvPr/>
        </p:nvGraphicFramePr>
        <p:xfrm>
          <a:off xmlns:a="http://schemas.openxmlformats.org/drawingml/2006/main" x="742950" y="1638300"/>
          <a:ext xmlns:a="http://schemas.openxmlformats.org/drawingml/2006/main" cx="4857750" cy="2952750"/>
        </p:xfrm>
        <a:graphic xmlns:a="http://schemas.openxmlformats.org/drawingml/2006/main">
          <a:graphicData uri="http://schemas.openxmlformats.org/drawingml/2006/chart">
            <c:chart xmlns:r="http://schemas.openxmlformats.org/officeDocument/2006/relationships" xmlns:c="http://schemas.openxmlformats.org/drawingml/2006/chart" r:id="Re63feea754dc4b5f"/>
          </a:graphicData>
        </a:graphic>
      </p:graphicFrame>
      <p:graphicFrame>
        <p:nvGraphicFramePr>
          <p:cNvPr id="12" name="Chart"/>
          <p:cNvGraphicFramePr/>
          <p:nvPr/>
        </p:nvGraphicFramePr>
        <p:xfrm>
          <a:off xmlns:a="http://schemas.openxmlformats.org/drawingml/2006/main" x="6477000" y="1638300"/>
          <a:ext xmlns:a="http://schemas.openxmlformats.org/drawingml/2006/main" cx="4857750" cy="2952750"/>
        </p:xfrm>
        <a:graphic xmlns:a="http://schemas.openxmlformats.org/drawingml/2006/main">
          <a:graphicData uri="http://schemas.openxmlformats.org/drawingml/2006/chart">
            <c:chart xmlns:r="http://schemas.openxmlformats.org/officeDocument/2006/relationships" xmlns:c="http://schemas.openxmlformats.org/drawingml/2006/chart" r:id="R8ff47792f7d7437c"/>
          </a:graphicData>
        </a:graphic>
      </p:graphicFrame>
      <p:sp>
        <p:nvSpPr>
          <p:cNvPr id="6" name="">
            <a:extLst xmlns:a="http://schemas.openxmlformats.org/drawingml/2006/main">
              <a:ext uri="{FF2B5EF4-FFF2-40B4-BE49-F238E27FC236}">
                <a16:creationId xmlns:a16="http://schemas.microsoft.com/office/drawing/2014/main" id="{0EB99BBE-8864-496A-B4DE-47076A52D86A}"/>
              </a:ext>
            </a:extLst>
          </p:cNvPr>
          <p:cNvSpPr>
            <a:spLocks xmlns:a="http://schemas.openxmlformats.org/drawingml/2006/main" noGrp="1"/>
          </p:cNvSpPr>
          <p:nvPr/>
        </p:nvSpPr>
        <p:spPr>
          <a:xfrm xmlns:a="http://schemas.openxmlformats.org/drawingml/2006/main">
            <a:off x="914400" y="5219700"/>
            <a:ext cx="962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02033"/>
                </a:solidFill>
                <a:latin typeface="Arial"/>
                <a:ea typeface="Arial"/>
                <a:cs typeface="Arial"/>
              </a:defRPr>
            </a:pPr>
            <a:r>
              <a:rPr sz="1800" b="1">
                <a:solidFill>
                  <a:srgbClr val="102033"/>
                </a:solidFill>
                <a:latin typeface="Arial"/>
                <a:ea typeface="Arial"/>
                <a:cs typeface="Arial"/>
              </a:rPr>
              <a:t>In this sample, Jev delivered the same field accuracy with materially lower latency and estimated cost.</a:t>
            </a:r>
          </a:p>
        </p:txBody>
      </p:sp>
      <p:sp>
        <p:nvSpPr>
          <p:cNvPr id="7" name="">
            <a:extLst xmlns:a="http://schemas.openxmlformats.org/drawingml/2006/main">
              <a:ext uri="{FF2B5EF4-FFF2-40B4-BE49-F238E27FC236}">
                <a16:creationId xmlns:a16="http://schemas.microsoft.com/office/drawing/2014/main" id="{76BB3C03-BA4D-4CBB-92CE-3F84A5A8F9DA}"/>
              </a:ext>
            </a:extLst>
          </p:cNvPr>
          <p:cNvSpPr>
            <a:spLocks xmlns:a="http://schemas.openxmlformats.org/drawingml/2006/main" noGrp="1"/>
          </p:cNvSpPr>
          <p:nvPr/>
        </p:nvSpPr>
        <p:spPr>
          <a:xfrm xmlns:a="http://schemas.openxmlformats.org/drawingml/2006/main">
            <a:off x="10934700" y="6362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657083"/>
                </a:solidFill>
                <a:latin typeface="Arial"/>
                <a:ea typeface="Arial"/>
                <a:cs typeface="Arial"/>
              </a:defRPr>
            </a:pPr>
            <a:r>
              <a:rPr sz="900" b="1">
                <a:solidFill>
                  <a:srgbClr val="657083"/>
                </a:solidFill>
                <a:latin typeface="Arial"/>
                <a:ea typeface="Arial"/>
                <a:cs typeface="Arial"/>
              </a:rPr>
              <a:t>12</a:t>
            </a:r>
          </a:p>
        </p:txBody>
      </p:sp>
    </p:spTree>
    <p:extLst>
      <p:ext uri="{BB962C8B-B14F-4D97-AF65-F5344CB8AC3E}">
        <p14:creationId xmlns:p14="http://schemas.microsoft.com/office/powerpoint/2010/main" val="1312057186"/>
      </p:ext>
    </p:extLst>
  </p:cSld>
</p:sld>
</file>

<file path=ppt/slides/slide13.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ECC2FD4-55EA-4B05-A019-69D069B59689}"/>
              </a:ext>
            </a:extLst>
          </p:cNvPr>
          <p:cNvSpPr>
            <a:spLocks xmlns:a="http://schemas.openxmlformats.org/drawingml/2006/main" noGrp="1"/>
          </p:cNvSpPr>
          <p:nvPr/>
        </p:nvSpPr>
        <p:spPr>
          <a:xfrm xmlns:a="http://schemas.openxmlformats.org/drawingml/2006/main">
            <a:off x="609600" y="3238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0F766E"/>
                </a:solidFill>
                <a:latin typeface="Arial"/>
                <a:ea typeface="Arial"/>
                <a:cs typeface="Arial"/>
              </a:defRPr>
            </a:pPr>
            <a:r>
              <a:rPr sz="975" b="1">
                <a:solidFill>
                  <a:srgbClr val="0F766E"/>
                </a:solidFill>
                <a:latin typeface="Arial"/>
                <a:ea typeface="Arial"/>
                <a:cs typeface="Arial"/>
              </a:rPr>
              <a:t>JEV EVALUATION</a:t>
            </a:r>
          </a:p>
        </p:txBody>
      </p:sp>
      <p:sp>
        <p:nvSpPr>
          <p:cNvPr id="2" name="">
            <a:extLst xmlns:a="http://schemas.openxmlformats.org/drawingml/2006/main">
              <a:ext uri="{FF2B5EF4-FFF2-40B4-BE49-F238E27FC236}">
                <a16:creationId xmlns:a16="http://schemas.microsoft.com/office/drawing/2014/main" id="{F55D2B26-411E-4EF1-894D-9DE26E6DFC26}"/>
              </a:ext>
            </a:extLst>
          </p:cNvPr>
          <p:cNvSpPr>
            <a:spLocks xmlns:a="http://schemas.openxmlformats.org/drawingml/2006/main" noGrp="1"/>
          </p:cNvSpPr>
          <p:nvPr/>
        </p:nvSpPr>
        <p:spPr>
          <a:xfrm xmlns:a="http://schemas.openxmlformats.org/drawingml/2006/main">
            <a:off x="609600" y="6286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33"/>
                </a:solidFill>
                <a:latin typeface="Arial"/>
                <a:ea typeface="Arial"/>
                <a:cs typeface="Arial"/>
              </a:defRPr>
            </a:pPr>
            <a:r>
              <a:rPr sz="2550" b="1">
                <a:solidFill>
                  <a:srgbClr val="172033"/>
                </a:solidFill>
                <a:latin typeface="Arial"/>
                <a:ea typeface="Arial"/>
                <a:cs typeface="Arial"/>
              </a:rPr>
              <a:t>Use case detail</a:t>
            </a:r>
          </a:p>
        </p:txBody>
      </p:sp>
      <p:sp>
        <p:nvSpPr>
          <p:cNvPr id="3" name="">
            <a:extLst xmlns:a="http://schemas.openxmlformats.org/drawingml/2006/main">
              <a:ext uri="{FF2B5EF4-FFF2-40B4-BE49-F238E27FC236}">
                <a16:creationId xmlns:a16="http://schemas.microsoft.com/office/drawing/2014/main" id="{16B596DD-52E0-4AF0-90C8-59984F351B25}"/>
              </a:ext>
            </a:extLst>
          </p:cNvPr>
          <p:cNvSpPr>
            <a:spLocks xmlns:a="http://schemas.openxmlformats.org/drawingml/2006/main" noGrp="1"/>
          </p:cNvSpPr>
          <p:nvPr/>
        </p:nvSpPr>
        <p:spPr>
          <a:xfrm xmlns:a="http://schemas.openxmlformats.org/drawingml/2006/main">
            <a:off x="609600" y="1200150"/>
            <a:ext cx="10763250" cy="0"/>
          </a:xfrm>
          <a:prstGeom xmlns:a="http://schemas.openxmlformats.org/drawingml/2006/main" prst="line">
            <a:avLst/>
          </a:prstGeom>
          <a:noFill xmlns:a="http://schemas.openxmlformats.org/drawingml/2006/main"/>
          <a:ln xmlns:a="http://schemas.openxmlformats.org/drawingml/2006/main" w="9525">
            <a:solidFill>
              <a:srgbClr val="D9DEE8"/>
            </a:solidFill>
            <a:prstDash val="solid"/>
          </a:ln>
        </p:spPr>
      </p:sp>
      <p:graphicFrame>
        <p:nvGraphicFramePr>
          <p:cNvPr id="10" name=""/>
          <p:cNvGraphicFramePr/>
          <p:nvPr/>
        </p:nvGraphicFramePr>
        <p:xfrm>
          <a:off xmlns:a="http://schemas.openxmlformats.org/drawingml/2006/main" x="619125" y="1543050"/>
          <a:ext xmlns:a="http://schemas.openxmlformats.org/drawingml/2006/main" cx="10953750" cy="3562350"/>
        </p:xfrm>
        <a:graphic xmlns:a="http://schemas.openxmlformats.org/drawingml/2006/main">
          <a:graphicData uri="http://schemas.openxmlformats.org/drawingml/2006/table">
            <a:tbl>
              <a:tblPr firstRow="1" bandRow="1"/>
              <a:tblGrid>
                <a:gridCol w="723900"/>
                <a:gridCol w="2306731"/>
                <a:gridCol w="2306731"/>
                <a:gridCol w="1805268"/>
                <a:gridCol w="3811121"/>
              </a:tblGrid>
              <a:tr h="890588">
                <a:tc>
                  <a:txBody>
                    <a:bodyPr/>
                    <a:lstStyle/>
                    <a:p>
                      <a:r>
                        <a:t>Case</a:t>
                      </a:r>
                    </a:p>
                  </a:txBody>
                  <a:tcPr marL="91440" marR="91440" marT="45720" marB="45720"/>
                </a:tc>
                <a:tc>
                  <a:txBody>
                    <a:bodyPr/>
                    <a:lstStyle/>
                    <a:p>
                      <a:r>
                        <a:t>Jev route/conf</a:t>
                      </a:r>
                    </a:p>
                  </a:txBody>
                  <a:tcPr marL="91440" marR="91440" marT="45720" marB="45720"/>
                </a:tc>
                <a:tc>
                  <a:txBody>
                    <a:bodyPr/>
                    <a:lstStyle/>
                    <a:p>
                      <a:r>
                        <a:t>Claude route/conf</a:t>
                      </a:r>
                    </a:p>
                  </a:txBody>
                  <a:tcPr marL="91440" marR="91440" marT="45720" marB="45720"/>
                </a:tc>
                <a:tc>
                  <a:txBody>
                    <a:bodyPr/>
                    <a:lstStyle/>
                    <a:p>
                      <a:r>
                        <a:t>Urgency result prob.</a:t>
                      </a:r>
                    </a:p>
                  </a:txBody>
                  <a:tcPr marL="91440" marR="91440" marT="45720" marB="45720"/>
                </a:tc>
                <a:tc>
                  <a:txBody>
                    <a:bodyPr/>
                    <a:lstStyle/>
                    <a:p>
                      <a:r>
                        <a:t>Takeaway</a:t>
                      </a:r>
                    </a:p>
                  </a:txBody>
                  <a:tcPr marL="91440" marR="91440" marT="45720" marB="45720"/>
                </a:tc>
              </a:tr>
              <a:tr h="890588">
                <a:tc>
                  <a:txBody>
                    <a:bodyPr/>
                    <a:lstStyle/>
                    <a:p>
                      <a:r>
                        <a:t>UC1</a:t>
                      </a:r>
                    </a:p>
                  </a:txBody>
                  <a:tcPr marL="91440" marR="91440" marT="45720" marB="45720"/>
                </a:tc>
                <a:tc>
                  <a:txBody>
                    <a:bodyPr/>
                    <a:lstStyle/>
                    <a:p>
                      <a:r>
                        <a:t>Technical / 45%</a:t>
                      </a:r>
                    </a:p>
                  </a:txBody>
                  <a:tcPr marL="91440" marR="91440" marT="45720" marB="45720"/>
                </a:tc>
                <a:tc>
                  <a:txBody>
                    <a:bodyPr/>
                    <a:lstStyle/>
                    <a:p>
                      <a:r>
                        <a:t>Technical / 95%</a:t>
                      </a:r>
                    </a:p>
                  </a:txBody>
                  <a:tcPr marL="91440" marR="91440" marT="45720" marB="45720"/>
                </a:tc>
                <a:tc>
                  <a:txBody>
                    <a:bodyPr/>
                    <a:lstStyle/>
                    <a:p>
                      <a:r>
                        <a:t>No: 86% vs 70%</a:t>
                      </a:r>
                    </a:p>
                  </a:txBody>
                  <a:tcPr marL="91440" marR="91440" marT="45720" marB="45720"/>
                </a:tc>
                <a:tc>
                  <a:txBody>
                    <a:bodyPr/>
                    <a:lstStyle/>
                    <a:p>
                      <a:r>
                        <a:t>Both correct. Raw P(Yes) was 14% and 30%.</a:t>
                      </a:r>
                    </a:p>
                  </a:txBody>
                  <a:tcPr marL="91440" marR="91440" marT="45720" marB="45720"/>
                </a:tc>
              </a:tr>
              <a:tr h="890588">
                <a:tc>
                  <a:txBody>
                    <a:bodyPr/>
                    <a:lstStyle/>
                    <a:p>
                      <a:r>
                        <a:t>UC2</a:t>
                      </a:r>
                    </a:p>
                  </a:txBody>
                  <a:tcPr marL="91440" marR="91440" marT="45720" marB="45720"/>
                </a:tc>
                <a:tc>
                  <a:txBody>
                    <a:bodyPr/>
                    <a:lstStyle/>
                    <a:p>
                      <a:r>
                        <a:t>Other / 76%</a:t>
                      </a:r>
                    </a:p>
                  </a:txBody>
                  <a:tcPr marL="91440" marR="91440" marT="45720" marB="45720"/>
                </a:tc>
                <a:tc>
                  <a:txBody>
                    <a:bodyPr/>
                    <a:lstStyle/>
                    <a:p>
                      <a:r>
                        <a:t>Other / 95%</a:t>
                      </a:r>
                    </a:p>
                  </a:txBody>
                  <a:tcPr marL="91440" marR="91440" marT="45720" marB="45720"/>
                </a:tc>
                <a:tc>
                  <a:txBody>
                    <a:bodyPr/>
                    <a:lstStyle/>
                    <a:p>
                      <a:r>
                        <a:t>No: 98% vs 95%</a:t>
                      </a:r>
                    </a:p>
                  </a:txBody>
                  <a:tcPr marL="91440" marR="91440" marT="45720" marB="45720"/>
                </a:tc>
                <a:tc>
                  <a:txBody>
                    <a:bodyPr/>
                    <a:lstStyle/>
                    <a:p>
                      <a:r>
                        <a:t>Both treated it as informational.</a:t>
                      </a:r>
                    </a:p>
                  </a:txBody>
                  <a:tcPr marL="91440" marR="91440" marT="45720" marB="45720"/>
                </a:tc>
              </a:tr>
              <a:tr h="890588">
                <a:tc>
                  <a:txBody>
                    <a:bodyPr/>
                    <a:lstStyle/>
                    <a:p>
                      <a:r>
                        <a:t>UC3</a:t>
                      </a:r>
                    </a:p>
                  </a:txBody>
                  <a:tcPr marL="91440" marR="91440" marT="45720" marB="45720"/>
                </a:tc>
                <a:tc>
                  <a:txBody>
                    <a:bodyPr/>
                    <a:lstStyle/>
                    <a:p>
                      <a:r>
                        <a:t>Technical / 64%</a:t>
                      </a:r>
                    </a:p>
                  </a:txBody>
                  <a:tcPr marL="91440" marR="91440" marT="45720" marB="45720"/>
                </a:tc>
                <a:tc>
                  <a:txBody>
                    <a:bodyPr/>
                    <a:lstStyle/>
                    <a:p>
                      <a:r>
                        <a:t>Technical / 95%</a:t>
                      </a:r>
                    </a:p>
                  </a:txBody>
                  <a:tcPr marL="91440" marR="91440" marT="45720" marB="45720"/>
                </a:tc>
                <a:tc>
                  <a:txBody>
                    <a:bodyPr/>
                    <a:lstStyle/>
                    <a:p>
                      <a:r>
                        <a:t>Yes: 96% vs 99%</a:t>
                      </a:r>
                    </a:p>
                  </a:txBody>
                  <a:tcPr marL="91440" marR="91440" marT="45720" marB="45720"/>
                </a:tc>
                <a:tc>
                  <a:txBody>
                    <a:bodyPr/>
                    <a:lstStyle/>
                    <a:p>
                      <a:r>
                        <a:t>Both detected production outage urgency.</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6F86A86B-7AF9-4301-968D-2B769D988074}"/>
              </a:ext>
            </a:extLst>
          </p:cNvPr>
          <p:cNvSpPr>
            <a:spLocks xmlns:a="http://schemas.openxmlformats.org/drawingml/2006/main" noGrp="1"/>
          </p:cNvSpPr>
          <p:nvPr/>
        </p:nvSpPr>
        <p:spPr>
          <a:xfrm xmlns:a="http://schemas.openxmlformats.org/drawingml/2006/main">
            <a:off x="857250" y="5295900"/>
            <a:ext cx="981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102033"/>
                </a:solidFill>
                <a:latin typeface="Arial"/>
                <a:ea typeface="Arial"/>
                <a:cs typeface="Arial"/>
              </a:defRPr>
            </a:pPr>
            <a:r>
              <a:rPr sz="1500" b="1">
                <a:solidFill>
                  <a:srgbClr val="102033"/>
                </a:solidFill>
                <a:latin typeface="Arial"/>
                <a:ea typeface="Arial"/>
                <a:cs typeface="Arial"/>
              </a:rPr>
              <a:t>For binary fields, the deck now shows probability of the displayed result. Raw P(Yes) stays in debug context.</a:t>
            </a:r>
          </a:p>
        </p:txBody>
      </p:sp>
      <p:sp>
        <p:nvSpPr>
          <p:cNvPr id="6" name="">
            <a:extLst xmlns:a="http://schemas.openxmlformats.org/drawingml/2006/main">
              <a:ext uri="{FF2B5EF4-FFF2-40B4-BE49-F238E27FC236}">
                <a16:creationId xmlns:a16="http://schemas.microsoft.com/office/drawing/2014/main" id="{04C9857C-8FE1-4373-8F3A-36D6E77C5AD0}"/>
              </a:ext>
            </a:extLst>
          </p:cNvPr>
          <p:cNvSpPr>
            <a:spLocks xmlns:a="http://schemas.openxmlformats.org/drawingml/2006/main" noGrp="1"/>
          </p:cNvSpPr>
          <p:nvPr/>
        </p:nvSpPr>
        <p:spPr>
          <a:xfrm xmlns:a="http://schemas.openxmlformats.org/drawingml/2006/main">
            <a:off x="10934700" y="6362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657083"/>
                </a:solidFill>
                <a:latin typeface="Arial"/>
                <a:ea typeface="Arial"/>
                <a:cs typeface="Arial"/>
              </a:defRPr>
            </a:pPr>
            <a:r>
              <a:rPr sz="900" b="1">
                <a:solidFill>
                  <a:srgbClr val="657083"/>
                </a:solidFill>
                <a:latin typeface="Arial"/>
                <a:ea typeface="Arial"/>
                <a:cs typeface="Arial"/>
              </a:rPr>
              <a:t>13</a:t>
            </a:r>
          </a:p>
        </p:txBody>
      </p:sp>
    </p:spTree>
    <p:extLst>
      <p:ext uri="{BB962C8B-B14F-4D97-AF65-F5344CB8AC3E}">
        <p14:creationId xmlns:p14="http://schemas.microsoft.com/office/powerpoint/2010/main" val="2054427371"/>
      </p:ext>
    </p:extLst>
  </p:cSld>
</p:sld>
</file>

<file path=ppt/slides/slide14.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5DD74E5-A7EF-48C7-8A74-81A686E5D78D}"/>
              </a:ext>
            </a:extLst>
          </p:cNvPr>
          <p:cNvSpPr>
            <a:spLocks xmlns:a="http://schemas.openxmlformats.org/drawingml/2006/main" noGrp="1"/>
          </p:cNvSpPr>
          <p:nvPr/>
        </p:nvSpPr>
        <p:spPr>
          <a:xfrm xmlns:a="http://schemas.openxmlformats.org/drawingml/2006/main">
            <a:off x="609600" y="3238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0F766E"/>
                </a:solidFill>
                <a:latin typeface="Arial"/>
                <a:ea typeface="Arial"/>
                <a:cs typeface="Arial"/>
              </a:defRPr>
            </a:pPr>
            <a:r>
              <a:rPr sz="975" b="1">
                <a:solidFill>
                  <a:srgbClr val="0F766E"/>
                </a:solidFill>
                <a:latin typeface="Arial"/>
                <a:ea typeface="Arial"/>
                <a:cs typeface="Arial"/>
              </a:rPr>
              <a:t>JEV EVALUATION</a:t>
            </a:r>
          </a:p>
        </p:txBody>
      </p:sp>
      <p:sp>
        <p:nvSpPr>
          <p:cNvPr id="2" name="">
            <a:extLst xmlns:a="http://schemas.openxmlformats.org/drawingml/2006/main">
              <a:ext uri="{FF2B5EF4-FFF2-40B4-BE49-F238E27FC236}">
                <a16:creationId xmlns:a16="http://schemas.microsoft.com/office/drawing/2014/main" id="{F5A870F0-48E4-4C2C-BB91-A4E85495DA06}"/>
              </a:ext>
            </a:extLst>
          </p:cNvPr>
          <p:cNvSpPr>
            <a:spLocks xmlns:a="http://schemas.openxmlformats.org/drawingml/2006/main" noGrp="1"/>
          </p:cNvSpPr>
          <p:nvPr/>
        </p:nvSpPr>
        <p:spPr>
          <a:xfrm xmlns:a="http://schemas.openxmlformats.org/drawingml/2006/main">
            <a:off x="609600" y="6286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33"/>
                </a:solidFill>
                <a:latin typeface="Arial"/>
                <a:ea typeface="Arial"/>
                <a:cs typeface="Arial"/>
              </a:defRPr>
            </a:pPr>
            <a:r>
              <a:rPr sz="2550" b="1">
                <a:solidFill>
                  <a:srgbClr val="172033"/>
                </a:solidFill>
                <a:latin typeface="Arial"/>
                <a:ea typeface="Arial"/>
                <a:cs typeface="Arial"/>
              </a:rPr>
              <a:t>Confidence and scores</a:t>
            </a:r>
          </a:p>
        </p:txBody>
      </p:sp>
      <p:sp>
        <p:nvSpPr>
          <p:cNvPr id="3" name="">
            <a:extLst xmlns:a="http://schemas.openxmlformats.org/drawingml/2006/main">
              <a:ext uri="{FF2B5EF4-FFF2-40B4-BE49-F238E27FC236}">
                <a16:creationId xmlns:a16="http://schemas.microsoft.com/office/drawing/2014/main" id="{8A2F0CBF-AA4C-4629-973F-68A51069E762}"/>
              </a:ext>
            </a:extLst>
          </p:cNvPr>
          <p:cNvSpPr>
            <a:spLocks xmlns:a="http://schemas.openxmlformats.org/drawingml/2006/main" noGrp="1"/>
          </p:cNvSpPr>
          <p:nvPr/>
        </p:nvSpPr>
        <p:spPr>
          <a:xfrm xmlns:a="http://schemas.openxmlformats.org/drawingml/2006/main">
            <a:off x="609600" y="1200150"/>
            <a:ext cx="10763250" cy="0"/>
          </a:xfrm>
          <a:prstGeom xmlns:a="http://schemas.openxmlformats.org/drawingml/2006/main" prst="line">
            <a:avLst/>
          </a:prstGeom>
          <a:noFill xmlns:a="http://schemas.openxmlformats.org/drawingml/2006/main"/>
          <a:ln xmlns:a="http://schemas.openxmlformats.org/drawingml/2006/main" w="9525">
            <a:solidFill>
              <a:srgbClr val="D9DEE8"/>
            </a:solidFill>
            <a:prstDash val="solid"/>
          </a:ln>
        </p:spPr>
      </p:sp>
      <p:sp>
        <p:nvSpPr>
          <p:cNvPr id="4" name="">
            <a:extLst xmlns:a="http://schemas.openxmlformats.org/drawingml/2006/main">
              <a:ext uri="{FF2B5EF4-FFF2-40B4-BE49-F238E27FC236}">
                <a16:creationId xmlns:a16="http://schemas.microsoft.com/office/drawing/2014/main" id="{83030496-2D59-436A-8ABB-0CCE6EF59A65}"/>
              </a:ext>
            </a:extLst>
          </p:cNvPr>
          <p:cNvSpPr>
            <a:spLocks xmlns:a="http://schemas.openxmlformats.org/drawingml/2006/main" noGrp="1"/>
          </p:cNvSpPr>
          <p:nvPr/>
        </p:nvSpPr>
        <p:spPr>
          <a:xfrm xmlns:a="http://schemas.openxmlformats.org/drawingml/2006/main">
            <a:off x="819150" y="158115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0F766E"/>
                </a:solidFill>
                <a:latin typeface="Arial"/>
                <a:ea typeface="Arial"/>
                <a:cs typeface="Arial"/>
              </a:defRPr>
            </a:pPr>
            <a:r>
              <a:rPr sz="1875" b="1">
                <a:solidFill>
                  <a:srgbClr val="0F766E"/>
                </a:solidFill>
                <a:latin typeface="Arial"/>
                <a:ea typeface="Arial"/>
                <a:cs typeface="Arial"/>
              </a:rPr>
              <a:t>Returned by model or platform</a:t>
            </a:r>
          </a:p>
        </p:txBody>
      </p:sp>
      <p:sp>
        <p:nvSpPr>
          <p:cNvPr id="5" name="">
            <a:extLst xmlns:a="http://schemas.openxmlformats.org/drawingml/2006/main">
              <a:ext uri="{FF2B5EF4-FFF2-40B4-BE49-F238E27FC236}">
                <a16:creationId xmlns:a16="http://schemas.microsoft.com/office/drawing/2014/main" id="{FDAD0C55-FDD2-4DD9-AF63-2F83D118C57B}"/>
              </a:ext>
            </a:extLst>
          </p:cNvPr>
          <p:cNvSpPr>
            <a:spLocks xmlns:a="http://schemas.openxmlformats.org/drawingml/2006/main" noGrp="1"/>
          </p:cNvSpPr>
          <p:nvPr/>
        </p:nvSpPr>
        <p:spPr>
          <a:xfrm xmlns:a="http://schemas.openxmlformats.org/drawingml/2006/main">
            <a:off x="876300" y="22288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670D9CF-33C2-44FA-9DFA-E537C065EF82}"/>
              </a:ext>
            </a:extLst>
          </p:cNvPr>
          <p:cNvSpPr>
            <a:spLocks xmlns:a="http://schemas.openxmlformats.org/drawingml/2006/main" noGrp="1"/>
          </p:cNvSpPr>
          <p:nvPr/>
        </p:nvSpPr>
        <p:spPr>
          <a:xfrm xmlns:a="http://schemas.openxmlformats.org/drawingml/2006/main">
            <a:off x="1085850" y="2152650"/>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172033"/>
                </a:solidFill>
                <a:latin typeface="Arial"/>
                <a:ea typeface="Arial"/>
                <a:cs typeface="Arial"/>
              </a:defRPr>
            </a:pPr>
            <a:r>
              <a:rPr sz="1350" b="0">
                <a:solidFill>
                  <a:srgbClr val="172033"/>
                </a:solidFill>
                <a:latin typeface="Arial"/>
                <a:ea typeface="Arial"/>
                <a:cs typeface="Arial"/>
              </a:rPr>
              <a:t>Jev returns raw P(Yes) for binary fields plus route choice and confidence.</a:t>
            </a:r>
          </a:p>
        </p:txBody>
      </p:sp>
      <p:sp>
        <p:nvSpPr>
          <p:cNvPr id="7" name="">
            <a:extLst xmlns:a="http://schemas.openxmlformats.org/drawingml/2006/main">
              <a:ext uri="{FF2B5EF4-FFF2-40B4-BE49-F238E27FC236}">
                <a16:creationId xmlns:a16="http://schemas.microsoft.com/office/drawing/2014/main" id="{DCDCC1E2-6572-4794-93D6-C06F186C8567}"/>
              </a:ext>
            </a:extLst>
          </p:cNvPr>
          <p:cNvSpPr>
            <a:spLocks xmlns:a="http://schemas.openxmlformats.org/drawingml/2006/main" noGrp="1"/>
          </p:cNvSpPr>
          <p:nvPr/>
        </p:nvSpPr>
        <p:spPr>
          <a:xfrm xmlns:a="http://schemas.openxmlformats.org/drawingml/2006/main">
            <a:off x="876300" y="26860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19388E9-C5F1-4DD5-B610-B9BDD7E20DE6}"/>
              </a:ext>
            </a:extLst>
          </p:cNvPr>
          <p:cNvSpPr>
            <a:spLocks xmlns:a="http://schemas.openxmlformats.org/drawingml/2006/main" noGrp="1"/>
          </p:cNvSpPr>
          <p:nvPr/>
        </p:nvSpPr>
        <p:spPr>
          <a:xfrm xmlns:a="http://schemas.openxmlformats.org/drawingml/2006/main">
            <a:off x="1085850" y="2609850"/>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172033"/>
                </a:solidFill>
                <a:latin typeface="Arial"/>
                <a:ea typeface="Arial"/>
                <a:cs typeface="Arial"/>
              </a:defRPr>
            </a:pPr>
            <a:r>
              <a:rPr sz="1350" b="0">
                <a:solidFill>
                  <a:srgbClr val="172033"/>
                </a:solidFill>
                <a:latin typeface="Arial"/>
                <a:ea typeface="Arial"/>
                <a:cs typeface="Arial"/>
              </a:rPr>
              <a:t>Claude returns the same fields because the Bedrock tool schema asks for them.</a:t>
            </a:r>
          </a:p>
        </p:txBody>
      </p:sp>
      <p:sp>
        <p:nvSpPr>
          <p:cNvPr id="9" name="">
            <a:extLst xmlns:a="http://schemas.openxmlformats.org/drawingml/2006/main">
              <a:ext uri="{FF2B5EF4-FFF2-40B4-BE49-F238E27FC236}">
                <a16:creationId xmlns:a16="http://schemas.microsoft.com/office/drawing/2014/main" id="{28EBECE2-036C-4F56-85C1-D0FB1365D040}"/>
              </a:ext>
            </a:extLst>
          </p:cNvPr>
          <p:cNvSpPr>
            <a:spLocks xmlns:a="http://schemas.openxmlformats.org/drawingml/2006/main" noGrp="1"/>
          </p:cNvSpPr>
          <p:nvPr/>
        </p:nvSpPr>
        <p:spPr>
          <a:xfrm xmlns:a="http://schemas.openxmlformats.org/drawingml/2006/main">
            <a:off x="876300" y="31432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C02738B-8AAC-408E-AE16-EFF4F59E39B3}"/>
              </a:ext>
            </a:extLst>
          </p:cNvPr>
          <p:cNvSpPr>
            <a:spLocks xmlns:a="http://schemas.openxmlformats.org/drawingml/2006/main" noGrp="1"/>
          </p:cNvSpPr>
          <p:nvPr/>
        </p:nvSpPr>
        <p:spPr>
          <a:xfrm xmlns:a="http://schemas.openxmlformats.org/drawingml/2006/main">
            <a:off x="1085850" y="3067050"/>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172033"/>
                </a:solidFill>
                <a:latin typeface="Arial"/>
                <a:ea typeface="Arial"/>
                <a:cs typeface="Arial"/>
              </a:defRPr>
            </a:pPr>
            <a:r>
              <a:rPr sz="1350" b="0">
                <a:solidFill>
                  <a:srgbClr val="172033"/>
                </a:solidFill>
                <a:latin typeface="Arial"/>
                <a:ea typeface="Arial"/>
                <a:cs typeface="Arial"/>
              </a:rPr>
              <a:t>Provider APIs return token usage for cost and latency comparison.</a:t>
            </a:r>
          </a:p>
        </p:txBody>
      </p:sp>
      <p:sp>
        <p:nvSpPr>
          <p:cNvPr id="11" name="">
            <a:extLst xmlns:a="http://schemas.openxmlformats.org/drawingml/2006/main">
              <a:ext uri="{FF2B5EF4-FFF2-40B4-BE49-F238E27FC236}">
                <a16:creationId xmlns:a16="http://schemas.microsoft.com/office/drawing/2014/main" id="{177368C7-1D7D-4BF7-856D-B9E42D6F3F27}"/>
              </a:ext>
            </a:extLst>
          </p:cNvPr>
          <p:cNvSpPr>
            <a:spLocks xmlns:a="http://schemas.openxmlformats.org/drawingml/2006/main" noGrp="1"/>
          </p:cNvSpPr>
          <p:nvPr/>
        </p:nvSpPr>
        <p:spPr>
          <a:xfrm xmlns:a="http://schemas.openxmlformats.org/drawingml/2006/main">
            <a:off x="6705600" y="1581150"/>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4768FF"/>
                </a:solidFill>
                <a:latin typeface="Arial"/>
                <a:ea typeface="Arial"/>
                <a:cs typeface="Arial"/>
              </a:defRPr>
            </a:pPr>
            <a:r>
              <a:rPr sz="1875" b="1">
                <a:solidFill>
                  <a:srgbClr val="4768FF"/>
                </a:solidFill>
                <a:latin typeface="Arial"/>
                <a:ea typeface="Arial"/>
                <a:cs typeface="Arial"/>
              </a:rPr>
              <a:t>Calculated by the UI</a:t>
            </a:r>
          </a:p>
        </p:txBody>
      </p:sp>
      <p:sp>
        <p:nvSpPr>
          <p:cNvPr id="12" name="">
            <a:extLst xmlns:a="http://schemas.openxmlformats.org/drawingml/2006/main">
              <a:ext uri="{FF2B5EF4-FFF2-40B4-BE49-F238E27FC236}">
                <a16:creationId xmlns:a16="http://schemas.microsoft.com/office/drawing/2014/main" id="{2414A009-278B-4248-BEBE-7942544277DE}"/>
              </a:ext>
            </a:extLst>
          </p:cNvPr>
          <p:cNvSpPr>
            <a:spLocks xmlns:a="http://schemas.openxmlformats.org/drawingml/2006/main" noGrp="1"/>
          </p:cNvSpPr>
          <p:nvPr/>
        </p:nvSpPr>
        <p:spPr>
          <a:xfrm xmlns:a="http://schemas.openxmlformats.org/drawingml/2006/main">
            <a:off x="6762750" y="22288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6C34C54-768A-43DD-8B72-CB9DC0D254D9}"/>
              </a:ext>
            </a:extLst>
          </p:cNvPr>
          <p:cNvSpPr>
            <a:spLocks xmlns:a="http://schemas.openxmlformats.org/drawingml/2006/main" noGrp="1"/>
          </p:cNvSpPr>
          <p:nvPr/>
        </p:nvSpPr>
        <p:spPr>
          <a:xfrm xmlns:a="http://schemas.openxmlformats.org/drawingml/2006/main">
            <a:off x="6972300" y="2152650"/>
            <a:ext cx="4171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172033"/>
                </a:solidFill>
                <a:latin typeface="Arial"/>
                <a:ea typeface="Arial"/>
                <a:cs typeface="Arial"/>
              </a:defRPr>
            </a:pPr>
            <a:r>
              <a:rPr sz="1350" b="0">
                <a:solidFill>
                  <a:srgbClr val="172033"/>
                </a:solidFill>
                <a:latin typeface="Arial"/>
                <a:ea typeface="Arial"/>
                <a:cs typeface="Arial"/>
              </a:rPr>
              <a:t>Result uses a threshold: &gt;=50% means Yes, otherwise No.</a:t>
            </a:r>
          </a:p>
        </p:txBody>
      </p:sp>
      <p:sp>
        <p:nvSpPr>
          <p:cNvPr id="14" name="">
            <a:extLst xmlns:a="http://schemas.openxmlformats.org/drawingml/2006/main">
              <a:ext uri="{FF2B5EF4-FFF2-40B4-BE49-F238E27FC236}">
                <a16:creationId xmlns:a16="http://schemas.microsoft.com/office/drawing/2014/main" id="{A482D195-6E08-48F4-BE04-A9208D7D0B9D}"/>
              </a:ext>
            </a:extLst>
          </p:cNvPr>
          <p:cNvSpPr>
            <a:spLocks xmlns:a="http://schemas.openxmlformats.org/drawingml/2006/main" noGrp="1"/>
          </p:cNvSpPr>
          <p:nvPr/>
        </p:nvSpPr>
        <p:spPr>
          <a:xfrm xmlns:a="http://schemas.openxmlformats.org/drawingml/2006/main">
            <a:off x="6762750" y="26860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2F2D23E-EA83-42CA-A9A6-865071829806}"/>
              </a:ext>
            </a:extLst>
          </p:cNvPr>
          <p:cNvSpPr>
            <a:spLocks xmlns:a="http://schemas.openxmlformats.org/drawingml/2006/main" noGrp="1"/>
          </p:cNvSpPr>
          <p:nvPr/>
        </p:nvSpPr>
        <p:spPr>
          <a:xfrm xmlns:a="http://schemas.openxmlformats.org/drawingml/2006/main">
            <a:off x="6972300" y="2609850"/>
            <a:ext cx="4171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172033"/>
                </a:solidFill>
                <a:latin typeface="Arial"/>
                <a:ea typeface="Arial"/>
                <a:cs typeface="Arial"/>
              </a:defRPr>
            </a:pPr>
            <a:r>
              <a:rPr sz="1350" b="0">
                <a:solidFill>
                  <a:srgbClr val="172033"/>
                </a:solidFill>
                <a:latin typeface="Arial"/>
                <a:ea typeface="Arial"/>
                <a:cs typeface="Arial"/>
              </a:rPr>
              <a:t>Probability column shows P(displayed result), not always raw P(Yes).</a:t>
            </a:r>
          </a:p>
        </p:txBody>
      </p:sp>
      <p:sp>
        <p:nvSpPr>
          <p:cNvPr id="16" name="">
            <a:extLst xmlns:a="http://schemas.openxmlformats.org/drawingml/2006/main">
              <a:ext uri="{FF2B5EF4-FFF2-40B4-BE49-F238E27FC236}">
                <a16:creationId xmlns:a16="http://schemas.microsoft.com/office/drawing/2014/main" id="{D8E9EA39-BB72-42E1-93CB-58FE3FE848AE}"/>
              </a:ext>
            </a:extLst>
          </p:cNvPr>
          <p:cNvSpPr>
            <a:spLocks xmlns:a="http://schemas.openxmlformats.org/drawingml/2006/main" noGrp="1"/>
          </p:cNvSpPr>
          <p:nvPr/>
        </p:nvSpPr>
        <p:spPr>
          <a:xfrm xmlns:a="http://schemas.openxmlformats.org/drawingml/2006/main">
            <a:off x="6762750" y="31432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E0B96D3-CBF4-477E-AF00-B13D47440C5D}"/>
              </a:ext>
            </a:extLst>
          </p:cNvPr>
          <p:cNvSpPr>
            <a:spLocks xmlns:a="http://schemas.openxmlformats.org/drawingml/2006/main" noGrp="1"/>
          </p:cNvSpPr>
          <p:nvPr/>
        </p:nvSpPr>
        <p:spPr>
          <a:xfrm xmlns:a="http://schemas.openxmlformats.org/drawingml/2006/main">
            <a:off x="6972300" y="3067050"/>
            <a:ext cx="4171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172033"/>
                </a:solidFill>
                <a:latin typeface="Arial"/>
                <a:ea typeface="Arial"/>
                <a:cs typeface="Arial"/>
              </a:defRPr>
            </a:pPr>
            <a:r>
              <a:rPr sz="1350" b="0">
                <a:solidFill>
                  <a:srgbClr val="172033"/>
                </a:solidFill>
                <a:latin typeface="Arial"/>
                <a:ea typeface="Arial"/>
                <a:cs typeface="Arial"/>
              </a:rPr>
              <a:t>Confidence measures distance from 50/50.</a:t>
            </a:r>
          </a:p>
        </p:txBody>
      </p:sp>
      <p:sp>
        <p:nvSpPr>
          <p:cNvPr id="18" name="">
            <a:extLst xmlns:a="http://schemas.openxmlformats.org/drawingml/2006/main">
              <a:ext uri="{FF2B5EF4-FFF2-40B4-BE49-F238E27FC236}">
                <a16:creationId xmlns:a16="http://schemas.microsoft.com/office/drawing/2014/main" id="{5541CCEF-3CE1-4F50-9D0A-B6ADC1AD9452}"/>
              </a:ext>
            </a:extLst>
          </p:cNvPr>
          <p:cNvSpPr>
            <a:spLocks xmlns:a="http://schemas.openxmlformats.org/drawingml/2006/main" noGrp="1"/>
          </p:cNvSpPr>
          <p:nvPr/>
        </p:nvSpPr>
        <p:spPr>
          <a:xfrm xmlns:a="http://schemas.openxmlformats.org/drawingml/2006/main">
            <a:off x="2857500" y="4838700"/>
            <a:ext cx="6477000" cy="66675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9DEE8"/>
            </a:solidFill>
            <a:prstDash val="solid"/>
          </a:ln>
        </p:spPr>
      </p:sp>
      <p:sp>
        <p:nvSpPr>
          <p:cNvPr id="19" name="">
            <a:extLst xmlns:a="http://schemas.openxmlformats.org/drawingml/2006/main">
              <a:ext uri="{FF2B5EF4-FFF2-40B4-BE49-F238E27FC236}">
                <a16:creationId xmlns:a16="http://schemas.microsoft.com/office/drawing/2014/main" id="{07502B02-9493-489C-9B3E-F86700B72B41}"/>
              </a:ext>
            </a:extLst>
          </p:cNvPr>
          <p:cNvSpPr>
            <a:spLocks xmlns:a="http://schemas.openxmlformats.org/drawingml/2006/main" noGrp="1"/>
          </p:cNvSpPr>
          <p:nvPr/>
        </p:nvSpPr>
        <p:spPr>
          <a:xfrm xmlns:a="http://schemas.openxmlformats.org/drawingml/2006/main">
            <a:off x="3067050" y="5029200"/>
            <a:ext cx="6057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00" b="1">
                <a:solidFill>
                  <a:srgbClr val="102033"/>
                </a:solidFill>
                <a:latin typeface="Arial"/>
                <a:ea typeface="Arial"/>
                <a:cs typeface="Arial"/>
              </a:defRPr>
            </a:pPr>
            <a:r>
              <a:rPr sz="1500" b="1">
                <a:solidFill>
                  <a:srgbClr val="102033"/>
                </a:solidFill>
                <a:latin typeface="Arial"/>
                <a:ea typeface="Arial"/>
                <a:cs typeface="Arial"/>
              </a:rPr>
              <a:t>Example: raw P(Yes)=2% gives Result=No, Probability=98%, Confidence=96%</a:t>
            </a:r>
          </a:p>
        </p:txBody>
      </p:sp>
      <p:sp>
        <p:nvSpPr>
          <p:cNvPr id="20" name="">
            <a:extLst xmlns:a="http://schemas.openxmlformats.org/drawingml/2006/main">
              <a:ext uri="{FF2B5EF4-FFF2-40B4-BE49-F238E27FC236}">
                <a16:creationId xmlns:a16="http://schemas.microsoft.com/office/drawing/2014/main" id="{6DA2BD11-0074-446B-9005-6E0A3A5D0B6C}"/>
              </a:ext>
            </a:extLst>
          </p:cNvPr>
          <p:cNvSpPr>
            <a:spLocks xmlns:a="http://schemas.openxmlformats.org/drawingml/2006/main" noGrp="1"/>
          </p:cNvSpPr>
          <p:nvPr/>
        </p:nvSpPr>
        <p:spPr>
          <a:xfrm xmlns:a="http://schemas.openxmlformats.org/drawingml/2006/main">
            <a:off x="10934700" y="6362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657083"/>
                </a:solidFill>
                <a:latin typeface="Arial"/>
                <a:ea typeface="Arial"/>
                <a:cs typeface="Arial"/>
              </a:defRPr>
            </a:pPr>
            <a:r>
              <a:rPr sz="900" b="1">
                <a:solidFill>
                  <a:srgbClr val="657083"/>
                </a:solidFill>
                <a:latin typeface="Arial"/>
                <a:ea typeface="Arial"/>
                <a:cs typeface="Arial"/>
              </a:rPr>
              <a:t>14</a:t>
            </a:r>
          </a:p>
        </p:txBody>
      </p:sp>
    </p:spTree>
    <p:extLst>
      <p:ext uri="{BB962C8B-B14F-4D97-AF65-F5344CB8AC3E}">
        <p14:creationId xmlns:p14="http://schemas.microsoft.com/office/powerpoint/2010/main" val="253529718"/>
      </p:ext>
    </p:extLst>
  </p:cSld>
</p:sld>
</file>

<file path=ppt/slides/slide15.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B15C8C8-FA24-4E1B-8E32-1E8EF513D0F6}"/>
              </a:ext>
            </a:extLst>
          </p:cNvPr>
          <p:cNvSpPr>
            <a:spLocks xmlns:a="http://schemas.openxmlformats.org/drawingml/2006/main" noGrp="1"/>
          </p:cNvSpPr>
          <p:nvPr/>
        </p:nvSpPr>
        <p:spPr>
          <a:xfrm xmlns:a="http://schemas.openxmlformats.org/drawingml/2006/main">
            <a:off x="609600" y="3238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0F766E"/>
                </a:solidFill>
                <a:latin typeface="Arial"/>
                <a:ea typeface="Arial"/>
                <a:cs typeface="Arial"/>
              </a:defRPr>
            </a:pPr>
            <a:r>
              <a:rPr sz="975" b="1">
                <a:solidFill>
                  <a:srgbClr val="0F766E"/>
                </a:solidFill>
                <a:latin typeface="Arial"/>
                <a:ea typeface="Arial"/>
                <a:cs typeface="Arial"/>
              </a:rPr>
              <a:t>JEV EVALUATION</a:t>
            </a:r>
          </a:p>
        </p:txBody>
      </p:sp>
      <p:sp>
        <p:nvSpPr>
          <p:cNvPr id="2" name="">
            <a:extLst xmlns:a="http://schemas.openxmlformats.org/drawingml/2006/main">
              <a:ext uri="{FF2B5EF4-FFF2-40B4-BE49-F238E27FC236}">
                <a16:creationId xmlns:a16="http://schemas.microsoft.com/office/drawing/2014/main" id="{C0A12A60-6DBE-4D51-91BF-EC053DE22633}"/>
              </a:ext>
            </a:extLst>
          </p:cNvPr>
          <p:cNvSpPr>
            <a:spLocks xmlns:a="http://schemas.openxmlformats.org/drawingml/2006/main" noGrp="1"/>
          </p:cNvSpPr>
          <p:nvPr/>
        </p:nvSpPr>
        <p:spPr>
          <a:xfrm xmlns:a="http://schemas.openxmlformats.org/drawingml/2006/main">
            <a:off x="609600" y="6286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33"/>
                </a:solidFill>
                <a:latin typeface="Arial"/>
                <a:ea typeface="Arial"/>
                <a:cs typeface="Arial"/>
              </a:defRPr>
            </a:pPr>
            <a:r>
              <a:rPr sz="2550" b="1">
                <a:solidFill>
                  <a:srgbClr val="172033"/>
                </a:solidFill>
                <a:latin typeface="Arial"/>
                <a:ea typeface="Arial"/>
                <a:cs typeface="Arial"/>
              </a:rPr>
              <a:t>Observed strengths</a:t>
            </a:r>
          </a:p>
        </p:txBody>
      </p:sp>
      <p:sp>
        <p:nvSpPr>
          <p:cNvPr id="3" name="">
            <a:extLst xmlns:a="http://schemas.openxmlformats.org/drawingml/2006/main">
              <a:ext uri="{FF2B5EF4-FFF2-40B4-BE49-F238E27FC236}">
                <a16:creationId xmlns:a16="http://schemas.microsoft.com/office/drawing/2014/main" id="{0E6F9842-72A3-4F6C-82FA-497A9FD92E05}"/>
              </a:ext>
            </a:extLst>
          </p:cNvPr>
          <p:cNvSpPr>
            <a:spLocks xmlns:a="http://schemas.openxmlformats.org/drawingml/2006/main" noGrp="1"/>
          </p:cNvSpPr>
          <p:nvPr/>
        </p:nvSpPr>
        <p:spPr>
          <a:xfrm xmlns:a="http://schemas.openxmlformats.org/drawingml/2006/main">
            <a:off x="609600" y="1200150"/>
            <a:ext cx="10763250" cy="0"/>
          </a:xfrm>
          <a:prstGeom xmlns:a="http://schemas.openxmlformats.org/drawingml/2006/main" prst="line">
            <a:avLst/>
          </a:prstGeom>
          <a:noFill xmlns:a="http://schemas.openxmlformats.org/drawingml/2006/main"/>
          <a:ln xmlns:a="http://schemas.openxmlformats.org/drawingml/2006/main" w="9525">
            <a:solidFill>
              <a:srgbClr val="D9DEE8"/>
            </a:solidFill>
            <a:prstDash val="solid"/>
          </a:ln>
        </p:spPr>
      </p:sp>
      <p:graphicFrame>
        <p:nvGraphicFramePr>
          <p:cNvPr id="9" name=""/>
          <p:cNvGraphicFramePr/>
          <p:nvPr/>
        </p:nvGraphicFramePr>
        <p:xfrm>
          <a:off xmlns:a="http://schemas.openxmlformats.org/drawingml/2006/main" x="704850" y="1524000"/>
          <a:ext xmlns:a="http://schemas.openxmlformats.org/drawingml/2006/main" cx="10572750" cy="3619500"/>
        </p:xfrm>
        <a:graphic xmlns:a="http://schemas.openxmlformats.org/drawingml/2006/main">
          <a:graphicData uri="http://schemas.openxmlformats.org/drawingml/2006/table">
            <a:tbl>
              <a:tblPr firstRow="1" bandRow="1"/>
              <a:tblGrid>
                <a:gridCol w="3524250"/>
                <a:gridCol w="3524250"/>
                <a:gridCol w="3524250"/>
              </a:tblGrid>
              <a:tr h="603250">
                <a:tc>
                  <a:txBody>
                    <a:bodyPr/>
                    <a:lstStyle/>
                    <a:p>
                      <a:r>
                        <a:t>Area</a:t>
                      </a:r>
                    </a:p>
                  </a:txBody>
                  <a:tcPr marL="91440" marR="91440" marT="45720" marB="45720"/>
                </a:tc>
                <a:tc>
                  <a:txBody>
                    <a:bodyPr/>
                    <a:lstStyle/>
                    <a:p>
                      <a:r>
                        <a:t>Jev</a:t>
                      </a:r>
                    </a:p>
                  </a:txBody>
                  <a:tcPr marL="91440" marR="91440" marT="45720" marB="45720"/>
                </a:tc>
                <a:tc>
                  <a:txBody>
                    <a:bodyPr/>
                    <a:lstStyle/>
                    <a:p>
                      <a:r>
                        <a:t>Claude Sonnet 4.5</a:t>
                      </a:r>
                    </a:p>
                  </a:txBody>
                  <a:tcPr marL="91440" marR="91440" marT="45720" marB="45720"/>
                </a:tc>
              </a:tr>
              <a:tr h="603250">
                <a:tc>
                  <a:txBody>
                    <a:bodyPr/>
                    <a:lstStyle/>
                    <a:p>
                      <a:r>
                        <a:t>Decision speed</a:t>
                      </a:r>
                    </a:p>
                  </a:txBody>
                  <a:tcPr marL="91440" marR="91440" marT="45720" marB="45720"/>
                </a:tc>
                <a:tc>
                  <a:txBody>
                    <a:bodyPr/>
                    <a:lstStyle/>
                    <a:p>
                      <a:r>
                        <a:t>Lower latency in POC</a:t>
                      </a:r>
                    </a:p>
                  </a:txBody>
                  <a:tcPr marL="91440" marR="91440" marT="45720" marB="45720"/>
                </a:tc>
                <a:tc>
                  <a:txBody>
                    <a:bodyPr/>
                    <a:lstStyle/>
                    <a:p>
                      <a:r>
                        <a:t>Slower but still interactive</a:t>
                      </a:r>
                    </a:p>
                  </a:txBody>
                  <a:tcPr marL="91440" marR="91440" marT="45720" marB="45720"/>
                </a:tc>
              </a:tr>
              <a:tr h="603250">
                <a:tc>
                  <a:txBody>
                    <a:bodyPr/>
                    <a:lstStyle/>
                    <a:p>
                      <a:r>
                        <a:t>Decision cost</a:t>
                      </a:r>
                    </a:p>
                  </a:txBody>
                  <a:tcPr marL="91440" marR="91440" marT="45720" marB="45720"/>
                </a:tc>
                <a:tc>
                  <a:txBody>
                    <a:bodyPr/>
                    <a:lstStyle/>
                    <a:p>
                      <a:r>
                        <a:t>Much lower estimated cost</a:t>
                      </a:r>
                    </a:p>
                  </a:txBody>
                  <a:tcPr marL="91440" marR="91440" marT="45720" marB="45720"/>
                </a:tc>
                <a:tc>
                  <a:txBody>
                    <a:bodyPr/>
                    <a:lstStyle/>
                    <a:p>
                      <a:r>
                        <a:t>Higher cost due to token generation</a:t>
                      </a:r>
                    </a:p>
                  </a:txBody>
                  <a:tcPr marL="91440" marR="91440" marT="45720" marB="45720"/>
                </a:tc>
              </a:tr>
              <a:tr h="603250">
                <a:tc>
                  <a:txBody>
                    <a:bodyPr/>
                    <a:lstStyle/>
                    <a:p>
                      <a:r>
                        <a:t>Output shape</a:t>
                      </a:r>
                    </a:p>
                  </a:txBody>
                  <a:tcPr marL="91440" marR="91440" marT="45720" marB="45720"/>
                </a:tc>
                <a:tc>
                  <a:txBody>
                    <a:bodyPr/>
                    <a:lstStyle/>
                    <a:p>
                      <a:r>
                        <a:t>Native typed decisions</a:t>
                      </a:r>
                    </a:p>
                  </a:txBody>
                  <a:tcPr marL="91440" marR="91440" marT="45720" marB="45720"/>
                </a:tc>
                <a:tc>
                  <a:txBody>
                    <a:bodyPr/>
                    <a:lstStyle/>
                    <a:p>
                      <a:r>
                        <a:t>Structured through tool schema</a:t>
                      </a:r>
                    </a:p>
                  </a:txBody>
                  <a:tcPr marL="91440" marR="91440" marT="45720" marB="45720"/>
                </a:tc>
              </a:tr>
              <a:tr h="603250">
                <a:tc>
                  <a:txBody>
                    <a:bodyPr/>
                    <a:lstStyle/>
                    <a:p>
                      <a:r>
                        <a:t>Rationale</a:t>
                      </a:r>
                    </a:p>
                  </a:txBody>
                  <a:tcPr marL="91440" marR="91440" marT="45720" marB="45720"/>
                </a:tc>
                <a:tc>
                  <a:txBody>
                    <a:bodyPr/>
                    <a:lstStyle/>
                    <a:p>
                      <a:r>
                        <a:t>Probability-derived evidence</a:t>
                      </a:r>
                    </a:p>
                  </a:txBody>
                  <a:tcPr marL="91440" marR="91440" marT="45720" marB="45720"/>
                </a:tc>
                <a:tc>
                  <a:txBody>
                    <a:bodyPr/>
                    <a:lstStyle/>
                    <a:p>
                      <a:r>
                        <a:t>Strong prose rationale</a:t>
                      </a:r>
                    </a:p>
                  </a:txBody>
                  <a:tcPr marL="91440" marR="91440" marT="45720" marB="45720"/>
                </a:tc>
              </a:tr>
              <a:tr h="603250">
                <a:tc>
                  <a:txBody>
                    <a:bodyPr/>
                    <a:lstStyle/>
                    <a:p>
                      <a:r>
                        <a:t>Extension path</a:t>
                      </a:r>
                    </a:p>
                  </a:txBody>
                  <a:tcPr marL="91440" marR="91440" marT="45720" marB="45720"/>
                </a:tc>
                <a:tc>
                  <a:txBody>
                    <a:bodyPr/>
                    <a:lstStyle/>
                    <a:p>
                      <a:r>
                        <a:t>Routing, triage, guardrails</a:t>
                      </a:r>
                    </a:p>
                  </a:txBody>
                  <a:tcPr marL="91440" marR="91440" marT="45720" marB="45720"/>
                </a:tc>
                <a:tc>
                  <a:txBody>
                    <a:bodyPr/>
                    <a:lstStyle/>
                    <a:p>
                      <a:r>
                        <a:t>Drafting, analysis, synthesis</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7138B219-7F9D-4447-8278-BC22B12CC007}"/>
              </a:ext>
            </a:extLst>
          </p:cNvPr>
          <p:cNvSpPr>
            <a:spLocks xmlns:a="http://schemas.openxmlformats.org/drawingml/2006/main" noGrp="1"/>
          </p:cNvSpPr>
          <p:nvPr/>
        </p:nvSpPr>
        <p:spPr>
          <a:xfrm xmlns:a="http://schemas.openxmlformats.org/drawingml/2006/main">
            <a:off x="10934700" y="6362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657083"/>
                </a:solidFill>
                <a:latin typeface="Arial"/>
                <a:ea typeface="Arial"/>
                <a:cs typeface="Arial"/>
              </a:defRPr>
            </a:pPr>
            <a:r>
              <a:rPr sz="900" b="1">
                <a:solidFill>
                  <a:srgbClr val="657083"/>
                </a:solidFill>
                <a:latin typeface="Arial"/>
                <a:ea typeface="Arial"/>
                <a:cs typeface="Arial"/>
              </a:rPr>
              <a:t>15</a:t>
            </a:r>
          </a:p>
        </p:txBody>
      </p:sp>
    </p:spTree>
    <p:extLst>
      <p:ext uri="{BB962C8B-B14F-4D97-AF65-F5344CB8AC3E}">
        <p14:creationId xmlns:p14="http://schemas.microsoft.com/office/powerpoint/2010/main" val="455316188"/>
      </p:ext>
    </p:extLst>
  </p:cSld>
</p:sld>
</file>

<file path=ppt/slides/slide16.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F5C83D3B-1446-4E7A-A5D8-08EC225A4592}"/>
              </a:ext>
            </a:extLst>
          </p:cNvPr>
          <p:cNvSpPr>
            <a:spLocks xmlns:a="http://schemas.openxmlformats.org/drawingml/2006/main" noGrp="1"/>
          </p:cNvSpPr>
          <p:nvPr/>
        </p:nvSpPr>
        <p:spPr>
          <a:xfrm xmlns:a="http://schemas.openxmlformats.org/drawingml/2006/main">
            <a:off x="609600" y="3238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0F766E"/>
                </a:solidFill>
                <a:latin typeface="Arial"/>
                <a:ea typeface="Arial"/>
                <a:cs typeface="Arial"/>
              </a:defRPr>
            </a:pPr>
            <a:r>
              <a:rPr sz="975" b="1">
                <a:solidFill>
                  <a:srgbClr val="0F766E"/>
                </a:solidFill>
                <a:latin typeface="Arial"/>
                <a:ea typeface="Arial"/>
                <a:cs typeface="Arial"/>
              </a:rPr>
              <a:t>JEV EVALUATION</a:t>
            </a:r>
          </a:p>
        </p:txBody>
      </p:sp>
      <p:sp>
        <p:nvSpPr>
          <p:cNvPr id="2" name="">
            <a:extLst xmlns:a="http://schemas.openxmlformats.org/drawingml/2006/main">
              <a:ext uri="{FF2B5EF4-FFF2-40B4-BE49-F238E27FC236}">
                <a16:creationId xmlns:a16="http://schemas.microsoft.com/office/drawing/2014/main" id="{749D6F9E-BF88-4F6A-AAB7-A9B811C902E6}"/>
              </a:ext>
            </a:extLst>
          </p:cNvPr>
          <p:cNvSpPr>
            <a:spLocks xmlns:a="http://schemas.openxmlformats.org/drawingml/2006/main" noGrp="1"/>
          </p:cNvSpPr>
          <p:nvPr/>
        </p:nvSpPr>
        <p:spPr>
          <a:xfrm xmlns:a="http://schemas.openxmlformats.org/drawingml/2006/main">
            <a:off x="609600" y="6286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33"/>
                </a:solidFill>
                <a:latin typeface="Arial"/>
                <a:ea typeface="Arial"/>
                <a:cs typeface="Arial"/>
              </a:defRPr>
            </a:pPr>
            <a:r>
              <a:rPr sz="2550" b="1">
                <a:solidFill>
                  <a:srgbClr val="172033"/>
                </a:solidFill>
                <a:latin typeface="Arial"/>
                <a:ea typeface="Arial"/>
                <a:cs typeface="Arial"/>
              </a:rPr>
              <a:t>Design implications</a:t>
            </a:r>
          </a:p>
        </p:txBody>
      </p:sp>
      <p:sp>
        <p:nvSpPr>
          <p:cNvPr id="3" name="">
            <a:extLst xmlns:a="http://schemas.openxmlformats.org/drawingml/2006/main">
              <a:ext uri="{FF2B5EF4-FFF2-40B4-BE49-F238E27FC236}">
                <a16:creationId xmlns:a16="http://schemas.microsoft.com/office/drawing/2014/main" id="{7029C513-2C97-42F6-839B-2311532DC0C4}"/>
              </a:ext>
            </a:extLst>
          </p:cNvPr>
          <p:cNvSpPr>
            <a:spLocks xmlns:a="http://schemas.openxmlformats.org/drawingml/2006/main" noGrp="1"/>
          </p:cNvSpPr>
          <p:nvPr/>
        </p:nvSpPr>
        <p:spPr>
          <a:xfrm xmlns:a="http://schemas.openxmlformats.org/drawingml/2006/main">
            <a:off x="609600" y="1200150"/>
            <a:ext cx="10763250" cy="0"/>
          </a:xfrm>
          <a:prstGeom xmlns:a="http://schemas.openxmlformats.org/drawingml/2006/main" prst="line">
            <a:avLst/>
          </a:prstGeom>
          <a:noFill xmlns:a="http://schemas.openxmlformats.org/drawingml/2006/main"/>
          <a:ln xmlns:a="http://schemas.openxmlformats.org/drawingml/2006/main" w="9525">
            <a:solidFill>
              <a:srgbClr val="D9DEE8"/>
            </a:solidFill>
            <a:prstDash val="solid"/>
          </a:ln>
        </p:spPr>
      </p:sp>
      <p:sp>
        <p:nvSpPr>
          <p:cNvPr id="4" name="">
            <a:extLst xmlns:a="http://schemas.openxmlformats.org/drawingml/2006/main">
              <a:ext uri="{FF2B5EF4-FFF2-40B4-BE49-F238E27FC236}">
                <a16:creationId xmlns:a16="http://schemas.microsoft.com/office/drawing/2014/main" id="{0FC3F0C6-FFF3-420F-98ED-D43866834081}"/>
              </a:ext>
            </a:extLst>
          </p:cNvPr>
          <p:cNvSpPr>
            <a:spLocks xmlns:a="http://schemas.openxmlformats.org/drawingml/2006/main" noGrp="1"/>
          </p:cNvSpPr>
          <p:nvPr/>
        </p:nvSpPr>
        <p:spPr>
          <a:xfrm xmlns:a="http://schemas.openxmlformats.org/drawingml/2006/main">
            <a:off x="838200" y="16383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1">
                <a:solidFill>
                  <a:srgbClr val="0F766E"/>
                </a:solidFill>
                <a:latin typeface="Arial"/>
                <a:ea typeface="Arial"/>
                <a:cs typeface="Arial"/>
              </a:defRPr>
            </a:pPr>
            <a:r>
              <a:rPr sz="1950" b="1">
                <a:solidFill>
                  <a:srgbClr val="0F766E"/>
                </a:solidFill>
                <a:latin typeface="Arial"/>
                <a:ea typeface="Arial"/>
                <a:cs typeface="Arial"/>
              </a:rPr>
              <a:t>Use Jev when</a:t>
            </a:r>
          </a:p>
        </p:txBody>
      </p:sp>
      <p:sp>
        <p:nvSpPr>
          <p:cNvPr id="5" name="">
            <a:extLst xmlns:a="http://schemas.openxmlformats.org/drawingml/2006/main">
              <a:ext uri="{FF2B5EF4-FFF2-40B4-BE49-F238E27FC236}">
                <a16:creationId xmlns:a16="http://schemas.microsoft.com/office/drawing/2014/main" id="{1BF2B1A2-09A2-454A-B05C-70E70FAF3983}"/>
              </a:ext>
            </a:extLst>
          </p:cNvPr>
          <p:cNvSpPr>
            <a:spLocks xmlns:a="http://schemas.openxmlformats.org/drawingml/2006/main" noGrp="1"/>
          </p:cNvSpPr>
          <p:nvPr/>
        </p:nvSpPr>
        <p:spPr>
          <a:xfrm xmlns:a="http://schemas.openxmlformats.org/drawingml/2006/main">
            <a:off x="876300" y="22669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AB63203-25FA-4D59-A329-1B71FF608472}"/>
              </a:ext>
            </a:extLst>
          </p:cNvPr>
          <p:cNvSpPr>
            <a:spLocks xmlns:a="http://schemas.openxmlformats.org/drawingml/2006/main" noGrp="1"/>
          </p:cNvSpPr>
          <p:nvPr/>
        </p:nvSpPr>
        <p:spPr>
          <a:xfrm xmlns:a="http://schemas.openxmlformats.org/drawingml/2006/main">
            <a:off x="1085850" y="2190750"/>
            <a:ext cx="43624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The question set is known in advance</a:t>
            </a:r>
          </a:p>
        </p:txBody>
      </p:sp>
      <p:sp>
        <p:nvSpPr>
          <p:cNvPr id="7" name="">
            <a:extLst xmlns:a="http://schemas.openxmlformats.org/drawingml/2006/main">
              <a:ext uri="{FF2B5EF4-FFF2-40B4-BE49-F238E27FC236}">
                <a16:creationId xmlns:a16="http://schemas.microsoft.com/office/drawing/2014/main" id="{46FA7614-4B48-4EF2-AC7A-B37E3E94FCA0}"/>
              </a:ext>
            </a:extLst>
          </p:cNvPr>
          <p:cNvSpPr>
            <a:spLocks xmlns:a="http://schemas.openxmlformats.org/drawingml/2006/main" noGrp="1"/>
          </p:cNvSpPr>
          <p:nvPr/>
        </p:nvSpPr>
        <p:spPr>
          <a:xfrm xmlns:a="http://schemas.openxmlformats.org/drawingml/2006/main">
            <a:off x="876300" y="27241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4FFBFF4-8071-400C-A692-5EC01AD0B07B}"/>
              </a:ext>
            </a:extLst>
          </p:cNvPr>
          <p:cNvSpPr>
            <a:spLocks xmlns:a="http://schemas.openxmlformats.org/drawingml/2006/main" noGrp="1"/>
          </p:cNvSpPr>
          <p:nvPr/>
        </p:nvSpPr>
        <p:spPr>
          <a:xfrm xmlns:a="http://schemas.openxmlformats.org/drawingml/2006/main">
            <a:off x="1085850" y="2647950"/>
            <a:ext cx="43624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The output schema is stable</a:t>
            </a:r>
          </a:p>
        </p:txBody>
      </p:sp>
      <p:sp>
        <p:nvSpPr>
          <p:cNvPr id="9" name="">
            <a:extLst xmlns:a="http://schemas.openxmlformats.org/drawingml/2006/main">
              <a:ext uri="{FF2B5EF4-FFF2-40B4-BE49-F238E27FC236}">
                <a16:creationId xmlns:a16="http://schemas.microsoft.com/office/drawing/2014/main" id="{73E81D1E-9EDF-4626-8CBC-CE1169B571BB}"/>
              </a:ext>
            </a:extLst>
          </p:cNvPr>
          <p:cNvSpPr>
            <a:spLocks xmlns:a="http://schemas.openxmlformats.org/drawingml/2006/main" noGrp="1"/>
          </p:cNvSpPr>
          <p:nvPr/>
        </p:nvSpPr>
        <p:spPr>
          <a:xfrm xmlns:a="http://schemas.openxmlformats.org/drawingml/2006/main">
            <a:off x="876300" y="31813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B575EDE-B666-4F33-8775-DDC245C99AE3}"/>
              </a:ext>
            </a:extLst>
          </p:cNvPr>
          <p:cNvSpPr>
            <a:spLocks xmlns:a="http://schemas.openxmlformats.org/drawingml/2006/main" noGrp="1"/>
          </p:cNvSpPr>
          <p:nvPr/>
        </p:nvSpPr>
        <p:spPr>
          <a:xfrm xmlns:a="http://schemas.openxmlformats.org/drawingml/2006/main">
            <a:off x="1085850" y="3105150"/>
            <a:ext cx="43624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Confidence thresholds can drive routing</a:t>
            </a:r>
          </a:p>
        </p:txBody>
      </p:sp>
      <p:sp>
        <p:nvSpPr>
          <p:cNvPr id="11" name="">
            <a:extLst xmlns:a="http://schemas.openxmlformats.org/drawingml/2006/main">
              <a:ext uri="{FF2B5EF4-FFF2-40B4-BE49-F238E27FC236}">
                <a16:creationId xmlns:a16="http://schemas.microsoft.com/office/drawing/2014/main" id="{332DE802-FCDE-47B2-8E29-03864CA318D7}"/>
              </a:ext>
            </a:extLst>
          </p:cNvPr>
          <p:cNvSpPr>
            <a:spLocks xmlns:a="http://schemas.openxmlformats.org/drawingml/2006/main" noGrp="1"/>
          </p:cNvSpPr>
          <p:nvPr/>
        </p:nvSpPr>
        <p:spPr>
          <a:xfrm xmlns:a="http://schemas.openxmlformats.org/drawingml/2006/main">
            <a:off x="876300" y="36385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823949B-B68A-4A5C-B79C-879FED4EE4DC}"/>
              </a:ext>
            </a:extLst>
          </p:cNvPr>
          <p:cNvSpPr>
            <a:spLocks xmlns:a="http://schemas.openxmlformats.org/drawingml/2006/main" noGrp="1"/>
          </p:cNvSpPr>
          <p:nvPr/>
        </p:nvSpPr>
        <p:spPr>
          <a:xfrm xmlns:a="http://schemas.openxmlformats.org/drawingml/2006/main">
            <a:off x="1085850" y="3562350"/>
            <a:ext cx="43624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High volume makes cost and latency matter</a:t>
            </a:r>
          </a:p>
        </p:txBody>
      </p:sp>
      <p:sp>
        <p:nvSpPr>
          <p:cNvPr id="13" name="">
            <a:extLst xmlns:a="http://schemas.openxmlformats.org/drawingml/2006/main">
              <a:ext uri="{FF2B5EF4-FFF2-40B4-BE49-F238E27FC236}">
                <a16:creationId xmlns:a16="http://schemas.microsoft.com/office/drawing/2014/main" id="{7C7929EA-5807-4598-854D-F864C2A00974}"/>
              </a:ext>
            </a:extLst>
          </p:cNvPr>
          <p:cNvSpPr>
            <a:spLocks xmlns:a="http://schemas.openxmlformats.org/drawingml/2006/main" noGrp="1"/>
          </p:cNvSpPr>
          <p:nvPr/>
        </p:nvSpPr>
        <p:spPr>
          <a:xfrm xmlns:a="http://schemas.openxmlformats.org/drawingml/2006/main">
            <a:off x="6762750" y="16383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1">
                <a:solidFill>
                  <a:srgbClr val="4768FF"/>
                </a:solidFill>
                <a:latin typeface="Arial"/>
                <a:ea typeface="Arial"/>
                <a:cs typeface="Arial"/>
              </a:defRPr>
            </a:pPr>
            <a:r>
              <a:rPr sz="1950" b="1">
                <a:solidFill>
                  <a:srgbClr val="4768FF"/>
                </a:solidFill>
                <a:latin typeface="Arial"/>
                <a:ea typeface="Arial"/>
                <a:cs typeface="Arial"/>
              </a:rPr>
              <a:t>Use Claude when</a:t>
            </a:r>
          </a:p>
        </p:txBody>
      </p:sp>
      <p:sp>
        <p:nvSpPr>
          <p:cNvPr id="14" name="">
            <a:extLst xmlns:a="http://schemas.openxmlformats.org/drawingml/2006/main">
              <a:ext uri="{FF2B5EF4-FFF2-40B4-BE49-F238E27FC236}">
                <a16:creationId xmlns:a16="http://schemas.microsoft.com/office/drawing/2014/main" id="{76EDFD91-C8CB-4CD2-8470-E43346203131}"/>
              </a:ext>
            </a:extLst>
          </p:cNvPr>
          <p:cNvSpPr>
            <a:spLocks xmlns:a="http://schemas.openxmlformats.org/drawingml/2006/main" noGrp="1"/>
          </p:cNvSpPr>
          <p:nvPr/>
        </p:nvSpPr>
        <p:spPr>
          <a:xfrm xmlns:a="http://schemas.openxmlformats.org/drawingml/2006/main">
            <a:off x="6800850" y="22669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552AA38-2912-4ADA-AEB2-AD72B572D07A}"/>
              </a:ext>
            </a:extLst>
          </p:cNvPr>
          <p:cNvSpPr>
            <a:spLocks xmlns:a="http://schemas.openxmlformats.org/drawingml/2006/main" noGrp="1"/>
          </p:cNvSpPr>
          <p:nvPr/>
        </p:nvSpPr>
        <p:spPr>
          <a:xfrm xmlns:a="http://schemas.openxmlformats.org/drawingml/2006/main">
            <a:off x="7010400" y="2190750"/>
            <a:ext cx="4267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The task changes frequently</a:t>
            </a:r>
          </a:p>
        </p:txBody>
      </p:sp>
      <p:sp>
        <p:nvSpPr>
          <p:cNvPr id="16" name="">
            <a:extLst xmlns:a="http://schemas.openxmlformats.org/drawingml/2006/main">
              <a:ext uri="{FF2B5EF4-FFF2-40B4-BE49-F238E27FC236}">
                <a16:creationId xmlns:a16="http://schemas.microsoft.com/office/drawing/2014/main" id="{6C96AFA8-7C6F-454D-B2BF-2796235DC2CD}"/>
              </a:ext>
            </a:extLst>
          </p:cNvPr>
          <p:cNvSpPr>
            <a:spLocks xmlns:a="http://schemas.openxmlformats.org/drawingml/2006/main" noGrp="1"/>
          </p:cNvSpPr>
          <p:nvPr/>
        </p:nvSpPr>
        <p:spPr>
          <a:xfrm xmlns:a="http://schemas.openxmlformats.org/drawingml/2006/main">
            <a:off x="6800850" y="27241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D90F1C3-54E3-4957-9D04-B6EAF746BB88}"/>
              </a:ext>
            </a:extLst>
          </p:cNvPr>
          <p:cNvSpPr>
            <a:spLocks xmlns:a="http://schemas.openxmlformats.org/drawingml/2006/main" noGrp="1"/>
          </p:cNvSpPr>
          <p:nvPr/>
        </p:nvSpPr>
        <p:spPr>
          <a:xfrm xmlns:a="http://schemas.openxmlformats.org/drawingml/2006/main">
            <a:off x="7010400" y="2647950"/>
            <a:ext cx="4267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Users need narrative explanation</a:t>
            </a:r>
          </a:p>
        </p:txBody>
      </p:sp>
      <p:sp>
        <p:nvSpPr>
          <p:cNvPr id="18" name="">
            <a:extLst xmlns:a="http://schemas.openxmlformats.org/drawingml/2006/main">
              <a:ext uri="{FF2B5EF4-FFF2-40B4-BE49-F238E27FC236}">
                <a16:creationId xmlns:a16="http://schemas.microsoft.com/office/drawing/2014/main" id="{1E2322FF-2375-4506-B822-C39B2CE9AEE3}"/>
              </a:ext>
            </a:extLst>
          </p:cNvPr>
          <p:cNvSpPr>
            <a:spLocks xmlns:a="http://schemas.openxmlformats.org/drawingml/2006/main" noGrp="1"/>
          </p:cNvSpPr>
          <p:nvPr/>
        </p:nvSpPr>
        <p:spPr>
          <a:xfrm xmlns:a="http://schemas.openxmlformats.org/drawingml/2006/main">
            <a:off x="6800850" y="31813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0B47C96-F2BB-4313-94DD-1E46812B3B53}"/>
              </a:ext>
            </a:extLst>
          </p:cNvPr>
          <p:cNvSpPr>
            <a:spLocks xmlns:a="http://schemas.openxmlformats.org/drawingml/2006/main" noGrp="1"/>
          </p:cNvSpPr>
          <p:nvPr/>
        </p:nvSpPr>
        <p:spPr>
          <a:xfrm xmlns:a="http://schemas.openxmlformats.org/drawingml/2006/main">
            <a:off x="7010400" y="3105150"/>
            <a:ext cx="4267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The model must synthesize broader context</a:t>
            </a:r>
          </a:p>
        </p:txBody>
      </p:sp>
      <p:sp>
        <p:nvSpPr>
          <p:cNvPr id="20" name="">
            <a:extLst xmlns:a="http://schemas.openxmlformats.org/drawingml/2006/main">
              <a:ext uri="{FF2B5EF4-FFF2-40B4-BE49-F238E27FC236}">
                <a16:creationId xmlns:a16="http://schemas.microsoft.com/office/drawing/2014/main" id="{CF616A21-C407-446E-9E92-2A2EC0F1D901}"/>
              </a:ext>
            </a:extLst>
          </p:cNvPr>
          <p:cNvSpPr>
            <a:spLocks xmlns:a="http://schemas.openxmlformats.org/drawingml/2006/main" noGrp="1"/>
          </p:cNvSpPr>
          <p:nvPr/>
        </p:nvSpPr>
        <p:spPr>
          <a:xfrm xmlns:a="http://schemas.openxmlformats.org/drawingml/2006/main">
            <a:off x="6800850" y="36385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58587BD-40E7-4CC6-8D79-8277CA92A566}"/>
              </a:ext>
            </a:extLst>
          </p:cNvPr>
          <p:cNvSpPr>
            <a:spLocks xmlns:a="http://schemas.openxmlformats.org/drawingml/2006/main" noGrp="1"/>
          </p:cNvSpPr>
          <p:nvPr/>
        </p:nvSpPr>
        <p:spPr>
          <a:xfrm xmlns:a="http://schemas.openxmlformats.org/drawingml/2006/main">
            <a:off x="7010400" y="3562350"/>
            <a:ext cx="4267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The output is prose, plan or recommendation</a:t>
            </a:r>
          </a:p>
        </p:txBody>
      </p:sp>
      <p:sp>
        <p:nvSpPr>
          <p:cNvPr id="22" name="">
            <a:extLst xmlns:a="http://schemas.openxmlformats.org/drawingml/2006/main">
              <a:ext uri="{FF2B5EF4-FFF2-40B4-BE49-F238E27FC236}">
                <a16:creationId xmlns:a16="http://schemas.microsoft.com/office/drawing/2014/main" id="{4C11D7EB-EB57-4BCC-84CA-F6FB2BC51C97}"/>
              </a:ext>
            </a:extLst>
          </p:cNvPr>
          <p:cNvSpPr>
            <a:spLocks xmlns:a="http://schemas.openxmlformats.org/drawingml/2006/main" noGrp="1"/>
          </p:cNvSpPr>
          <p:nvPr/>
        </p:nvSpPr>
        <p:spPr>
          <a:xfrm xmlns:a="http://schemas.openxmlformats.org/drawingml/2006/main">
            <a:off x="1123950" y="5257800"/>
            <a:ext cx="971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725" b="1">
                <a:solidFill>
                  <a:srgbClr val="102033"/>
                </a:solidFill>
                <a:latin typeface="Arial"/>
                <a:ea typeface="Arial"/>
                <a:cs typeface="Arial"/>
              </a:defRPr>
            </a:pPr>
            <a:r>
              <a:rPr sz="1725" b="1">
                <a:solidFill>
                  <a:srgbClr val="102033"/>
                </a:solidFill>
                <a:latin typeface="Arial"/>
                <a:ea typeface="Arial"/>
                <a:cs typeface="Arial"/>
              </a:rPr>
              <a:t>The practical architecture is not either-or. Jev handles frequent decisions. LLMs handle reasoning and language.</a:t>
            </a:r>
          </a:p>
        </p:txBody>
      </p:sp>
      <p:sp>
        <p:nvSpPr>
          <p:cNvPr id="23" name="">
            <a:extLst xmlns:a="http://schemas.openxmlformats.org/drawingml/2006/main">
              <a:ext uri="{FF2B5EF4-FFF2-40B4-BE49-F238E27FC236}">
                <a16:creationId xmlns:a16="http://schemas.microsoft.com/office/drawing/2014/main" id="{816A2919-95BB-49C1-9D9B-0F4F866C8815}"/>
              </a:ext>
            </a:extLst>
          </p:cNvPr>
          <p:cNvSpPr>
            <a:spLocks xmlns:a="http://schemas.openxmlformats.org/drawingml/2006/main" noGrp="1"/>
          </p:cNvSpPr>
          <p:nvPr/>
        </p:nvSpPr>
        <p:spPr>
          <a:xfrm xmlns:a="http://schemas.openxmlformats.org/drawingml/2006/main">
            <a:off x="10934700" y="6362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657083"/>
                </a:solidFill>
                <a:latin typeface="Arial"/>
                <a:ea typeface="Arial"/>
                <a:cs typeface="Arial"/>
              </a:defRPr>
            </a:pPr>
            <a:r>
              <a:rPr sz="900" b="1">
                <a:solidFill>
                  <a:srgbClr val="657083"/>
                </a:solidFill>
                <a:latin typeface="Arial"/>
                <a:ea typeface="Arial"/>
                <a:cs typeface="Arial"/>
              </a:rPr>
              <a:t>16</a:t>
            </a:r>
          </a:p>
        </p:txBody>
      </p:sp>
    </p:spTree>
    <p:extLst>
      <p:ext uri="{BB962C8B-B14F-4D97-AF65-F5344CB8AC3E}">
        <p14:creationId xmlns:p14="http://schemas.microsoft.com/office/powerpoint/2010/main" val="1005299267"/>
      </p:ext>
    </p:extLst>
  </p:cSld>
</p:sld>
</file>

<file path=ppt/slides/slide17.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94C6A13-02C2-4449-9AE5-445ABEA34AEE}"/>
              </a:ext>
            </a:extLst>
          </p:cNvPr>
          <p:cNvSpPr>
            <a:spLocks xmlns:a="http://schemas.openxmlformats.org/drawingml/2006/main" noGrp="1"/>
          </p:cNvSpPr>
          <p:nvPr/>
        </p:nvSpPr>
        <p:spPr>
          <a:xfrm xmlns:a="http://schemas.openxmlformats.org/drawingml/2006/main">
            <a:off x="609600" y="3238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0F766E"/>
                </a:solidFill>
                <a:latin typeface="Arial"/>
                <a:ea typeface="Arial"/>
                <a:cs typeface="Arial"/>
              </a:defRPr>
            </a:pPr>
            <a:r>
              <a:rPr sz="975" b="1">
                <a:solidFill>
                  <a:srgbClr val="0F766E"/>
                </a:solidFill>
                <a:latin typeface="Arial"/>
                <a:ea typeface="Arial"/>
                <a:cs typeface="Arial"/>
              </a:rPr>
              <a:t>JEV EVALUATION</a:t>
            </a:r>
          </a:p>
        </p:txBody>
      </p:sp>
      <p:sp>
        <p:nvSpPr>
          <p:cNvPr id="2" name="">
            <a:extLst xmlns:a="http://schemas.openxmlformats.org/drawingml/2006/main">
              <a:ext uri="{FF2B5EF4-FFF2-40B4-BE49-F238E27FC236}">
                <a16:creationId xmlns:a16="http://schemas.microsoft.com/office/drawing/2014/main" id="{F6570F49-06F4-43C2-BCE4-7AB7DEE3ED90}"/>
              </a:ext>
            </a:extLst>
          </p:cNvPr>
          <p:cNvSpPr>
            <a:spLocks xmlns:a="http://schemas.openxmlformats.org/drawingml/2006/main" noGrp="1"/>
          </p:cNvSpPr>
          <p:nvPr/>
        </p:nvSpPr>
        <p:spPr>
          <a:xfrm xmlns:a="http://schemas.openxmlformats.org/drawingml/2006/main">
            <a:off x="609600" y="6286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33"/>
                </a:solidFill>
                <a:latin typeface="Arial"/>
                <a:ea typeface="Arial"/>
                <a:cs typeface="Arial"/>
              </a:defRPr>
            </a:pPr>
            <a:r>
              <a:rPr sz="2550" b="1">
                <a:solidFill>
                  <a:srgbClr val="172033"/>
                </a:solidFill>
                <a:latin typeface="Arial"/>
                <a:ea typeface="Arial"/>
                <a:cs typeface="Arial"/>
              </a:rPr>
              <a:t>Recommended next steps</a:t>
            </a:r>
          </a:p>
        </p:txBody>
      </p:sp>
      <p:sp>
        <p:nvSpPr>
          <p:cNvPr id="3" name="">
            <a:extLst xmlns:a="http://schemas.openxmlformats.org/drawingml/2006/main">
              <a:ext uri="{FF2B5EF4-FFF2-40B4-BE49-F238E27FC236}">
                <a16:creationId xmlns:a16="http://schemas.microsoft.com/office/drawing/2014/main" id="{38B09B82-58E5-4247-BF04-660A635550B0}"/>
              </a:ext>
            </a:extLst>
          </p:cNvPr>
          <p:cNvSpPr>
            <a:spLocks xmlns:a="http://schemas.openxmlformats.org/drawingml/2006/main" noGrp="1"/>
          </p:cNvSpPr>
          <p:nvPr/>
        </p:nvSpPr>
        <p:spPr>
          <a:xfrm xmlns:a="http://schemas.openxmlformats.org/drawingml/2006/main">
            <a:off x="609600" y="1200150"/>
            <a:ext cx="10763250" cy="0"/>
          </a:xfrm>
          <a:prstGeom xmlns:a="http://schemas.openxmlformats.org/drawingml/2006/main" prst="line">
            <a:avLst/>
          </a:prstGeom>
          <a:noFill xmlns:a="http://schemas.openxmlformats.org/drawingml/2006/main"/>
          <a:ln xmlns:a="http://schemas.openxmlformats.org/drawingml/2006/main" w="9525">
            <a:solidFill>
              <a:srgbClr val="D9DEE8"/>
            </a:solidFill>
            <a:prstDash val="solid"/>
          </a:ln>
        </p:spPr>
      </p:sp>
      <p:graphicFrame>
        <p:nvGraphicFramePr>
          <p:cNvPr id="9" name=""/>
          <p:cNvGraphicFramePr/>
          <p:nvPr/>
        </p:nvGraphicFramePr>
        <p:xfrm>
          <a:off xmlns:a="http://schemas.openxmlformats.org/drawingml/2006/main" x="876300" y="1543050"/>
          <a:ext xmlns:a="http://schemas.openxmlformats.org/drawingml/2006/main" cx="9810750" cy="3429000"/>
        </p:xfrm>
        <a:graphic xmlns:a="http://schemas.openxmlformats.org/drawingml/2006/main">
          <a:graphicData uri="http://schemas.openxmlformats.org/drawingml/2006/table">
            <a:tbl>
              <a:tblPr firstRow="1" bandRow="1"/>
              <a:tblGrid>
                <a:gridCol w="3270250"/>
                <a:gridCol w="3270250"/>
                <a:gridCol w="3270250"/>
              </a:tblGrid>
              <a:tr h="571500">
                <a:tc>
                  <a:txBody>
                    <a:bodyPr/>
                    <a:lstStyle/>
                    <a:p>
                      <a:r>
                        <a:t>Workstream</a:t>
                      </a:r>
                    </a:p>
                  </a:txBody>
                  <a:tcPr marL="91440" marR="91440" marT="45720" marB="45720"/>
                </a:tc>
                <a:tc>
                  <a:txBody>
                    <a:bodyPr/>
                    <a:lstStyle/>
                    <a:p>
                      <a:r>
                        <a:t>What to add</a:t>
                      </a:r>
                    </a:p>
                  </a:txBody>
                  <a:tcPr marL="91440" marR="91440" marT="45720" marB="45720"/>
                </a:tc>
                <a:tc>
                  <a:txBody>
                    <a:bodyPr/>
                    <a:lstStyle/>
                    <a:p>
                      <a:r>
                        <a:t>Why it matters</a:t>
                      </a:r>
                    </a:p>
                  </a:txBody>
                  <a:tcPr marL="91440" marR="91440" marT="45720" marB="45720"/>
                </a:tc>
              </a:tr>
              <a:tr h="571500">
                <a:tc>
                  <a:txBody>
                    <a:bodyPr/>
                    <a:lstStyle/>
                    <a:p>
                      <a:r>
                        <a:t>Benchmark size</a:t>
                      </a:r>
                    </a:p>
                  </a:txBody>
                  <a:tcPr marL="91440" marR="91440" marT="45720" marB="45720"/>
                </a:tc>
                <a:tc>
                  <a:txBody>
                    <a:bodyPr/>
                    <a:lstStyle/>
                    <a:p>
                      <a:r>
                        <a:t>50 to 100 labeled tickets</a:t>
                      </a:r>
                    </a:p>
                  </a:txBody>
                  <a:tcPr marL="91440" marR="91440" marT="45720" marB="45720"/>
                </a:tc>
                <a:tc>
                  <a:txBody>
                    <a:bodyPr/>
                    <a:lstStyle/>
                    <a:p>
                      <a:r>
                        <a:t>Reduces sample bias</a:t>
                      </a:r>
                    </a:p>
                  </a:txBody>
                  <a:tcPr marL="91440" marR="91440" marT="45720" marB="45720"/>
                </a:tc>
              </a:tr>
              <a:tr h="571500">
                <a:tc>
                  <a:txBody>
                    <a:bodyPr/>
                    <a:lstStyle/>
                    <a:p>
                      <a:r>
                        <a:t>Quality metrics</a:t>
                      </a:r>
                    </a:p>
                  </a:txBody>
                  <a:tcPr marL="91440" marR="91440" marT="45720" marB="45720"/>
                </a:tc>
                <a:tc>
                  <a:txBody>
                    <a:bodyPr/>
                    <a:lstStyle/>
                    <a:p>
                      <a:r>
                        <a:t>Confusion matrix by route</a:t>
                      </a:r>
                    </a:p>
                  </a:txBody>
                  <a:tcPr marL="91440" marR="91440" marT="45720" marB="45720"/>
                </a:tc>
                <a:tc>
                  <a:txBody>
                    <a:bodyPr/>
                    <a:lstStyle/>
                    <a:p>
                      <a:r>
                        <a:t>Shows where routing breaks</a:t>
                      </a:r>
                    </a:p>
                  </a:txBody>
                  <a:tcPr marL="91440" marR="91440" marT="45720" marB="45720"/>
                </a:tc>
              </a:tr>
              <a:tr h="571500">
                <a:tc>
                  <a:txBody>
                    <a:bodyPr/>
                    <a:lstStyle/>
                    <a:p>
                      <a:r>
                        <a:t>Calibration</a:t>
                      </a:r>
                    </a:p>
                  </a:txBody>
                  <a:tcPr marL="91440" marR="91440" marT="45720" marB="45720"/>
                </a:tc>
                <a:tc>
                  <a:txBody>
                    <a:bodyPr/>
                    <a:lstStyle/>
                    <a:p>
                      <a:r>
                        <a:t>Bucket predicted confidence vs accuracy</a:t>
                      </a:r>
                    </a:p>
                  </a:txBody>
                  <a:tcPr marL="91440" marR="91440" marT="45720" marB="45720"/>
                </a:tc>
                <a:tc>
                  <a:txBody>
                    <a:bodyPr/>
                    <a:lstStyle/>
                    <a:p>
                      <a:r>
                        <a:t>Tests whether scores can drive automation</a:t>
                      </a:r>
                    </a:p>
                  </a:txBody>
                  <a:tcPr marL="91440" marR="91440" marT="45720" marB="45720"/>
                </a:tc>
              </a:tr>
              <a:tr h="571500">
                <a:tc>
                  <a:txBody>
                    <a:bodyPr/>
                    <a:lstStyle/>
                    <a:p>
                      <a:r>
                        <a:t>Operations</a:t>
                      </a:r>
                    </a:p>
                  </a:txBody>
                  <a:tcPr marL="91440" marR="91440" marT="45720" marB="45720"/>
                </a:tc>
                <a:tc>
                  <a:txBody>
                    <a:bodyPr/>
                    <a:lstStyle/>
                    <a:p>
                      <a:r>
                        <a:t>Throughput and retry testing</a:t>
                      </a:r>
                    </a:p>
                  </a:txBody>
                  <a:tcPr marL="91440" marR="91440" marT="45720" marB="45720"/>
                </a:tc>
                <a:tc>
                  <a:txBody>
                    <a:bodyPr/>
                    <a:lstStyle/>
                    <a:p>
                      <a:r>
                        <a:t>Validates production behavior</a:t>
                      </a:r>
                    </a:p>
                  </a:txBody>
                  <a:tcPr marL="91440" marR="91440" marT="45720" marB="45720"/>
                </a:tc>
              </a:tr>
              <a:tr h="571500">
                <a:tc>
                  <a:txBody>
                    <a:bodyPr/>
                    <a:lstStyle/>
                    <a:p>
                      <a:r>
                        <a:t>Policy</a:t>
                      </a:r>
                    </a:p>
                  </a:txBody>
                  <a:tcPr marL="91440" marR="91440" marT="45720" marB="45720"/>
                </a:tc>
                <a:tc>
                  <a:txBody>
                    <a:bodyPr/>
                    <a:lstStyle/>
                    <a:p>
                      <a:r>
                        <a:t>Auto-route threshold and fallback rules</a:t>
                      </a:r>
                    </a:p>
                  </a:txBody>
                  <a:tcPr marL="91440" marR="91440" marT="45720" marB="45720"/>
                </a:tc>
                <a:tc>
                  <a:txBody>
                    <a:bodyPr/>
                    <a:lstStyle/>
                    <a:p>
                      <a:r>
                        <a:t>Turns scores into workflow decisions</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5D4817A6-0F43-462B-B8ED-6E15EBF327C6}"/>
              </a:ext>
            </a:extLst>
          </p:cNvPr>
          <p:cNvSpPr>
            <a:spLocks xmlns:a="http://schemas.openxmlformats.org/drawingml/2006/main" noGrp="1"/>
          </p:cNvSpPr>
          <p:nvPr/>
        </p:nvSpPr>
        <p:spPr>
          <a:xfrm xmlns:a="http://schemas.openxmlformats.org/drawingml/2006/main">
            <a:off x="10934700" y="6362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657083"/>
                </a:solidFill>
                <a:latin typeface="Arial"/>
                <a:ea typeface="Arial"/>
                <a:cs typeface="Arial"/>
              </a:defRPr>
            </a:pPr>
            <a:r>
              <a:rPr sz="900" b="1">
                <a:solidFill>
                  <a:srgbClr val="657083"/>
                </a:solidFill>
                <a:latin typeface="Arial"/>
                <a:ea typeface="Arial"/>
                <a:cs typeface="Arial"/>
              </a:rPr>
              <a:t>17</a:t>
            </a:r>
          </a:p>
        </p:txBody>
      </p:sp>
    </p:spTree>
    <p:extLst>
      <p:ext uri="{BB962C8B-B14F-4D97-AF65-F5344CB8AC3E}">
        <p14:creationId xmlns:p14="http://schemas.microsoft.com/office/powerpoint/2010/main" val="598442030"/>
      </p:ext>
    </p:extLst>
  </p:cSld>
</p:sld>
</file>

<file path=ppt/slides/slide18.xml><?xml version="1.0" encoding="utf-8"?>
<p:sld xmlns:p="http://schemas.openxmlformats.org/presentationml/2006/main">
  <p:cSld>
    <p:bg>
      <p:bgPr>
        <a:solidFill xmlns:a="http://schemas.openxmlformats.org/drawingml/2006/main">
          <a:srgbClr val="10203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F10CA52-CC3C-4107-87E7-92B6F41C7E56}"/>
              </a:ext>
            </a:extLst>
          </p:cNvPr>
          <p:cNvSpPr>
            <a:spLocks xmlns:a="http://schemas.openxmlformats.org/drawingml/2006/main" noGrp="1"/>
          </p:cNvSpPr>
          <p:nvPr/>
        </p:nvSpPr>
        <p:spPr>
          <a:xfrm xmlns:a="http://schemas.openxmlformats.org/drawingml/2006/main">
            <a:off x="685800" y="800100"/>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A7F432"/>
                </a:solidFill>
                <a:latin typeface="Arial"/>
                <a:ea typeface="Arial"/>
                <a:cs typeface="Arial"/>
              </a:defRPr>
            </a:pPr>
            <a:r>
              <a:rPr sz="1650" b="1">
                <a:solidFill>
                  <a:srgbClr val="A7F432"/>
                </a:solidFill>
                <a:latin typeface="Arial"/>
                <a:ea typeface="Arial"/>
                <a:cs typeface="Arial"/>
              </a:rPr>
              <a:t>Technical POV</a:t>
            </a:r>
          </a:p>
        </p:txBody>
      </p:sp>
      <p:sp>
        <p:nvSpPr>
          <p:cNvPr id="2" name="">
            <a:extLst xmlns:a="http://schemas.openxmlformats.org/drawingml/2006/main">
              <a:ext uri="{FF2B5EF4-FFF2-40B4-BE49-F238E27FC236}">
                <a16:creationId xmlns:a16="http://schemas.microsoft.com/office/drawing/2014/main" id="{B6B6D605-3BAC-497B-BA23-68D222D7555F}"/>
              </a:ext>
            </a:extLst>
          </p:cNvPr>
          <p:cNvSpPr>
            <a:spLocks xmlns:a="http://schemas.openxmlformats.org/drawingml/2006/main" noGrp="1"/>
          </p:cNvSpPr>
          <p:nvPr/>
        </p:nvSpPr>
        <p:spPr>
          <a:xfrm xmlns:a="http://schemas.openxmlformats.org/drawingml/2006/main">
            <a:off x="685800" y="1524000"/>
            <a:ext cx="9715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Jev turns model judgment into a software primitive</a:t>
            </a:r>
          </a:p>
        </p:txBody>
      </p:sp>
      <p:sp>
        <p:nvSpPr>
          <p:cNvPr id="3" name="">
            <a:extLst xmlns:a="http://schemas.openxmlformats.org/drawingml/2006/main">
              <a:ext uri="{FF2B5EF4-FFF2-40B4-BE49-F238E27FC236}">
                <a16:creationId xmlns:a16="http://schemas.microsoft.com/office/drawing/2014/main" id="{96304692-83D2-416A-91B3-611329838B04}"/>
              </a:ext>
            </a:extLst>
          </p:cNvPr>
          <p:cNvSpPr>
            <a:spLocks xmlns:a="http://schemas.openxmlformats.org/drawingml/2006/main" noGrp="1"/>
          </p:cNvSpPr>
          <p:nvPr/>
        </p:nvSpPr>
        <p:spPr>
          <a:xfrm xmlns:a="http://schemas.openxmlformats.org/drawingml/2006/main">
            <a:off x="723900" y="3238500"/>
            <a:ext cx="8953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DDE5EF"/>
                </a:solidFill>
                <a:latin typeface="Arial"/>
                <a:ea typeface="Arial"/>
                <a:cs typeface="Arial"/>
              </a:defRPr>
            </a:pPr>
            <a:r>
              <a:rPr sz="2025" b="0">
                <a:solidFill>
                  <a:srgbClr val="DDE5EF"/>
                </a:solidFill>
                <a:latin typeface="Arial"/>
                <a:ea typeface="Arial"/>
                <a:cs typeface="Arial"/>
              </a:rPr>
              <a:t>It complements LLMs by taking over repeated, typed, confidence-gated decisions that do not need System 2 reasoning.</a:t>
            </a:r>
          </a:p>
        </p:txBody>
      </p:sp>
      <p:sp>
        <p:nvSpPr>
          <p:cNvPr id="4" name="">
            <a:extLst xmlns:a="http://schemas.openxmlformats.org/drawingml/2006/main">
              <a:ext uri="{FF2B5EF4-FFF2-40B4-BE49-F238E27FC236}">
                <a16:creationId xmlns:a16="http://schemas.microsoft.com/office/drawing/2014/main" id="{F7ED9B9D-7127-4631-B05F-2D77E9BB237F}"/>
              </a:ext>
            </a:extLst>
          </p:cNvPr>
          <p:cNvSpPr>
            <a:spLocks xmlns:a="http://schemas.openxmlformats.org/drawingml/2006/main" noGrp="1"/>
          </p:cNvSpPr>
          <p:nvPr/>
        </p:nvSpPr>
        <p:spPr>
          <a:xfrm xmlns:a="http://schemas.openxmlformats.org/drawingml/2006/main">
            <a:off x="723900" y="4648200"/>
            <a:ext cx="4000500" cy="76200"/>
          </a:xfrm>
          <a:prstGeom xmlns:a="http://schemas.openxmlformats.org/drawingml/2006/main" prst="roundRect">
            <a:avLst>
              <a:gd name="adj" fmla="val 50000"/>
            </a:avLst>
          </a:prstGeom>
          <a:solidFill xmlns:a="http://schemas.openxmlformats.org/drawingml/2006/main">
            <a:srgbClr val="A7F43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33C9C0E-B9A4-4569-B531-ACB981968D43}"/>
              </a:ext>
            </a:extLst>
          </p:cNvPr>
          <p:cNvSpPr>
            <a:spLocks xmlns:a="http://schemas.openxmlformats.org/drawingml/2006/main" noGrp="1"/>
          </p:cNvSpPr>
          <p:nvPr/>
        </p:nvSpPr>
        <p:spPr>
          <a:xfrm xmlns:a="http://schemas.openxmlformats.org/drawingml/2006/main">
            <a:off x="723900" y="5048250"/>
            <a:ext cx="895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Recommended pattern: Jev for first-pass decisioning, Claude for escalation, explanation and generation.</a:t>
            </a:r>
          </a:p>
        </p:txBody>
      </p:sp>
      <p:sp>
        <p:nvSpPr>
          <p:cNvPr id="6" name="">
            <a:extLst xmlns:a="http://schemas.openxmlformats.org/drawingml/2006/main">
              <a:ext uri="{FF2B5EF4-FFF2-40B4-BE49-F238E27FC236}">
                <a16:creationId xmlns:a16="http://schemas.microsoft.com/office/drawing/2014/main" id="{654D9B9E-48E9-4CA2-9B93-7CFD8DCE7DC7}"/>
              </a:ext>
            </a:extLst>
          </p:cNvPr>
          <p:cNvSpPr>
            <a:spLocks xmlns:a="http://schemas.openxmlformats.org/drawingml/2006/main" noGrp="1"/>
          </p:cNvSpPr>
          <p:nvPr/>
        </p:nvSpPr>
        <p:spPr>
          <a:xfrm xmlns:a="http://schemas.openxmlformats.org/drawingml/2006/main">
            <a:off x="10934700" y="6362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657083"/>
                </a:solidFill>
                <a:latin typeface="Arial"/>
                <a:ea typeface="Arial"/>
                <a:cs typeface="Arial"/>
              </a:defRPr>
            </a:pPr>
            <a:r>
              <a:rPr sz="900" b="1">
                <a:solidFill>
                  <a:srgbClr val="657083"/>
                </a:solidFill>
                <a:latin typeface="Arial"/>
                <a:ea typeface="Arial"/>
                <a:cs typeface="Arial"/>
              </a:rPr>
              <a:t>18</a:t>
            </a:r>
          </a:p>
        </p:txBody>
      </p:sp>
    </p:spTree>
    <p:extLst>
      <p:ext uri="{BB962C8B-B14F-4D97-AF65-F5344CB8AC3E}">
        <p14:creationId xmlns:p14="http://schemas.microsoft.com/office/powerpoint/2010/main" val="17680429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2026-09-26T05:30:35.2640000Z</dcterms:created>
  <dcterms:modified xsi:type="dcterms:W3CDTF">2026-09-26T05:30:35.2640000Z</dcterms:modified>
</coreProperties>
</file>